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3de7177-ab79-e7b0-1183-4814e9bd43ea}">
          <p14:sldIdLst>
            <p14:sldId id="256"/>
            <p14:sldId id="257"/>
            <p14:sldId id="258"/>
          </p14:sldIdLst>
        </p14:section>
        <p14:section name="Jornada" id="{20ee4086-9cf3-3fb8-c3ca-5b34813606ab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onversa" id="{a64f1e57-62dd-4d87-c66c-1bed2ebaef65}">
          <p14:sldIdLst>
            <p14:sldId id="266"/>
            <p14:sldId id="267"/>
          </p14:sldIdLst>
        </p14:section>
        <p14:section name="Gestão" id="{f5fb275f-b6e0-bc64-e281-92798af9cc99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o objetivo é que todo lead seja respondido em até 5 minutos no horário comercial, qualificado em uma conversa e entregue ao executivo com tudo registrado.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internos: 58%+ dos leads nunca contatados (plano de growth), 1.441 leads parados (Plano Limbo), funil do digital de junho: 1.139 leads, 811 MQL, 204 SQL, 8 ganhos.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fora do horário comercial: o Ledson responde na hora e o SDR liga na primeira hora do dia seguinte, quentes primeiro.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textos completos estão no documento do playbook. Todos começam com: Oi, [Nome]! Aqui é a [Pryscila/Kelly], da LedWave.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uma pergunta por vez e anote as palavras do lead: o executivo vai usá-las na reunião. Perfil bom sem projeto ou prazo = MQL em nutrição, com retorno marcado.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2743200" cy="939769"/>
          </a:xfrm>
          <a:prstGeom prst="rect">
            <a:avLst/>
          </a:prstGeom>
        </p:spPr>
      </p:pic>
      <p:pic>
        <p:nvPicPr>
          <p:cNvPr id="3" name="Image 1" descr="/tmp/claude-0/-home-user-Treino/88533c10-46fb-551a-b2bc-454e1913f5b1/scratchpad/build/assets/pixels-cap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914400"/>
            <a:ext cx="3904488" cy="45720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66751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77640"/>
            <a:ext cx="66751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F2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645920" cy="563862"/>
          </a:xfrm>
          <a:prstGeom prst="rect">
            <a:avLst/>
          </a:prstGeom>
        </p:spPr>
      </p:pic>
      <p:pic>
        <p:nvPicPr>
          <p:cNvPr id="3" name="Image 1" descr="/tmp/claude-0/-home-user-Treino/88533c10-46fb-551a-b2bc-454e1913f5b1/scratchpad/build/assets/pixels-faix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897880"/>
            <a:ext cx="2514600" cy="5943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22960" y="2011680"/>
            <a:ext cx="100584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reino/88533c10-46fb-551a-b2bc-454e1913f5b1/scratchpad/build/assets/logo-ledwa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72784"/>
            <a:ext cx="960120" cy="32891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91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Playbook SDR · Jornada do lead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Jornada do lead: playbook das SDRs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97764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Do primeiro contato à reunião com o executivo</a:t>
            </a:r>
            <a:endParaRPr lang="en-US" sz="2000" dirty="0"/>
          </a:p>
        </p:txBody>
      </p:sp>
      <p:sp>
        <p:nvSpPr>
          <p:cNvPr id="4" name="Equipe"/>
          <p:cNvSpPr txBox="1"/>
          <p:nvPr/>
        </p:nvSpPr>
        <p:spPr>
          <a:xfrm>
            <a:off x="548640" y="60350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Pryscila Almeida  ·  Kelly  ·  Time de Growth e Comercial</a:t>
            </a:r>
            <a:endParaRPr lang="en-US" sz="1400" dirty="0"/>
          </a:p>
        </p:txBody>
      </p:sp>
      <p:sp>
        <p:nvSpPr>
          <p:cNvPr id="5" name="Ícone SDR círculo"/>
          <p:cNvSpPr/>
          <p:nvPr/>
        </p:nvSpPr>
        <p:spPr>
          <a:xfrm>
            <a:off x="7360920" y="4160520"/>
            <a:ext cx="1645920" cy="164592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6" name="Ícone SDR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57200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Onde estamos hoje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60020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Valor 1"/>
          <p:cNvSpPr txBox="1"/>
          <p:nvPr/>
        </p:nvSpPr>
        <p:spPr>
          <a:xfrm>
            <a:off x="822960" y="1965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58%</a:t>
            </a:r>
            <a:endParaRPr lang="en-US" sz="4400" dirty="0"/>
          </a:p>
        </p:txBody>
      </p:sp>
      <p:sp>
        <p:nvSpPr>
          <p:cNvPr id="5" name="Legenda 1"/>
          <p:cNvSpPr txBox="1"/>
          <p:nvPr/>
        </p:nvSpPr>
        <p:spPr>
          <a:xfrm>
            <a:off x="822960" y="32004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dos leads nunca recebem contato, por falta de capacidade de atendimento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60020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Valor 2"/>
          <p:cNvSpPr txBox="1"/>
          <p:nvPr/>
        </p:nvSpPr>
        <p:spPr>
          <a:xfrm>
            <a:off x="3639312" y="1965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1.441</a:t>
            </a:r>
            <a:endParaRPr lang="en-US" sz="4400" dirty="0"/>
          </a:p>
        </p:txBody>
      </p:sp>
      <p:sp>
        <p:nvSpPr>
          <p:cNvPr id="8" name="Legenda 2"/>
          <p:cNvSpPr txBox="1"/>
          <p:nvPr/>
        </p:nvSpPr>
        <p:spPr>
          <a:xfrm>
            <a:off x="3639312" y="32004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leads parados há mais de 30 dias (873 na fila da Pryscila)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60020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Valor 3"/>
          <p:cNvSpPr txBox="1"/>
          <p:nvPr/>
        </p:nvSpPr>
        <p:spPr>
          <a:xfrm>
            <a:off x="6455664" y="1965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811 → 204</a:t>
            </a:r>
            <a:endParaRPr lang="en-US" sz="3000" dirty="0"/>
          </a:p>
        </p:txBody>
      </p:sp>
      <p:sp>
        <p:nvSpPr>
          <p:cNvPr id="11" name="Legenda 3"/>
          <p:cNvSpPr txBox="1"/>
          <p:nvPr/>
        </p:nvSpPr>
        <p:spPr>
          <a:xfrm>
            <a:off x="6455664" y="32004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MQL que viraram SQL no digital em junho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60020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Valor 4"/>
          <p:cNvSpPr txBox="1"/>
          <p:nvPr/>
        </p:nvSpPr>
        <p:spPr>
          <a:xfrm>
            <a:off x="9272016" y="1965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8</a:t>
            </a:r>
            <a:endParaRPr lang="en-US" sz="4400" dirty="0"/>
          </a:p>
        </p:txBody>
      </p:sp>
      <p:sp>
        <p:nvSpPr>
          <p:cNvPr id="14" name="Legenda 4"/>
          <p:cNvSpPr txBox="1"/>
          <p:nvPr/>
        </p:nvSpPr>
        <p:spPr>
          <a:xfrm>
            <a:off x="9272016" y="32004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negócios ganhos desses 1.139 leads de junho</a:t>
            </a:r>
            <a:endParaRPr lang="en-US" sz="1500" dirty="0"/>
          </a:p>
        </p:txBody>
      </p:sp>
      <p:sp>
        <p:nvSpPr>
          <p:cNvPr id="15" name="Conclusão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 gargalo não é a qualidade do lead: é a velocidade e a ordem do atendimento.</a:t>
            </a:r>
            <a:endParaRPr lang="en-US" sz="1600" dirty="0"/>
          </a:p>
        </p:txBody>
      </p:sp>
      <p:sp>
        <p:nvSpPr>
          <p:cNvPr id="16" name="Fonte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Fontes: Plano de Growth 2º semestre, Plano Limbo e Convenção de Vendas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Os 5 princípios do atendimento</a:t>
            </a:r>
            <a:endParaRPr lang="en-US" sz="3200" dirty="0"/>
          </a:p>
        </p:txBody>
      </p:sp>
      <p:sp>
        <p:nvSpPr>
          <p:cNvPr id="3" name="Princípio 1"/>
          <p:cNvSpPr/>
          <p:nvPr/>
        </p:nvSpPr>
        <p:spPr>
          <a:xfrm>
            <a:off x="548640" y="1645920"/>
            <a:ext cx="2066544" cy="393192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4" name="Velocidade vence círculo"/>
          <p:cNvSpPr/>
          <p:nvPr/>
        </p:nvSpPr>
        <p:spPr>
          <a:xfrm>
            <a:off x="1143000" y="1965960"/>
            <a:ext cx="868680" cy="868680"/>
          </a:xfrm>
          <a:prstGeom prst="ellipse">
            <a:avLst/>
          </a:prstGeom>
          <a:solidFill>
            <a:srgbClr val="3EB1FE"/>
          </a:solidFill>
          <a:ln/>
        </p:spPr>
      </p:sp>
      <p:pic>
        <p:nvPicPr>
          <p:cNvPr id="5" name="Velocidade venc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170" y="2183130"/>
            <a:ext cx="434340" cy="434340"/>
          </a:xfrm>
          <a:prstGeom prst="rect">
            <a:avLst/>
          </a:prstGeom>
        </p:spPr>
      </p:pic>
      <p:sp>
        <p:nvSpPr>
          <p:cNvPr id="6" name="Velocidade vence título"/>
          <p:cNvSpPr txBox="1"/>
          <p:nvPr/>
        </p:nvSpPr>
        <p:spPr>
          <a:xfrm>
            <a:off x="731520" y="30632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Velocidade vence</a:t>
            </a:r>
            <a:endParaRPr lang="en-US" sz="1800" dirty="0"/>
          </a:p>
        </p:txBody>
      </p:sp>
      <p:sp>
        <p:nvSpPr>
          <p:cNvPr id="7" name="Velocidade vence texto"/>
          <p:cNvSpPr txBox="1"/>
          <p:nvPr/>
        </p:nvSpPr>
        <p:spPr>
          <a:xfrm>
            <a:off x="731520" y="3931920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Lead quente respondido em até 5 minutos</a:t>
            </a:r>
            <a:endParaRPr lang="en-US" sz="1500" dirty="0"/>
          </a:p>
        </p:txBody>
      </p:sp>
      <p:sp>
        <p:nvSpPr>
          <p:cNvPr id="8" name="Princípio 2"/>
          <p:cNvSpPr/>
          <p:nvPr/>
        </p:nvSpPr>
        <p:spPr>
          <a:xfrm>
            <a:off x="2798064" y="1645920"/>
            <a:ext cx="2066544" cy="393192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9" name="Fale do negócio dele círculo"/>
          <p:cNvSpPr/>
          <p:nvPr/>
        </p:nvSpPr>
        <p:spPr>
          <a:xfrm>
            <a:off x="3392424" y="1965960"/>
            <a:ext cx="868680" cy="868680"/>
          </a:xfrm>
          <a:prstGeom prst="ellipse">
            <a:avLst/>
          </a:prstGeom>
          <a:solidFill>
            <a:srgbClr val="658DFF"/>
          </a:solidFill>
          <a:ln/>
        </p:spPr>
      </p:sp>
      <p:pic>
        <p:nvPicPr>
          <p:cNvPr id="10" name="Fale do negócio dele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594" y="2183130"/>
            <a:ext cx="434340" cy="434340"/>
          </a:xfrm>
          <a:prstGeom prst="rect">
            <a:avLst/>
          </a:prstGeom>
        </p:spPr>
      </p:pic>
      <p:sp>
        <p:nvSpPr>
          <p:cNvPr id="11" name="Fale do negócio dele título"/>
          <p:cNvSpPr txBox="1"/>
          <p:nvPr/>
        </p:nvSpPr>
        <p:spPr>
          <a:xfrm>
            <a:off x="2980944" y="30632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Fale do negócio dele</a:t>
            </a:r>
            <a:endParaRPr lang="en-US" sz="1800" dirty="0"/>
          </a:p>
        </p:txBody>
      </p:sp>
      <p:sp>
        <p:nvSpPr>
          <p:cNvPr id="12" name="Fale do negócio dele texto"/>
          <p:cNvSpPr txBox="1"/>
          <p:nvPr/>
        </p:nvSpPr>
        <p:spPr>
          <a:xfrm>
            <a:off x="2980944" y="3931920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Abra com o nicho e a origem do lead</a:t>
            </a:r>
            <a:endParaRPr lang="en-US" sz="1500" dirty="0"/>
          </a:p>
        </p:txBody>
      </p:sp>
      <p:sp>
        <p:nvSpPr>
          <p:cNvPr id="13" name="Princípio 3"/>
          <p:cNvSpPr/>
          <p:nvPr/>
        </p:nvSpPr>
        <p:spPr>
          <a:xfrm>
            <a:off x="5047488" y="1645920"/>
            <a:ext cx="2066544" cy="393192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14" name="SDR qualifica círculo"/>
          <p:cNvSpPr/>
          <p:nvPr/>
        </p:nvSpPr>
        <p:spPr>
          <a:xfrm>
            <a:off x="5641848" y="1965960"/>
            <a:ext cx="868680" cy="868680"/>
          </a:xfrm>
          <a:prstGeom prst="ellipse">
            <a:avLst/>
          </a:prstGeom>
          <a:solidFill>
            <a:srgbClr val="8A5CF6"/>
          </a:solidFill>
          <a:ln/>
        </p:spPr>
      </p:sp>
      <p:pic>
        <p:nvPicPr>
          <p:cNvPr id="15" name="SDR qualific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018" y="2183130"/>
            <a:ext cx="434340" cy="434340"/>
          </a:xfrm>
          <a:prstGeom prst="rect">
            <a:avLst/>
          </a:prstGeom>
        </p:spPr>
      </p:pic>
      <p:sp>
        <p:nvSpPr>
          <p:cNvPr id="16" name="SDR qualifica título"/>
          <p:cNvSpPr txBox="1"/>
          <p:nvPr/>
        </p:nvSpPr>
        <p:spPr>
          <a:xfrm>
            <a:off x="5230368" y="30632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SDR qualifica</a:t>
            </a:r>
            <a:endParaRPr lang="en-US" sz="1800" dirty="0"/>
          </a:p>
        </p:txBody>
      </p:sp>
      <p:sp>
        <p:nvSpPr>
          <p:cNvPr id="17" name="SDR qualifica texto"/>
          <p:cNvSpPr txBox="1"/>
          <p:nvPr/>
        </p:nvSpPr>
        <p:spPr>
          <a:xfrm>
            <a:off x="5230368" y="3931920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executivo vende; o SDR entende e agenda</a:t>
            </a:r>
            <a:endParaRPr lang="en-US" sz="1500" dirty="0"/>
          </a:p>
        </p:txBody>
      </p:sp>
      <p:sp>
        <p:nvSpPr>
          <p:cNvPr id="18" name="Princípio 4"/>
          <p:cNvSpPr/>
          <p:nvPr/>
        </p:nvSpPr>
        <p:spPr>
          <a:xfrm>
            <a:off x="7296912" y="1645920"/>
            <a:ext cx="2066544" cy="393192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19" name="Sempre um próximo passo círculo"/>
          <p:cNvSpPr/>
          <p:nvPr/>
        </p:nvSpPr>
        <p:spPr>
          <a:xfrm>
            <a:off x="7891272" y="1965960"/>
            <a:ext cx="868680" cy="868680"/>
          </a:xfrm>
          <a:prstGeom prst="ellipse">
            <a:avLst/>
          </a:prstGeom>
          <a:solidFill>
            <a:srgbClr val="B43CF8"/>
          </a:solidFill>
          <a:ln/>
        </p:spPr>
      </p:sp>
      <p:pic>
        <p:nvPicPr>
          <p:cNvPr id="20" name="Sempre um próximo passo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442" y="2183130"/>
            <a:ext cx="434340" cy="434340"/>
          </a:xfrm>
          <a:prstGeom prst="rect">
            <a:avLst/>
          </a:prstGeom>
        </p:spPr>
      </p:pic>
      <p:sp>
        <p:nvSpPr>
          <p:cNvPr id="21" name="Sempre um próximo passo título"/>
          <p:cNvSpPr txBox="1"/>
          <p:nvPr/>
        </p:nvSpPr>
        <p:spPr>
          <a:xfrm>
            <a:off x="7479792" y="30632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Sempre um próximo passo</a:t>
            </a:r>
            <a:endParaRPr lang="en-US" sz="1800" dirty="0"/>
          </a:p>
        </p:txBody>
      </p:sp>
      <p:sp>
        <p:nvSpPr>
          <p:cNvPr id="22" name="Sempre um próximo passo texto"/>
          <p:cNvSpPr txBox="1"/>
          <p:nvPr/>
        </p:nvSpPr>
        <p:spPr>
          <a:xfrm>
            <a:off x="7479792" y="3931920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Toda conversa termina com uma data</a:t>
            </a:r>
            <a:endParaRPr lang="en-US" sz="1500" dirty="0"/>
          </a:p>
        </p:txBody>
      </p:sp>
      <p:sp>
        <p:nvSpPr>
          <p:cNvPr id="23" name="Princípio 5"/>
          <p:cNvSpPr/>
          <p:nvPr/>
        </p:nvSpPr>
        <p:spPr>
          <a:xfrm>
            <a:off x="9546336" y="1645920"/>
            <a:ext cx="2066544" cy="393192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24" name="Está no Salesforce círculo"/>
          <p:cNvSpPr/>
          <p:nvPr/>
        </p:nvSpPr>
        <p:spPr>
          <a:xfrm>
            <a:off x="10140696" y="1965960"/>
            <a:ext cx="868680" cy="8686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25" name="Está no Salesforce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7866" y="2183130"/>
            <a:ext cx="434340" cy="434340"/>
          </a:xfrm>
          <a:prstGeom prst="rect">
            <a:avLst/>
          </a:prstGeom>
        </p:spPr>
      </p:pic>
      <p:sp>
        <p:nvSpPr>
          <p:cNvPr id="26" name="Está no Salesforce título"/>
          <p:cNvSpPr txBox="1"/>
          <p:nvPr/>
        </p:nvSpPr>
        <p:spPr>
          <a:xfrm>
            <a:off x="9729216" y="306324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Está no Salesforce</a:t>
            </a:r>
            <a:endParaRPr lang="en-US" sz="1800" dirty="0"/>
          </a:p>
        </p:txBody>
      </p:sp>
      <p:sp>
        <p:nvSpPr>
          <p:cNvPr id="27" name="Está no Salesforce texto"/>
          <p:cNvSpPr txBox="1"/>
          <p:nvPr/>
        </p:nvSpPr>
        <p:spPr>
          <a:xfrm>
            <a:off x="9729216" y="3931920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 que não foi registrado não aconteceu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jornada em 7 etapas</a:t>
            </a:r>
            <a:endParaRPr lang="en-US" sz="3200" dirty="0"/>
          </a:p>
        </p:txBody>
      </p:sp>
      <p:sp>
        <p:nvSpPr>
          <p:cNvPr id="3" name="Etapa 1 círculo"/>
          <p:cNvSpPr/>
          <p:nvPr/>
        </p:nvSpPr>
        <p:spPr>
          <a:xfrm>
            <a:off x="960120" y="1828800"/>
            <a:ext cx="685800" cy="685800"/>
          </a:xfrm>
          <a:prstGeom prst="ellipse">
            <a:avLst/>
          </a:prstGeom>
          <a:solidFill>
            <a:srgbClr val="12D9FF"/>
          </a:solidFill>
          <a:ln/>
        </p:spPr>
      </p:sp>
      <p:sp>
        <p:nvSpPr>
          <p:cNvPr id="4" name="Etapa 1 número"/>
          <p:cNvSpPr txBox="1"/>
          <p:nvPr/>
        </p:nvSpPr>
        <p:spPr>
          <a:xfrm>
            <a:off x="9601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</a:rPr>
              <a:t>1</a:t>
            </a:r>
            <a:endParaRPr lang="en-US" sz="1950" dirty="0"/>
          </a:p>
        </p:txBody>
      </p:sp>
      <p:sp>
        <p:nvSpPr>
          <p:cNvPr id="5" name="Seta 1"/>
          <p:cNvSpPr/>
          <p:nvPr/>
        </p:nvSpPr>
        <p:spPr>
          <a:xfrm>
            <a:off x="1719072" y="2171700"/>
            <a:ext cx="548640" cy="0"/>
          </a:xfrm>
          <a:prstGeom prst="line">
            <a:avLst/>
          </a:prstGeom>
          <a:noFill/>
          <a:ln w="15875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6" name="Etapa nome 1"/>
          <p:cNvSpPr txBox="1"/>
          <p:nvPr/>
        </p:nvSpPr>
        <p:spPr>
          <a:xfrm>
            <a:off x="548640" y="27432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Entrada e prioridade</a:t>
            </a:r>
            <a:endParaRPr lang="en-US" sz="1500" dirty="0"/>
          </a:p>
        </p:txBody>
      </p:sp>
      <p:sp>
        <p:nvSpPr>
          <p:cNvPr id="7" name="Etapa texto 1"/>
          <p:cNvSpPr txBox="1"/>
          <p:nvPr/>
        </p:nvSpPr>
        <p:spPr>
          <a:xfrm>
            <a:off x="548640" y="34290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quente, morno, frio</a:t>
            </a:r>
            <a:endParaRPr lang="en-US" sz="1300" dirty="0"/>
          </a:p>
        </p:txBody>
      </p:sp>
      <p:sp>
        <p:nvSpPr>
          <p:cNvPr id="8" name="Etapa 2 círculo"/>
          <p:cNvSpPr/>
          <p:nvPr/>
        </p:nvSpPr>
        <p:spPr>
          <a:xfrm>
            <a:off x="2560320" y="1828800"/>
            <a:ext cx="685800" cy="685800"/>
          </a:xfrm>
          <a:prstGeom prst="ellipse">
            <a:avLst/>
          </a:prstGeom>
          <a:solidFill>
            <a:srgbClr val="3EB1FE"/>
          </a:solidFill>
          <a:ln/>
        </p:spPr>
      </p:sp>
      <p:sp>
        <p:nvSpPr>
          <p:cNvPr id="9" name="Etapa 2 número"/>
          <p:cNvSpPr txBox="1"/>
          <p:nvPr/>
        </p:nvSpPr>
        <p:spPr>
          <a:xfrm>
            <a:off x="25603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</a:rPr>
              <a:t>2</a:t>
            </a:r>
            <a:endParaRPr lang="en-US" sz="1950" dirty="0"/>
          </a:p>
        </p:txBody>
      </p:sp>
      <p:sp>
        <p:nvSpPr>
          <p:cNvPr id="10" name="Seta 2"/>
          <p:cNvSpPr/>
          <p:nvPr/>
        </p:nvSpPr>
        <p:spPr>
          <a:xfrm>
            <a:off x="3319272" y="2171700"/>
            <a:ext cx="548640" cy="0"/>
          </a:xfrm>
          <a:prstGeom prst="line">
            <a:avLst/>
          </a:prstGeom>
          <a:noFill/>
          <a:ln w="15875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11" name="Etapa nome 2"/>
          <p:cNvSpPr txBox="1"/>
          <p:nvPr/>
        </p:nvSpPr>
        <p:spPr>
          <a:xfrm>
            <a:off x="2148840" y="27432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1º contato</a:t>
            </a:r>
            <a:endParaRPr lang="en-US" sz="1500" dirty="0"/>
          </a:p>
        </p:txBody>
      </p:sp>
      <p:sp>
        <p:nvSpPr>
          <p:cNvPr id="12" name="Etapa texto 2"/>
          <p:cNvSpPr txBox="1"/>
          <p:nvPr/>
        </p:nvSpPr>
        <p:spPr>
          <a:xfrm>
            <a:off x="2148840" y="34290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ligação + WhatsApp</a:t>
            </a:r>
            <a:endParaRPr lang="en-US" sz="1300" dirty="0"/>
          </a:p>
        </p:txBody>
      </p:sp>
      <p:sp>
        <p:nvSpPr>
          <p:cNvPr id="13" name="Etapa 3 círculo"/>
          <p:cNvSpPr/>
          <p:nvPr/>
        </p:nvSpPr>
        <p:spPr>
          <a:xfrm>
            <a:off x="4160520" y="1828800"/>
            <a:ext cx="685800" cy="685800"/>
          </a:xfrm>
          <a:prstGeom prst="ellipse">
            <a:avLst/>
          </a:prstGeom>
          <a:solidFill>
            <a:srgbClr val="658DFF"/>
          </a:solidFill>
          <a:ln/>
        </p:spPr>
      </p:sp>
      <p:sp>
        <p:nvSpPr>
          <p:cNvPr id="14" name="Etapa 3 número"/>
          <p:cNvSpPr txBox="1"/>
          <p:nvPr/>
        </p:nvSpPr>
        <p:spPr>
          <a:xfrm>
            <a:off x="41605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</a:rPr>
              <a:t>3</a:t>
            </a:r>
            <a:endParaRPr lang="en-US" sz="1950" dirty="0"/>
          </a:p>
        </p:txBody>
      </p:sp>
      <p:sp>
        <p:nvSpPr>
          <p:cNvPr id="15" name="Seta 3"/>
          <p:cNvSpPr/>
          <p:nvPr/>
        </p:nvSpPr>
        <p:spPr>
          <a:xfrm>
            <a:off x="4919472" y="2171700"/>
            <a:ext cx="548640" cy="0"/>
          </a:xfrm>
          <a:prstGeom prst="line">
            <a:avLst/>
          </a:prstGeom>
          <a:noFill/>
          <a:ln w="15875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16" name="Etapa nome 3"/>
          <p:cNvSpPr txBox="1"/>
          <p:nvPr/>
        </p:nvSpPr>
        <p:spPr>
          <a:xfrm>
            <a:off x="3749040" y="27432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Qualificação</a:t>
            </a:r>
            <a:endParaRPr lang="en-US" sz="1500" dirty="0"/>
          </a:p>
        </p:txBody>
      </p:sp>
      <p:sp>
        <p:nvSpPr>
          <p:cNvPr id="17" name="Etapa texto 3"/>
          <p:cNvSpPr txBox="1"/>
          <p:nvPr/>
        </p:nvSpPr>
        <p:spPr>
          <a:xfrm>
            <a:off x="3749040" y="34290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6 perguntas, 15 min</a:t>
            </a:r>
            <a:endParaRPr lang="en-US" sz="1300" dirty="0"/>
          </a:p>
        </p:txBody>
      </p:sp>
      <p:sp>
        <p:nvSpPr>
          <p:cNvPr id="18" name="Etapa 4 círculo"/>
          <p:cNvSpPr/>
          <p:nvPr/>
        </p:nvSpPr>
        <p:spPr>
          <a:xfrm>
            <a:off x="5760720" y="1828800"/>
            <a:ext cx="685800" cy="685800"/>
          </a:xfrm>
          <a:prstGeom prst="ellipse">
            <a:avLst/>
          </a:prstGeom>
          <a:solidFill>
            <a:srgbClr val="E011FF"/>
          </a:solidFill>
          <a:ln/>
        </p:spPr>
      </p:sp>
      <p:sp>
        <p:nvSpPr>
          <p:cNvPr id="19" name="Etapa 4 número"/>
          <p:cNvSpPr txBox="1"/>
          <p:nvPr/>
        </p:nvSpPr>
        <p:spPr>
          <a:xfrm>
            <a:off x="57607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</a:rPr>
              <a:t>4</a:t>
            </a:r>
            <a:endParaRPr lang="en-US" sz="1950" dirty="0"/>
          </a:p>
        </p:txBody>
      </p:sp>
      <p:sp>
        <p:nvSpPr>
          <p:cNvPr id="20" name="Seta 4"/>
          <p:cNvSpPr/>
          <p:nvPr/>
        </p:nvSpPr>
        <p:spPr>
          <a:xfrm>
            <a:off x="6519672" y="2171700"/>
            <a:ext cx="548640" cy="0"/>
          </a:xfrm>
          <a:prstGeom prst="line">
            <a:avLst/>
          </a:prstGeom>
          <a:noFill/>
          <a:ln w="15875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1" name="Etapa nome 4"/>
          <p:cNvSpPr txBox="1"/>
          <p:nvPr/>
        </p:nvSpPr>
        <p:spPr>
          <a:xfrm>
            <a:off x="5349240" y="27432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Agendamento</a:t>
            </a:r>
            <a:endParaRPr lang="en-US" sz="1500" dirty="0"/>
          </a:p>
        </p:txBody>
      </p:sp>
      <p:sp>
        <p:nvSpPr>
          <p:cNvPr id="22" name="Etapa texto 4"/>
          <p:cNvSpPr txBox="1"/>
          <p:nvPr/>
        </p:nvSpPr>
        <p:spPr>
          <a:xfrm>
            <a:off x="5349240" y="34290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reunião + nota de passagem</a:t>
            </a:r>
            <a:endParaRPr lang="en-US" sz="1300" dirty="0"/>
          </a:p>
        </p:txBody>
      </p:sp>
      <p:sp>
        <p:nvSpPr>
          <p:cNvPr id="23" name="Etapa 5 círculo"/>
          <p:cNvSpPr/>
          <p:nvPr/>
        </p:nvSpPr>
        <p:spPr>
          <a:xfrm>
            <a:off x="7360920" y="1828800"/>
            <a:ext cx="685800" cy="685800"/>
          </a:xfrm>
          <a:prstGeom prst="ellipse">
            <a:avLst/>
          </a:prstGeom>
          <a:solidFill>
            <a:srgbClr val="B43CF8"/>
          </a:solidFill>
          <a:ln/>
        </p:spPr>
      </p:sp>
      <p:sp>
        <p:nvSpPr>
          <p:cNvPr id="24" name="Etapa 5 número"/>
          <p:cNvSpPr txBox="1"/>
          <p:nvPr/>
        </p:nvSpPr>
        <p:spPr>
          <a:xfrm>
            <a:off x="73609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</a:rPr>
              <a:t>5</a:t>
            </a:r>
            <a:endParaRPr lang="en-US" sz="1950" dirty="0"/>
          </a:p>
        </p:txBody>
      </p:sp>
      <p:sp>
        <p:nvSpPr>
          <p:cNvPr id="25" name="Seta 5"/>
          <p:cNvSpPr/>
          <p:nvPr/>
        </p:nvSpPr>
        <p:spPr>
          <a:xfrm>
            <a:off x="8119872" y="2171700"/>
            <a:ext cx="548640" cy="0"/>
          </a:xfrm>
          <a:prstGeom prst="line">
            <a:avLst/>
          </a:prstGeom>
          <a:noFill/>
          <a:ln w="15875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26" name="Etapa nome 5"/>
          <p:cNvSpPr txBox="1"/>
          <p:nvPr/>
        </p:nvSpPr>
        <p:spPr>
          <a:xfrm>
            <a:off x="6949440" y="27432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Cadência</a:t>
            </a:r>
            <a:endParaRPr lang="en-US" sz="1500" dirty="0"/>
          </a:p>
        </p:txBody>
      </p:sp>
      <p:sp>
        <p:nvSpPr>
          <p:cNvPr id="27" name="Etapa texto 5"/>
          <p:cNvSpPr txBox="1"/>
          <p:nvPr/>
        </p:nvSpPr>
        <p:spPr>
          <a:xfrm>
            <a:off x="6949440" y="34290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7 toques em 10 dias</a:t>
            </a:r>
            <a:endParaRPr lang="en-US" sz="1300" dirty="0"/>
          </a:p>
        </p:txBody>
      </p:sp>
      <p:sp>
        <p:nvSpPr>
          <p:cNvPr id="28" name="Etapa 6 círculo"/>
          <p:cNvSpPr/>
          <p:nvPr/>
        </p:nvSpPr>
        <p:spPr>
          <a:xfrm>
            <a:off x="8961120" y="1828800"/>
            <a:ext cx="685800" cy="685800"/>
          </a:xfrm>
          <a:prstGeom prst="ellipse">
            <a:avLst/>
          </a:prstGeom>
          <a:solidFill>
            <a:srgbClr val="E011FF"/>
          </a:solidFill>
          <a:ln/>
        </p:spPr>
      </p:sp>
      <p:sp>
        <p:nvSpPr>
          <p:cNvPr id="29" name="Etapa 6 número"/>
          <p:cNvSpPr txBox="1"/>
          <p:nvPr/>
        </p:nvSpPr>
        <p:spPr>
          <a:xfrm>
            <a:off x="89611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</a:rPr>
              <a:t>6</a:t>
            </a:r>
            <a:endParaRPr lang="en-US" sz="1950" dirty="0"/>
          </a:p>
        </p:txBody>
      </p:sp>
      <p:sp>
        <p:nvSpPr>
          <p:cNvPr id="30" name="Seta 6"/>
          <p:cNvSpPr/>
          <p:nvPr/>
        </p:nvSpPr>
        <p:spPr>
          <a:xfrm>
            <a:off x="9720072" y="2171700"/>
            <a:ext cx="548640" cy="0"/>
          </a:xfrm>
          <a:prstGeom prst="line">
            <a:avLst/>
          </a:prstGeom>
          <a:noFill/>
          <a:ln w="15875">
            <a:solidFill>
              <a:srgbClr val="7A7A7A"/>
            </a:solidFill>
            <a:prstDash val="solid"/>
            <a:tailEnd type="triangle"/>
          </a:ln>
        </p:spPr>
      </p:sp>
      <p:sp>
        <p:nvSpPr>
          <p:cNvPr id="31" name="Etapa nome 6"/>
          <p:cNvSpPr txBox="1"/>
          <p:nvPr/>
        </p:nvSpPr>
        <p:spPr>
          <a:xfrm>
            <a:off x="8549640" y="27432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Nutrição ou saída</a:t>
            </a:r>
            <a:endParaRPr lang="en-US" sz="1500" dirty="0"/>
          </a:p>
        </p:txBody>
      </p:sp>
      <p:sp>
        <p:nvSpPr>
          <p:cNvPr id="32" name="Etapa texto 6"/>
          <p:cNvSpPr txBox="1"/>
          <p:nvPr/>
        </p:nvSpPr>
        <p:spPr>
          <a:xfrm>
            <a:off x="8549640" y="34290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sempre com motivo</a:t>
            </a:r>
            <a:endParaRPr lang="en-US" sz="1300" dirty="0"/>
          </a:p>
        </p:txBody>
      </p:sp>
      <p:sp>
        <p:nvSpPr>
          <p:cNvPr id="33" name="Etapa 7 círculo"/>
          <p:cNvSpPr/>
          <p:nvPr/>
        </p:nvSpPr>
        <p:spPr>
          <a:xfrm>
            <a:off x="10561320" y="1828800"/>
            <a:ext cx="685800" cy="685800"/>
          </a:xfrm>
          <a:prstGeom prst="ellipse">
            <a:avLst/>
          </a:prstGeom>
          <a:solidFill>
            <a:srgbClr val="E011FF"/>
          </a:solidFill>
          <a:ln/>
        </p:spPr>
      </p:sp>
      <p:sp>
        <p:nvSpPr>
          <p:cNvPr id="34" name="Etapa 7 número"/>
          <p:cNvSpPr txBox="1"/>
          <p:nvPr/>
        </p:nvSpPr>
        <p:spPr>
          <a:xfrm>
            <a:off x="105613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</a:rPr>
              <a:t>7</a:t>
            </a:r>
            <a:endParaRPr lang="en-US" sz="1950" dirty="0"/>
          </a:p>
        </p:txBody>
      </p:sp>
      <p:sp>
        <p:nvSpPr>
          <p:cNvPr id="35" name="Etapa nome 7"/>
          <p:cNvSpPr txBox="1"/>
          <p:nvPr/>
        </p:nvSpPr>
        <p:spPr>
          <a:xfrm>
            <a:off x="10149840" y="274320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Salesforce</a:t>
            </a:r>
            <a:endParaRPr lang="en-US" sz="1500" dirty="0"/>
          </a:p>
        </p:txBody>
      </p:sp>
      <p:sp>
        <p:nvSpPr>
          <p:cNvPr id="36" name="Etapa texto 7"/>
          <p:cNvSpPr txBox="1"/>
          <p:nvPr/>
        </p:nvSpPr>
        <p:spPr>
          <a:xfrm>
            <a:off x="10149840" y="34290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em todas as etapas</a:t>
            </a:r>
            <a:endParaRPr lang="en-US" sz="1300" dirty="0"/>
          </a:p>
        </p:txBody>
      </p:sp>
      <p:sp>
        <p:nvSpPr>
          <p:cNvPr id="37" name="Faixa regra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8" name="Regra de ouro"/>
          <p:cNvSpPr txBox="1"/>
          <p:nvPr/>
        </p:nvSpPr>
        <p:spPr>
          <a:xfrm>
            <a:off x="868680" y="45720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Regra de ouro: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lead só sai da fila com reunião agendada ou com motivo registrado. Respondeu na cadência? Volta para a qualificação.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Etapa 1: quem atender primeiro</a:t>
            </a:r>
            <a:endParaRPr lang="en-US" sz="3200" dirty="0"/>
          </a:p>
        </p:txBody>
      </p:sp>
      <p:sp>
        <p:nvSpPr>
          <p:cNvPr id="3" name="Temperatura Quente"/>
          <p:cNvSpPr/>
          <p:nvPr/>
        </p:nvSpPr>
        <p:spPr>
          <a:xfrm>
            <a:off x="548640" y="1600200"/>
            <a:ext cx="3474720" cy="41148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Quente marcador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E011FF"/>
          </a:solidFill>
          <a:ln/>
        </p:spPr>
      </p:sp>
      <p:sp>
        <p:nvSpPr>
          <p:cNvPr id="5" name="Quente nome"/>
          <p:cNvSpPr txBox="1"/>
          <p:nvPr/>
        </p:nvSpPr>
        <p:spPr>
          <a:xfrm>
            <a:off x="141732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Quente</a:t>
            </a:r>
            <a:endParaRPr lang="en-US" sz="2200" dirty="0"/>
          </a:p>
        </p:txBody>
      </p:sp>
      <p:sp>
        <p:nvSpPr>
          <p:cNvPr id="6" name="Quente prazo"/>
          <p:cNvSpPr txBox="1"/>
          <p:nvPr/>
        </p:nvSpPr>
        <p:spPr>
          <a:xfrm>
            <a:off x="822960" y="2560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até 5 min</a:t>
            </a:r>
            <a:endParaRPr lang="en-US" sz="2800" dirty="0"/>
          </a:p>
        </p:txBody>
      </p:sp>
      <p:sp>
        <p:nvSpPr>
          <p:cNvPr id="7" name="Quente critério"/>
          <p:cNvSpPr txBox="1"/>
          <p:nvPr/>
        </p:nvSpPr>
        <p:spPr>
          <a:xfrm>
            <a:off x="822960" y="32004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Pediu orçamento ou visita; tem projeto, local ou data; veio de página de segmento ou do Ledson com nota alta</a:t>
            </a:r>
            <a:endParaRPr lang="en-US" sz="1400" dirty="0"/>
          </a:p>
        </p:txBody>
      </p:sp>
      <p:sp>
        <p:nvSpPr>
          <p:cNvPr id="8" name="Quente canal"/>
          <p:cNvSpPr txBox="1"/>
          <p:nvPr/>
        </p:nvSpPr>
        <p:spPr>
          <a:xfrm>
            <a:off x="822960" y="5074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Ligação + WhatsApp</a:t>
            </a:r>
            <a:endParaRPr lang="en-US" sz="1400" dirty="0"/>
          </a:p>
        </p:txBody>
      </p:sp>
      <p:sp>
        <p:nvSpPr>
          <p:cNvPr id="9" name="Temperatura Morno"/>
          <p:cNvSpPr/>
          <p:nvPr/>
        </p:nvSpPr>
        <p:spPr>
          <a:xfrm>
            <a:off x="4297680" y="1600200"/>
            <a:ext cx="3474720" cy="41148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0" name="Morno marcador"/>
          <p:cNvSpPr/>
          <p:nvPr/>
        </p:nvSpPr>
        <p:spPr>
          <a:xfrm>
            <a:off x="4572000" y="1874520"/>
            <a:ext cx="457200" cy="457200"/>
          </a:xfrm>
          <a:prstGeom prst="ellipse">
            <a:avLst/>
          </a:prstGeom>
          <a:solidFill>
            <a:srgbClr val="8A5CF6"/>
          </a:solidFill>
          <a:ln/>
        </p:spPr>
      </p:sp>
      <p:sp>
        <p:nvSpPr>
          <p:cNvPr id="11" name="Morno nome"/>
          <p:cNvSpPr txBox="1"/>
          <p:nvPr/>
        </p:nvSpPr>
        <p:spPr>
          <a:xfrm>
            <a:off x="516636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Morno</a:t>
            </a:r>
            <a:endParaRPr lang="en-US" sz="2200" dirty="0"/>
          </a:p>
        </p:txBody>
      </p:sp>
      <p:sp>
        <p:nvSpPr>
          <p:cNvPr id="12" name="Morno prazo"/>
          <p:cNvSpPr txBox="1"/>
          <p:nvPr/>
        </p:nvSpPr>
        <p:spPr>
          <a:xfrm>
            <a:off x="4572000" y="2560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até 2 h</a:t>
            </a:r>
            <a:endParaRPr lang="en-US" sz="2800" dirty="0"/>
          </a:p>
        </p:txBody>
      </p:sp>
      <p:sp>
        <p:nvSpPr>
          <p:cNvPr id="13" name="Morno critério"/>
          <p:cNvSpPr txBox="1"/>
          <p:nvPr/>
        </p:nvSpPr>
        <p:spPr>
          <a:xfrm>
            <a:off x="4572000" y="32004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Pediu informação geral, sem prazo; veio de feira ou evento; empresa do perfil sem projeto definido</a:t>
            </a:r>
            <a:endParaRPr lang="en-US" sz="1400" dirty="0"/>
          </a:p>
        </p:txBody>
      </p:sp>
      <p:sp>
        <p:nvSpPr>
          <p:cNvPr id="14" name="Morno canal"/>
          <p:cNvSpPr txBox="1"/>
          <p:nvPr/>
        </p:nvSpPr>
        <p:spPr>
          <a:xfrm>
            <a:off x="4572000" y="5074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WhatsApp + ligação no dia</a:t>
            </a:r>
            <a:endParaRPr lang="en-US" sz="1400" dirty="0"/>
          </a:p>
        </p:txBody>
      </p:sp>
      <p:sp>
        <p:nvSpPr>
          <p:cNvPr id="15" name="Temperatura Frio"/>
          <p:cNvSpPr/>
          <p:nvPr/>
        </p:nvSpPr>
        <p:spPr>
          <a:xfrm>
            <a:off x="8046720" y="1600200"/>
            <a:ext cx="3474720" cy="41148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6" name="Frio marcador"/>
          <p:cNvSpPr/>
          <p:nvPr/>
        </p:nvSpPr>
        <p:spPr>
          <a:xfrm>
            <a:off x="8321040" y="1874520"/>
            <a:ext cx="457200" cy="457200"/>
          </a:xfrm>
          <a:prstGeom prst="ellipse">
            <a:avLst/>
          </a:prstGeom>
          <a:solidFill>
            <a:srgbClr val="658DFF"/>
          </a:solidFill>
          <a:ln/>
        </p:spPr>
      </p:sp>
      <p:sp>
        <p:nvSpPr>
          <p:cNvPr id="17" name="Frio nome"/>
          <p:cNvSpPr txBox="1"/>
          <p:nvPr/>
        </p:nvSpPr>
        <p:spPr>
          <a:xfrm>
            <a:off x="891540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Frio</a:t>
            </a:r>
            <a:endParaRPr lang="en-US" sz="2200" dirty="0"/>
          </a:p>
        </p:txBody>
      </p:sp>
      <p:sp>
        <p:nvSpPr>
          <p:cNvPr id="18" name="Frio prazo"/>
          <p:cNvSpPr txBox="1"/>
          <p:nvPr/>
        </p:nvSpPr>
        <p:spPr>
          <a:xfrm>
            <a:off x="8321040" y="2560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até 24 h</a:t>
            </a:r>
            <a:endParaRPr lang="en-US" sz="2800" dirty="0"/>
          </a:p>
        </p:txBody>
      </p:sp>
      <p:sp>
        <p:nvSpPr>
          <p:cNvPr id="19" name="Frio critério"/>
          <p:cNvSpPr txBox="1"/>
          <p:nvPr/>
        </p:nvSpPr>
        <p:spPr>
          <a:xfrm>
            <a:off x="8321040" y="32004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Baixou conteúdo, pesquisa de estudante, pessoa física sem projeto, contato incompleto</a:t>
            </a:r>
            <a:endParaRPr lang="en-US" sz="1400" dirty="0"/>
          </a:p>
        </p:txBody>
      </p:sp>
      <p:sp>
        <p:nvSpPr>
          <p:cNvPr id="20" name="Frio canal"/>
          <p:cNvSpPr txBox="1"/>
          <p:nvPr/>
        </p:nvSpPr>
        <p:spPr>
          <a:xfrm>
            <a:off x="8321040" y="5074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WhatsApp ou e-mail</a:t>
            </a:r>
            <a:endParaRPr lang="en-US" sz="1400" dirty="0"/>
          </a:p>
        </p:txBody>
      </p:sp>
      <p:sp>
        <p:nvSpPr>
          <p:cNvPr id="21" name="Pesquisa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Antes de falar: 2 minutos de pesquisa (origem, site e Instagram, nicho na planilha comercial, histórico no Salesforce).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Etapa 2: a ligação de 2 minutos</a:t>
            </a:r>
            <a:endParaRPr lang="en-US" sz="3200" dirty="0"/>
          </a:p>
        </p:txBody>
      </p:sp>
      <p:sp>
        <p:nvSpPr>
          <p:cNvPr id="3" name="Passo ligação 1 círculo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658DFF"/>
          </a:solidFill>
          <a:ln/>
        </p:spPr>
      </p:sp>
      <p:sp>
        <p:nvSpPr>
          <p:cNvPr id="4" name="Passo ligação 1 número"/>
          <p:cNvSpPr txBox="1"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</a:rPr>
              <a:t>1</a:t>
            </a:r>
            <a:endParaRPr lang="en-US" sz="1560" dirty="0"/>
          </a:p>
        </p:txBody>
      </p:sp>
      <p:sp>
        <p:nvSpPr>
          <p:cNvPr id="5" name="Passo nome 1"/>
          <p:cNvSpPr txBox="1"/>
          <p:nvPr/>
        </p:nvSpPr>
        <p:spPr>
          <a:xfrm>
            <a:off x="1325880" y="1463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Abertura</a:t>
            </a:r>
            <a:endParaRPr lang="en-US" sz="1700" dirty="0"/>
          </a:p>
        </p:txBody>
      </p:sp>
      <p:sp>
        <p:nvSpPr>
          <p:cNvPr id="6" name="Passo fala 1"/>
          <p:cNvSpPr txBox="1"/>
          <p:nvPr/>
        </p:nvSpPr>
        <p:spPr>
          <a:xfrm>
            <a:off x="374904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"Oi, [Nome]? Aqui é a [Pryscila], da LedWave. Você pediu um orçamento de painel de LED há poucos minutos. Tem 2 minutinhos?"</a:t>
            </a:r>
            <a:endParaRPr lang="en-US" sz="1500" dirty="0"/>
          </a:p>
        </p:txBody>
      </p:sp>
      <p:sp>
        <p:nvSpPr>
          <p:cNvPr id="7" name="Passo ligação 2 círculo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rgbClr val="8A5CF6"/>
          </a:solidFill>
          <a:ln/>
        </p:spPr>
      </p:sp>
      <p:sp>
        <p:nvSpPr>
          <p:cNvPr id="8" name="Passo ligação 2 número"/>
          <p:cNvSpPr txBox="1"/>
          <p:nvPr/>
        </p:nvSpPr>
        <p:spPr>
          <a:xfrm>
            <a:off x="5486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</a:rPr>
              <a:t>2</a:t>
            </a:r>
            <a:endParaRPr lang="en-US" sz="1560" dirty="0"/>
          </a:p>
        </p:txBody>
      </p:sp>
      <p:sp>
        <p:nvSpPr>
          <p:cNvPr id="9" name="Passo nome 2"/>
          <p:cNvSpPr txBox="1"/>
          <p:nvPr/>
        </p:nvSpPr>
        <p:spPr>
          <a:xfrm>
            <a:off x="1325880" y="2514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Motivo</a:t>
            </a:r>
            <a:endParaRPr lang="en-US" sz="1700" dirty="0"/>
          </a:p>
        </p:txBody>
      </p:sp>
      <p:sp>
        <p:nvSpPr>
          <p:cNvPr id="10" name="Passo fala 2"/>
          <p:cNvSpPr txBox="1"/>
          <p:nvPr/>
        </p:nvSpPr>
        <p:spPr>
          <a:xfrm>
            <a:off x="3749040" y="2514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"Quero entender o seu projeto para te conectar com o especialista certo e não te mandar nada genérico."</a:t>
            </a:r>
            <a:endParaRPr lang="en-US" sz="1500" dirty="0"/>
          </a:p>
        </p:txBody>
      </p:sp>
      <p:sp>
        <p:nvSpPr>
          <p:cNvPr id="11" name="Passo ligação 3 círculo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B43CF8"/>
          </a:solidFill>
          <a:ln/>
        </p:spPr>
      </p:sp>
      <p:sp>
        <p:nvSpPr>
          <p:cNvPr id="12" name="Passo ligação 3 número"/>
          <p:cNvSpPr txBox="1"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</a:rPr>
              <a:t>3</a:t>
            </a:r>
            <a:endParaRPr lang="en-US" sz="1560" dirty="0"/>
          </a:p>
        </p:txBody>
      </p:sp>
      <p:sp>
        <p:nvSpPr>
          <p:cNvPr id="13" name="Passo nome 3"/>
          <p:cNvSpPr txBox="1"/>
          <p:nvPr/>
        </p:nvSpPr>
        <p:spPr>
          <a:xfrm>
            <a:off x="1325880" y="3566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Primeira pergunta</a:t>
            </a:r>
            <a:endParaRPr lang="en-US" sz="1700" dirty="0"/>
          </a:p>
        </p:txBody>
      </p:sp>
      <p:sp>
        <p:nvSpPr>
          <p:cNvPr id="14" name="Passo fala 3"/>
          <p:cNvSpPr txBox="1"/>
          <p:nvPr/>
        </p:nvSpPr>
        <p:spPr>
          <a:xfrm>
            <a:off x="3749040" y="3566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"Onde você pensa em usar o painel e o que você quer que ele resolva?"</a:t>
            </a:r>
            <a:endParaRPr lang="en-US" sz="1500" dirty="0"/>
          </a:p>
        </p:txBody>
      </p:sp>
      <p:sp>
        <p:nvSpPr>
          <p:cNvPr id="15" name="Passo ligação 4 círculo"/>
          <p:cNvSpPr/>
          <p:nvPr/>
        </p:nvSpPr>
        <p:spPr>
          <a:xfrm>
            <a:off x="548640" y="4709160"/>
            <a:ext cx="548640" cy="548640"/>
          </a:xfrm>
          <a:prstGeom prst="ellipse">
            <a:avLst/>
          </a:prstGeom>
          <a:solidFill>
            <a:srgbClr val="E011FF"/>
          </a:solidFill>
          <a:ln/>
        </p:spPr>
      </p:sp>
      <p:sp>
        <p:nvSpPr>
          <p:cNvPr id="16" name="Passo ligação 4 número"/>
          <p:cNvSpPr txBox="1"/>
          <p:nvPr/>
        </p:nvSpPr>
        <p:spPr>
          <a:xfrm>
            <a:off x="54864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</a:rPr>
              <a:t>4</a:t>
            </a:r>
            <a:endParaRPr lang="en-US" sz="1560" dirty="0"/>
          </a:p>
        </p:txBody>
      </p:sp>
      <p:sp>
        <p:nvSpPr>
          <p:cNvPr id="17" name="Passo nome 4"/>
          <p:cNvSpPr txBox="1"/>
          <p:nvPr/>
        </p:nvSpPr>
        <p:spPr>
          <a:xfrm>
            <a:off x="1325880" y="4617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Não pode agora</a:t>
            </a:r>
            <a:endParaRPr lang="en-US" sz="1700" dirty="0"/>
          </a:p>
        </p:txBody>
      </p:sp>
      <p:sp>
        <p:nvSpPr>
          <p:cNvPr id="18" name="Passo fala 4"/>
          <p:cNvSpPr txBox="1"/>
          <p:nvPr/>
        </p:nvSpPr>
        <p:spPr>
          <a:xfrm>
            <a:off x="3749040" y="4617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"Sem problema. Qual o melhor horário hoje ou amanhã? Te mando um WhatsApp para combinar."</a:t>
            </a:r>
            <a:endParaRPr lang="en-US" sz="1500" dirty="0"/>
          </a:p>
        </p:txBody>
      </p:sp>
      <p:sp>
        <p:nvSpPr>
          <p:cNvPr id="19" name="Faixa WhatsApp"/>
          <p:cNvSpPr/>
          <p:nvPr/>
        </p:nvSpPr>
        <p:spPr>
          <a:xfrm>
            <a:off x="548640" y="5715000"/>
            <a:ext cx="11064240" cy="384048"/>
          </a:xfrm>
          <a:prstGeom prst="roundRect">
            <a:avLst>
              <a:gd name="adj" fmla="val 28571"/>
            </a:avLst>
          </a:prstGeom>
          <a:solidFill>
            <a:schemeClr val="bg2"/>
          </a:solidFill>
          <a:ln/>
        </p:spPr>
      </p:sp>
      <p:sp>
        <p:nvSpPr>
          <p:cNvPr id="20" name="Não atendeu"/>
          <p:cNvSpPr txBox="1"/>
          <p:nvPr/>
        </p:nvSpPr>
        <p:spPr>
          <a:xfrm>
            <a:off x="777240" y="5715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Não atendeu? WhatsApp na mesma hora (próximo slide).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Etapa 2: o WhatsApp certo para cada origem</a:t>
            </a:r>
            <a:endParaRPr lang="en-US" sz="3200" dirty="0"/>
          </a:p>
        </p:txBody>
      </p:sp>
      <p:sp>
        <p:nvSpPr>
          <p:cNvPr id="3" name="WhatsApp Pediu orçamento"/>
          <p:cNvSpPr/>
          <p:nvPr/>
        </p:nvSpPr>
        <p:spPr>
          <a:xfrm>
            <a:off x="548640" y="1600200"/>
            <a:ext cx="2066544" cy="384048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4" name="Pediu orçamento círculo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3EB1FE"/>
          </a:solidFill>
          <a:ln/>
        </p:spPr>
      </p:sp>
      <p:pic>
        <p:nvPicPr>
          <p:cNvPr id="5" name="Pediu orçamen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88820"/>
            <a:ext cx="320040" cy="320040"/>
          </a:xfrm>
          <a:prstGeom prst="rect">
            <a:avLst/>
          </a:prstGeom>
        </p:spPr>
      </p:pic>
      <p:sp>
        <p:nvSpPr>
          <p:cNvPr id="6" name="Pediu orçamento título"/>
          <p:cNvSpPr txBox="1"/>
          <p:nvPr/>
        </p:nvSpPr>
        <p:spPr>
          <a:xfrm>
            <a:off x="777240" y="26060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Pediu orçamento</a:t>
            </a:r>
            <a:endParaRPr lang="en-US" sz="1600" dirty="0"/>
          </a:p>
        </p:txBody>
      </p:sp>
      <p:sp>
        <p:nvSpPr>
          <p:cNvPr id="7" name="Pediu orçamento texto"/>
          <p:cNvSpPr txBox="1"/>
          <p:nvPr/>
        </p:nvSpPr>
        <p:spPr>
          <a:xfrm>
            <a:off x="777240" y="3200400"/>
            <a:ext cx="1700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Recebi seu pedido de orçamento. É para qual espaço (fachada, loja, evento, igreja...) e em qual cidade?</a:t>
            </a:r>
            <a:endParaRPr lang="en-US" sz="1300" dirty="0"/>
          </a:p>
        </p:txBody>
      </p:sp>
      <p:sp>
        <p:nvSpPr>
          <p:cNvPr id="8" name="WhatsApp Veio pelo Ledson"/>
          <p:cNvSpPr/>
          <p:nvPr/>
        </p:nvSpPr>
        <p:spPr>
          <a:xfrm>
            <a:off x="2798064" y="1600200"/>
            <a:ext cx="2066544" cy="384048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9" name="Veio pelo Ledson círculo"/>
          <p:cNvSpPr/>
          <p:nvPr/>
        </p:nvSpPr>
        <p:spPr>
          <a:xfrm>
            <a:off x="3026664" y="1828800"/>
            <a:ext cx="640080" cy="640080"/>
          </a:xfrm>
          <a:prstGeom prst="ellipse">
            <a:avLst/>
          </a:prstGeom>
          <a:solidFill>
            <a:srgbClr val="658DFF"/>
          </a:solidFill>
          <a:ln/>
        </p:spPr>
      </p:sp>
      <p:pic>
        <p:nvPicPr>
          <p:cNvPr id="10" name="Veio pelo Ledson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1988820"/>
            <a:ext cx="320040" cy="320040"/>
          </a:xfrm>
          <a:prstGeom prst="rect">
            <a:avLst/>
          </a:prstGeom>
        </p:spPr>
      </p:pic>
      <p:sp>
        <p:nvSpPr>
          <p:cNvPr id="11" name="Veio pelo Ledson título"/>
          <p:cNvSpPr txBox="1"/>
          <p:nvPr/>
        </p:nvSpPr>
        <p:spPr>
          <a:xfrm>
            <a:off x="3026664" y="26060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Veio pelo Ledson</a:t>
            </a:r>
            <a:endParaRPr lang="en-US" sz="1600" dirty="0"/>
          </a:p>
        </p:txBody>
      </p:sp>
      <p:sp>
        <p:nvSpPr>
          <p:cNvPr id="12" name="Veio pelo Ledson texto"/>
          <p:cNvSpPr txBox="1"/>
          <p:nvPr/>
        </p:nvSpPr>
        <p:spPr>
          <a:xfrm>
            <a:off x="3026664" y="3200400"/>
            <a:ext cx="1700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Vi que você conversou com o Ledson sobre [tema]. Vou cuidar do seu atendimento. Posso te ligar em 5 minutos?</a:t>
            </a:r>
            <a:endParaRPr lang="en-US" sz="1300" dirty="0"/>
          </a:p>
        </p:txBody>
      </p:sp>
      <p:sp>
        <p:nvSpPr>
          <p:cNvPr id="13" name="WhatsApp Feira ou evento"/>
          <p:cNvSpPr/>
          <p:nvPr/>
        </p:nvSpPr>
        <p:spPr>
          <a:xfrm>
            <a:off x="5047488" y="1600200"/>
            <a:ext cx="2066544" cy="384048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14" name="Feira ou evento círculo"/>
          <p:cNvSpPr/>
          <p:nvPr/>
        </p:nvSpPr>
        <p:spPr>
          <a:xfrm>
            <a:off x="5276088" y="1828800"/>
            <a:ext cx="640080" cy="640080"/>
          </a:xfrm>
          <a:prstGeom prst="ellipse">
            <a:avLst/>
          </a:prstGeom>
          <a:solidFill>
            <a:srgbClr val="8A5CF6"/>
          </a:solidFill>
          <a:ln/>
        </p:spPr>
      </p:sp>
      <p:pic>
        <p:nvPicPr>
          <p:cNvPr id="15" name="Feira ou even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108" y="1988820"/>
            <a:ext cx="320040" cy="320040"/>
          </a:xfrm>
          <a:prstGeom prst="rect">
            <a:avLst/>
          </a:prstGeom>
        </p:spPr>
      </p:pic>
      <p:sp>
        <p:nvSpPr>
          <p:cNvPr id="16" name="Feira ou evento título"/>
          <p:cNvSpPr txBox="1"/>
          <p:nvPr/>
        </p:nvSpPr>
        <p:spPr>
          <a:xfrm>
            <a:off x="5276088" y="26060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Feira ou evento</a:t>
            </a:r>
            <a:endParaRPr lang="en-US" sz="1600" dirty="0"/>
          </a:p>
        </p:txBody>
      </p:sp>
      <p:sp>
        <p:nvSpPr>
          <p:cNvPr id="17" name="Feira ou evento texto"/>
          <p:cNvSpPr txBox="1"/>
          <p:nvPr/>
        </p:nvSpPr>
        <p:spPr>
          <a:xfrm>
            <a:off x="5276088" y="3200400"/>
            <a:ext cx="1700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Foi ótimo te conhecer na [feira]. Que tal 15 minutos esta semana? Terça ou quinta fica melhor?</a:t>
            </a:r>
            <a:endParaRPr lang="en-US" sz="1300" dirty="0"/>
          </a:p>
        </p:txBody>
      </p:sp>
      <p:sp>
        <p:nvSpPr>
          <p:cNvPr id="18" name="WhatsApp Baixou conteúdo"/>
          <p:cNvSpPr/>
          <p:nvPr/>
        </p:nvSpPr>
        <p:spPr>
          <a:xfrm>
            <a:off x="7296912" y="1600200"/>
            <a:ext cx="2066544" cy="384048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19" name="Baixou conteúdo círculo"/>
          <p:cNvSpPr/>
          <p:nvPr/>
        </p:nvSpPr>
        <p:spPr>
          <a:xfrm>
            <a:off x="7525512" y="1828800"/>
            <a:ext cx="640080" cy="640080"/>
          </a:xfrm>
          <a:prstGeom prst="ellipse">
            <a:avLst/>
          </a:prstGeom>
          <a:solidFill>
            <a:srgbClr val="B43CF8"/>
          </a:solidFill>
          <a:ln/>
        </p:spPr>
      </p:sp>
      <p:pic>
        <p:nvPicPr>
          <p:cNvPr id="20" name="Baixou conteúdo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532" y="1988820"/>
            <a:ext cx="320040" cy="320040"/>
          </a:xfrm>
          <a:prstGeom prst="rect">
            <a:avLst/>
          </a:prstGeom>
        </p:spPr>
      </p:pic>
      <p:sp>
        <p:nvSpPr>
          <p:cNvPr id="21" name="Baixou conteúdo título"/>
          <p:cNvSpPr txBox="1"/>
          <p:nvPr/>
        </p:nvSpPr>
        <p:spPr>
          <a:xfrm>
            <a:off x="7525512" y="26060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Baixou conteúdo</a:t>
            </a:r>
            <a:endParaRPr lang="en-US" sz="1600" dirty="0"/>
          </a:p>
        </p:txBody>
      </p:sp>
      <p:sp>
        <p:nvSpPr>
          <p:cNvPr id="22" name="Baixou conteúdo texto"/>
          <p:cNvSpPr txBox="1"/>
          <p:nvPr/>
        </p:nvSpPr>
        <p:spPr>
          <a:xfrm>
            <a:off x="7525512" y="3200400"/>
            <a:ext cx="1700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Vi seu interesse em [tema]. Está pensando em um projeto com LED ou ainda pesquisando?</a:t>
            </a:r>
            <a:endParaRPr lang="en-US" sz="1300" dirty="0"/>
          </a:p>
        </p:txBody>
      </p:sp>
      <p:sp>
        <p:nvSpPr>
          <p:cNvPr id="23" name="WhatsApp Parado há 30+ dias"/>
          <p:cNvSpPr/>
          <p:nvPr/>
        </p:nvSpPr>
        <p:spPr>
          <a:xfrm>
            <a:off x="9546336" y="1600200"/>
            <a:ext cx="2066544" cy="384048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/>
        </p:spPr>
      </p:sp>
      <p:sp>
        <p:nvSpPr>
          <p:cNvPr id="24" name="Parado há 30+ dias círculo"/>
          <p:cNvSpPr/>
          <p:nvPr/>
        </p:nvSpPr>
        <p:spPr>
          <a:xfrm>
            <a:off x="9774936" y="182880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25" name="Parado há 30+ dias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956" y="1988820"/>
            <a:ext cx="320040" cy="320040"/>
          </a:xfrm>
          <a:prstGeom prst="rect">
            <a:avLst/>
          </a:prstGeom>
        </p:spPr>
      </p:pic>
      <p:sp>
        <p:nvSpPr>
          <p:cNvPr id="26" name="Parado há 30+ dias título"/>
          <p:cNvSpPr txBox="1"/>
          <p:nvPr/>
        </p:nvSpPr>
        <p:spPr>
          <a:xfrm>
            <a:off x="9774936" y="260604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Parado há 30+ dias</a:t>
            </a:r>
            <a:endParaRPr lang="en-US" sz="1600" dirty="0"/>
          </a:p>
        </p:txBody>
      </p:sp>
      <p:sp>
        <p:nvSpPr>
          <p:cNvPr id="27" name="Parado há 30+ dias texto"/>
          <p:cNvSpPr txBox="1"/>
          <p:nvPr/>
        </p:nvSpPr>
        <p:spPr>
          <a:xfrm>
            <a:off x="9774936" y="3200400"/>
            <a:ext cx="17007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Há um tempo você falou com a gente. O projeto ainda está de pé? Te ajudo a retomar.</a:t>
            </a:r>
            <a:endParaRPr lang="en-US" sz="1300" dirty="0"/>
          </a:p>
        </p:txBody>
      </p:sp>
      <p:sp>
        <p:nvSpPr>
          <p:cNvPr id="28" name="Regras WhatsApp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Regras: até 4 linhas · uma pergunta por mensagem · sem preço nem catálogo no 1º contato · áudio só se o lead mandar primeiro.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Etapa 3: qualificação em 6 perguntas</a:t>
            </a:r>
            <a:endParaRPr lang="en-US" sz="3200" dirty="0"/>
          </a:p>
        </p:txBody>
      </p:sp>
      <p:sp>
        <p:nvSpPr>
          <p:cNvPr id="3" name="Pergunta Projeto"/>
          <p:cNvSpPr/>
          <p:nvPr/>
        </p:nvSpPr>
        <p:spPr>
          <a:xfrm>
            <a:off x="548640" y="1554480"/>
            <a:ext cx="34747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Pergunta 1 círculo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2D9FF"/>
          </a:solidFill>
          <a:ln/>
        </p:spPr>
      </p:sp>
      <p:sp>
        <p:nvSpPr>
          <p:cNvPr id="5" name="Pergunta 1 número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Projeto nome"/>
          <p:cNvSpPr txBox="1"/>
          <p:nvPr/>
        </p:nvSpPr>
        <p:spPr>
          <a:xfrm>
            <a:off x="137160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Projeto</a:t>
            </a:r>
            <a:endParaRPr lang="en-US" sz="1700" dirty="0"/>
          </a:p>
        </p:txBody>
      </p:sp>
      <p:sp>
        <p:nvSpPr>
          <p:cNvPr id="7" name="Projeto pergunta"/>
          <p:cNvSpPr txBox="1"/>
          <p:nvPr/>
        </p:nvSpPr>
        <p:spPr>
          <a:xfrm>
            <a:off x="777240" y="23317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Onde o painel vai ficar e qual o tamanho do espaço?</a:t>
            </a:r>
            <a:endParaRPr lang="en-US" sz="1300" dirty="0"/>
          </a:p>
        </p:txBody>
      </p:sp>
      <p:sp>
        <p:nvSpPr>
          <p:cNvPr id="8" name="Pergunta Propósito"/>
          <p:cNvSpPr/>
          <p:nvPr/>
        </p:nvSpPr>
        <p:spPr>
          <a:xfrm>
            <a:off x="4297680" y="1554480"/>
            <a:ext cx="34747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" name="Pergunta 2 círculo"/>
          <p:cNvSpPr/>
          <p:nvPr/>
        </p:nvSpPr>
        <p:spPr>
          <a:xfrm>
            <a:off x="4526280" y="1783080"/>
            <a:ext cx="457200" cy="457200"/>
          </a:xfrm>
          <a:prstGeom prst="ellipse">
            <a:avLst/>
          </a:prstGeom>
          <a:solidFill>
            <a:srgbClr val="3EB1FE"/>
          </a:solidFill>
          <a:ln/>
        </p:spPr>
      </p:sp>
      <p:sp>
        <p:nvSpPr>
          <p:cNvPr id="10" name="Pergunta 2 número"/>
          <p:cNvSpPr txBox="1"/>
          <p:nvPr/>
        </p:nvSpPr>
        <p:spPr>
          <a:xfrm>
            <a:off x="45262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Propósito nome"/>
          <p:cNvSpPr txBox="1"/>
          <p:nvPr/>
        </p:nvSpPr>
        <p:spPr>
          <a:xfrm>
            <a:off x="512064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Propósito</a:t>
            </a:r>
            <a:endParaRPr lang="en-US" sz="1700" dirty="0"/>
          </a:p>
        </p:txBody>
      </p:sp>
      <p:sp>
        <p:nvSpPr>
          <p:cNvPr id="12" name="Propósito pergunta"/>
          <p:cNvSpPr txBox="1"/>
          <p:nvPr/>
        </p:nvSpPr>
        <p:spPr>
          <a:xfrm>
            <a:off x="4526280" y="23317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O que você quer que mude: vender mais, chamar atenção, vender mídia?</a:t>
            </a:r>
            <a:endParaRPr lang="en-US" sz="1300" dirty="0"/>
          </a:p>
        </p:txBody>
      </p:sp>
      <p:sp>
        <p:nvSpPr>
          <p:cNvPr id="13" name="Pergunta Dor"/>
          <p:cNvSpPr/>
          <p:nvPr/>
        </p:nvSpPr>
        <p:spPr>
          <a:xfrm>
            <a:off x="8046720" y="1554480"/>
            <a:ext cx="34747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4" name="Pergunta 3 círculo"/>
          <p:cNvSpPr/>
          <p:nvPr/>
        </p:nvSpPr>
        <p:spPr>
          <a:xfrm>
            <a:off x="8275320" y="1783080"/>
            <a:ext cx="457200" cy="457200"/>
          </a:xfrm>
          <a:prstGeom prst="ellipse">
            <a:avLst/>
          </a:prstGeom>
          <a:solidFill>
            <a:srgbClr val="658DFF"/>
          </a:solidFill>
          <a:ln/>
        </p:spPr>
      </p:sp>
      <p:sp>
        <p:nvSpPr>
          <p:cNvPr id="15" name="Pergunta 3 número"/>
          <p:cNvSpPr txBox="1"/>
          <p:nvPr/>
        </p:nvSpPr>
        <p:spPr>
          <a:xfrm>
            <a:off x="82753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Dor nome"/>
          <p:cNvSpPr txBox="1"/>
          <p:nvPr/>
        </p:nvSpPr>
        <p:spPr>
          <a:xfrm>
            <a:off x="886968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Dor</a:t>
            </a:r>
            <a:endParaRPr lang="en-US" sz="1700" dirty="0"/>
          </a:p>
        </p:txBody>
      </p:sp>
      <p:sp>
        <p:nvSpPr>
          <p:cNvPr id="17" name="Dor pergunta"/>
          <p:cNvSpPr txBox="1"/>
          <p:nvPr/>
        </p:nvSpPr>
        <p:spPr>
          <a:xfrm>
            <a:off x="8275320" y="23317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Como você comunica isso hoje? O que não está funcionando?</a:t>
            </a:r>
            <a:endParaRPr lang="en-US" sz="1300" dirty="0"/>
          </a:p>
        </p:txBody>
      </p:sp>
      <p:sp>
        <p:nvSpPr>
          <p:cNvPr id="18" name="Pergunta Prazo"/>
          <p:cNvSpPr/>
          <p:nvPr/>
        </p:nvSpPr>
        <p:spPr>
          <a:xfrm>
            <a:off x="548640" y="3246120"/>
            <a:ext cx="34747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9" name="Pergunta 4 círculo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8A5CF6"/>
          </a:solidFill>
          <a:ln/>
        </p:spPr>
      </p:sp>
      <p:sp>
        <p:nvSpPr>
          <p:cNvPr id="20" name="Pergunta 4 número"/>
          <p:cNvSpPr txBox="1"/>
          <p:nvPr/>
        </p:nvSpPr>
        <p:spPr>
          <a:xfrm>
            <a:off x="7772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Prazo nome"/>
          <p:cNvSpPr txBox="1"/>
          <p:nvPr/>
        </p:nvSpPr>
        <p:spPr>
          <a:xfrm>
            <a:off x="137160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Prazo</a:t>
            </a:r>
            <a:endParaRPr lang="en-US" sz="1700" dirty="0"/>
          </a:p>
        </p:txBody>
      </p:sp>
      <p:sp>
        <p:nvSpPr>
          <p:cNvPr id="22" name="Prazo pergunta"/>
          <p:cNvSpPr txBox="1"/>
          <p:nvPr/>
        </p:nvSpPr>
        <p:spPr>
          <a:xfrm>
            <a:off x="777240" y="4023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Para quando precisa funcionando? Tem inauguração ou evento?</a:t>
            </a:r>
            <a:endParaRPr lang="en-US" sz="1300" dirty="0"/>
          </a:p>
        </p:txBody>
      </p:sp>
      <p:sp>
        <p:nvSpPr>
          <p:cNvPr id="23" name="Pergunta Decisor"/>
          <p:cNvSpPr/>
          <p:nvPr/>
        </p:nvSpPr>
        <p:spPr>
          <a:xfrm>
            <a:off x="4297680" y="3246120"/>
            <a:ext cx="34747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4" name="Pergunta 5 círculo"/>
          <p:cNvSpPr/>
          <p:nvPr/>
        </p:nvSpPr>
        <p:spPr>
          <a:xfrm>
            <a:off x="4526280" y="3474720"/>
            <a:ext cx="457200" cy="457200"/>
          </a:xfrm>
          <a:prstGeom prst="ellipse">
            <a:avLst/>
          </a:prstGeom>
          <a:solidFill>
            <a:srgbClr val="B43CF8"/>
          </a:solidFill>
          <a:ln/>
        </p:spPr>
      </p:sp>
      <p:sp>
        <p:nvSpPr>
          <p:cNvPr id="25" name="Pergunta 5 número"/>
          <p:cNvSpPr txBox="1"/>
          <p:nvPr/>
        </p:nvSpPr>
        <p:spPr>
          <a:xfrm>
            <a:off x="45262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Decisor nome"/>
          <p:cNvSpPr txBox="1"/>
          <p:nvPr/>
        </p:nvSpPr>
        <p:spPr>
          <a:xfrm>
            <a:off x="512064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Decisor</a:t>
            </a:r>
            <a:endParaRPr lang="en-US" sz="1700" dirty="0"/>
          </a:p>
        </p:txBody>
      </p:sp>
      <p:sp>
        <p:nvSpPr>
          <p:cNvPr id="27" name="Decisor pergunta"/>
          <p:cNvSpPr txBox="1"/>
          <p:nvPr/>
        </p:nvSpPr>
        <p:spPr>
          <a:xfrm>
            <a:off x="4526280" y="4023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Além de você, quem participa dessa decisão?</a:t>
            </a:r>
            <a:endParaRPr lang="en-US" sz="1300" dirty="0"/>
          </a:p>
        </p:txBody>
      </p:sp>
      <p:sp>
        <p:nvSpPr>
          <p:cNvPr id="28" name="Pergunta Modelo"/>
          <p:cNvSpPr/>
          <p:nvPr/>
        </p:nvSpPr>
        <p:spPr>
          <a:xfrm>
            <a:off x="8046720" y="3246120"/>
            <a:ext cx="34747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9" name="Pergunta 6 círculo"/>
          <p:cNvSpPr/>
          <p:nvPr/>
        </p:nvSpPr>
        <p:spPr>
          <a:xfrm>
            <a:off x="8275320" y="3474720"/>
            <a:ext cx="457200" cy="457200"/>
          </a:xfrm>
          <a:prstGeom prst="ellipse">
            <a:avLst/>
          </a:prstGeom>
          <a:solidFill>
            <a:srgbClr val="E011FF"/>
          </a:solidFill>
          <a:ln/>
        </p:spPr>
      </p:sp>
      <p:sp>
        <p:nvSpPr>
          <p:cNvPr id="30" name="Pergunta 6 número"/>
          <p:cNvSpPr txBox="1"/>
          <p:nvPr/>
        </p:nvSpPr>
        <p:spPr>
          <a:xfrm>
            <a:off x="82753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Modelo nome"/>
          <p:cNvSpPr txBox="1"/>
          <p:nvPr/>
        </p:nvSpPr>
        <p:spPr>
          <a:xfrm>
            <a:off x="886968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Modelo</a:t>
            </a:r>
            <a:endParaRPr lang="en-US" sz="1700" dirty="0"/>
          </a:p>
        </p:txBody>
      </p:sp>
      <p:sp>
        <p:nvSpPr>
          <p:cNvPr id="32" name="Modelo pergunta"/>
          <p:cNvSpPr txBox="1"/>
          <p:nvPr/>
        </p:nvSpPr>
        <p:spPr>
          <a:xfrm>
            <a:off x="8275320" y="40233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Pensa em comprar ou alugar? Tem uma faixa de investimento?</a:t>
            </a:r>
            <a:endParaRPr lang="en-US" sz="1300" dirty="0"/>
          </a:p>
        </p:txBody>
      </p:sp>
      <p:sp>
        <p:nvSpPr>
          <p:cNvPr id="33" name="Critério SQL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34" name="Critério texto"/>
          <p:cNvSpPr txBox="1"/>
          <p:nvPr/>
        </p:nvSpPr>
        <p:spPr>
          <a:xfrm>
            <a:off x="868680" y="5029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Vira SQL quando tem: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local definido + propósito claro + decisor identificado + prazo de até 6 meses ou evento. Investimento não é obrigatório: o executivo monta as opções.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Etapa 4: agendar e passar o bastão</a:t>
            </a:r>
            <a:endParaRPr lang="en-US" sz="3200" dirty="0"/>
          </a:p>
        </p:txBody>
      </p:sp>
      <p:sp>
        <p:nvSpPr>
          <p:cNvPr id="3" name="Na conversa títul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Na conversa</a:t>
            </a:r>
            <a:endParaRPr lang="en-US" sz="2000" dirty="0"/>
          </a:p>
        </p:txBody>
      </p:sp>
      <p:sp>
        <p:nvSpPr>
          <p:cNvPr id="4" name="Script agenda"/>
          <p:cNvSpPr txBox="1"/>
          <p:nvPr/>
        </p:nvSpPr>
        <p:spPr>
          <a:xfrm>
            <a:off x="548640" y="205740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"Faz sentido uma conversa de 30 minutos com o [executivo], nosso especialista em [nicho]. Ele mostra como ficaria no seu espaço. Terça às 10h ou quinta às 15h?"</a:t>
            </a:r>
            <a:endParaRPr lang="en-US" sz="1600" dirty="0"/>
          </a:p>
        </p:txBody>
      </p:sp>
      <p:sp>
        <p:nvSpPr>
          <p:cNvPr id="5" name="Depois título"/>
          <p:cNvSpPr txBox="1"/>
          <p:nvPr/>
        </p:nvSpPr>
        <p:spPr>
          <a:xfrm>
            <a:off x="548640" y="3657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Depois</a:t>
            </a:r>
            <a:endParaRPr lang="en-US" sz="2000" dirty="0"/>
          </a:p>
        </p:txBody>
      </p:sp>
      <p:sp>
        <p:nvSpPr>
          <p:cNvPr id="6" name="Depois lista"/>
          <p:cNvSpPr txBox="1"/>
          <p:nvPr/>
        </p:nvSpPr>
        <p:spPr>
          <a:xfrm>
            <a:off x="548640" y="41148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Confirmação no WhatsApp com data, hora e formato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Pedir uma foto do espaço para a simulação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Lembrete na véspera e 1 hora antes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Faltou? Remarcar no mesmo dia</a:t>
            </a:r>
            <a:endParaRPr lang="en-US" sz="1500" dirty="0"/>
          </a:p>
        </p:txBody>
      </p:sp>
      <p:sp>
        <p:nvSpPr>
          <p:cNvPr id="7" name="Nota de passagem"/>
          <p:cNvSpPr/>
          <p:nvPr/>
        </p:nvSpPr>
        <p:spPr>
          <a:xfrm>
            <a:off x="6400800" y="1554480"/>
            <a:ext cx="521208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</p:spPr>
      </p:sp>
      <p:sp>
        <p:nvSpPr>
          <p:cNvPr id="8" name="Nota título"/>
          <p:cNvSpPr txBox="1"/>
          <p:nvPr/>
        </p:nvSpPr>
        <p:spPr>
          <a:xfrm>
            <a:off x="672084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Nota de passagem no Salesforce</a:t>
            </a:r>
            <a:endParaRPr lang="en-US" sz="1800" dirty="0"/>
          </a:p>
        </p:txBody>
      </p:sp>
      <p:sp>
        <p:nvSpPr>
          <p:cNvPr id="9" name="Nota campos"/>
          <p:cNvSpPr txBox="1"/>
          <p:nvPr/>
        </p:nvSpPr>
        <p:spPr>
          <a:xfrm>
            <a:off x="6720840" y="237744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Empresa, nicho e contato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Decisor(es)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Projeto: local, medidas, indoor/outdoor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Propósito de compra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Dor nas palavras do cliente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Prazo ou evento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Compra ou locação e investimento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Objeções que apareceram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Origem, TAG e próximo passo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Etapa 5: cadência de 7 toques em 10 dias</a:t>
            </a:r>
            <a:endParaRPr lang="en-US" sz="3200" dirty="0"/>
          </a:p>
        </p:txBody>
      </p:sp>
      <p:sp>
        <p:nvSpPr>
          <p:cNvPr id="3" name="Linha do tempo"/>
          <p:cNvSpPr/>
          <p:nvPr/>
        </p:nvSpPr>
        <p:spPr>
          <a:xfrm>
            <a:off x="868680" y="2377440"/>
            <a:ext cx="10424160" cy="0"/>
          </a:xfrm>
          <a:prstGeom prst="line">
            <a:avLst/>
          </a:prstGeom>
          <a:noFill/>
          <a:ln w="50800">
            <a:solidFill>
              <a:srgbClr val="F2F3F7"/>
            </a:solidFill>
            <a:prstDash val="solid"/>
          </a:ln>
        </p:spPr>
      </p:sp>
      <p:sp>
        <p:nvSpPr>
          <p:cNvPr id="4" name="Toque D0 círculo"/>
          <p:cNvSpPr/>
          <p:nvPr/>
        </p:nvSpPr>
        <p:spPr>
          <a:xfrm>
            <a:off x="982980" y="2057400"/>
            <a:ext cx="640080" cy="640080"/>
          </a:xfrm>
          <a:prstGeom prst="ellipse">
            <a:avLst/>
          </a:prstGeom>
          <a:solidFill>
            <a:srgbClr val="12D9FF"/>
          </a:solidFill>
          <a:ln/>
        </p:spPr>
      </p:sp>
      <p:pic>
        <p:nvPicPr>
          <p:cNvPr id="5" name="Toque D0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17420"/>
            <a:ext cx="320040" cy="320040"/>
          </a:xfrm>
          <a:prstGeom prst="rect">
            <a:avLst/>
          </a:prstGeom>
        </p:spPr>
      </p:pic>
      <p:sp>
        <p:nvSpPr>
          <p:cNvPr id="6" name="Toque dia 1"/>
          <p:cNvSpPr txBox="1"/>
          <p:nvPr/>
        </p:nvSpPr>
        <p:spPr>
          <a:xfrm>
            <a:off x="548640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D0</a:t>
            </a:r>
            <a:endParaRPr lang="en-US" sz="2200" dirty="0"/>
          </a:p>
        </p:txBody>
      </p:sp>
      <p:sp>
        <p:nvSpPr>
          <p:cNvPr id="7" name="Toque canal 1"/>
          <p:cNvSpPr txBox="1"/>
          <p:nvPr/>
        </p:nvSpPr>
        <p:spPr>
          <a:xfrm>
            <a:off x="548640" y="3337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Ligação + WhatsApp</a:t>
            </a:r>
            <a:endParaRPr lang="en-US" sz="1400" dirty="0"/>
          </a:p>
        </p:txBody>
      </p:sp>
      <p:sp>
        <p:nvSpPr>
          <p:cNvPr id="8" name="Toque ação 1"/>
          <p:cNvSpPr txBox="1"/>
          <p:nvPr/>
        </p:nvSpPr>
        <p:spPr>
          <a:xfrm>
            <a:off x="548640" y="39319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Primeiro contato</a:t>
            </a:r>
            <a:endParaRPr lang="en-US" sz="1300" dirty="0"/>
          </a:p>
        </p:txBody>
      </p:sp>
      <p:sp>
        <p:nvSpPr>
          <p:cNvPr id="9" name="Toque D1 círculo"/>
          <p:cNvSpPr/>
          <p:nvPr/>
        </p:nvSpPr>
        <p:spPr>
          <a:xfrm>
            <a:off x="2583180" y="2057400"/>
            <a:ext cx="640080" cy="640080"/>
          </a:xfrm>
          <a:prstGeom prst="ellipse">
            <a:avLst/>
          </a:prstGeom>
          <a:solidFill>
            <a:srgbClr val="3EB1FE"/>
          </a:solidFill>
          <a:ln/>
        </p:spPr>
      </p:sp>
      <p:pic>
        <p:nvPicPr>
          <p:cNvPr id="10" name="Toque D1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217420"/>
            <a:ext cx="320040" cy="320040"/>
          </a:xfrm>
          <a:prstGeom prst="rect">
            <a:avLst/>
          </a:prstGeom>
        </p:spPr>
      </p:pic>
      <p:sp>
        <p:nvSpPr>
          <p:cNvPr id="11" name="Toque dia 2"/>
          <p:cNvSpPr txBox="1"/>
          <p:nvPr/>
        </p:nvSpPr>
        <p:spPr>
          <a:xfrm>
            <a:off x="2148840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D1</a:t>
            </a:r>
            <a:endParaRPr lang="en-US" sz="2200" dirty="0"/>
          </a:p>
        </p:txBody>
      </p:sp>
      <p:sp>
        <p:nvSpPr>
          <p:cNvPr id="12" name="Toque canal 2"/>
          <p:cNvSpPr txBox="1"/>
          <p:nvPr/>
        </p:nvSpPr>
        <p:spPr>
          <a:xfrm>
            <a:off x="2148840" y="3337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Ligação</a:t>
            </a:r>
            <a:endParaRPr lang="en-US" sz="1400" dirty="0"/>
          </a:p>
        </p:txBody>
      </p:sp>
      <p:sp>
        <p:nvSpPr>
          <p:cNvPr id="13" name="Toque ação 2"/>
          <p:cNvSpPr txBox="1"/>
          <p:nvPr/>
        </p:nvSpPr>
        <p:spPr>
          <a:xfrm>
            <a:off x="2148840" y="39319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Outro horário</a:t>
            </a:r>
            <a:endParaRPr lang="en-US" sz="1300" dirty="0"/>
          </a:p>
        </p:txBody>
      </p:sp>
      <p:sp>
        <p:nvSpPr>
          <p:cNvPr id="14" name="Toque D2 círculo"/>
          <p:cNvSpPr/>
          <p:nvPr/>
        </p:nvSpPr>
        <p:spPr>
          <a:xfrm>
            <a:off x="4183380" y="2057400"/>
            <a:ext cx="640080" cy="640080"/>
          </a:xfrm>
          <a:prstGeom prst="ellipse">
            <a:avLst/>
          </a:prstGeom>
          <a:solidFill>
            <a:srgbClr val="658DFF"/>
          </a:solidFill>
          <a:ln/>
        </p:spPr>
      </p:sp>
      <p:pic>
        <p:nvPicPr>
          <p:cNvPr id="15" name="Toque D2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217420"/>
            <a:ext cx="320040" cy="320040"/>
          </a:xfrm>
          <a:prstGeom prst="rect">
            <a:avLst/>
          </a:prstGeom>
        </p:spPr>
      </p:pic>
      <p:sp>
        <p:nvSpPr>
          <p:cNvPr id="16" name="Toque dia 3"/>
          <p:cNvSpPr txBox="1"/>
          <p:nvPr/>
        </p:nvSpPr>
        <p:spPr>
          <a:xfrm>
            <a:off x="3749040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D2</a:t>
            </a:r>
            <a:endParaRPr lang="en-US" sz="2200" dirty="0"/>
          </a:p>
        </p:txBody>
      </p:sp>
      <p:sp>
        <p:nvSpPr>
          <p:cNvPr id="17" name="Toque canal 3"/>
          <p:cNvSpPr txBox="1"/>
          <p:nvPr/>
        </p:nvSpPr>
        <p:spPr>
          <a:xfrm>
            <a:off x="3749040" y="3337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WhatsApp</a:t>
            </a:r>
            <a:endParaRPr lang="en-US" sz="1400" dirty="0"/>
          </a:p>
        </p:txBody>
      </p:sp>
      <p:sp>
        <p:nvSpPr>
          <p:cNvPr id="18" name="Toque ação 3"/>
          <p:cNvSpPr txBox="1"/>
          <p:nvPr/>
        </p:nvSpPr>
        <p:spPr>
          <a:xfrm>
            <a:off x="3749040" y="39319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Ideia do nicho</a:t>
            </a:r>
            <a:endParaRPr lang="en-US" sz="1300" dirty="0"/>
          </a:p>
        </p:txBody>
      </p:sp>
      <p:sp>
        <p:nvSpPr>
          <p:cNvPr id="19" name="Toque D4 círculo"/>
          <p:cNvSpPr/>
          <p:nvPr/>
        </p:nvSpPr>
        <p:spPr>
          <a:xfrm>
            <a:off x="5783580" y="2057400"/>
            <a:ext cx="640080" cy="640080"/>
          </a:xfrm>
          <a:prstGeom prst="ellipse">
            <a:avLst/>
          </a:prstGeom>
          <a:solidFill>
            <a:srgbClr val="8A5CF6"/>
          </a:solidFill>
          <a:ln/>
        </p:spPr>
      </p:sp>
      <p:pic>
        <p:nvPicPr>
          <p:cNvPr id="20" name="Toque D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17420"/>
            <a:ext cx="320040" cy="320040"/>
          </a:xfrm>
          <a:prstGeom prst="rect">
            <a:avLst/>
          </a:prstGeom>
        </p:spPr>
      </p:pic>
      <p:sp>
        <p:nvSpPr>
          <p:cNvPr id="21" name="Toque dia 4"/>
          <p:cNvSpPr txBox="1"/>
          <p:nvPr/>
        </p:nvSpPr>
        <p:spPr>
          <a:xfrm>
            <a:off x="5349240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D4</a:t>
            </a:r>
            <a:endParaRPr lang="en-US" sz="2200" dirty="0"/>
          </a:p>
        </p:txBody>
      </p:sp>
      <p:sp>
        <p:nvSpPr>
          <p:cNvPr id="22" name="Toque canal 4"/>
          <p:cNvSpPr txBox="1"/>
          <p:nvPr/>
        </p:nvSpPr>
        <p:spPr>
          <a:xfrm>
            <a:off x="5349240" y="3337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E-mail</a:t>
            </a:r>
            <a:endParaRPr lang="en-US" sz="1400" dirty="0"/>
          </a:p>
        </p:txBody>
      </p:sp>
      <p:sp>
        <p:nvSpPr>
          <p:cNvPr id="23" name="Toque ação 4"/>
          <p:cNvSpPr txBox="1"/>
          <p:nvPr/>
        </p:nvSpPr>
        <p:spPr>
          <a:xfrm>
            <a:off x="5349240" y="39319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Case ou antes/depois</a:t>
            </a:r>
            <a:endParaRPr lang="en-US" sz="1300" dirty="0"/>
          </a:p>
        </p:txBody>
      </p:sp>
      <p:sp>
        <p:nvSpPr>
          <p:cNvPr id="24" name="Toque D6 círculo"/>
          <p:cNvSpPr/>
          <p:nvPr/>
        </p:nvSpPr>
        <p:spPr>
          <a:xfrm>
            <a:off x="7383780" y="2057400"/>
            <a:ext cx="640080" cy="640080"/>
          </a:xfrm>
          <a:prstGeom prst="ellipse">
            <a:avLst/>
          </a:prstGeom>
          <a:solidFill>
            <a:srgbClr val="B43CF8"/>
          </a:solidFill>
          <a:ln/>
        </p:spPr>
      </p:sp>
      <p:pic>
        <p:nvPicPr>
          <p:cNvPr id="25" name="Toque D6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2217420"/>
            <a:ext cx="320040" cy="320040"/>
          </a:xfrm>
          <a:prstGeom prst="rect">
            <a:avLst/>
          </a:prstGeom>
        </p:spPr>
      </p:pic>
      <p:sp>
        <p:nvSpPr>
          <p:cNvPr id="26" name="Toque dia 5"/>
          <p:cNvSpPr txBox="1"/>
          <p:nvPr/>
        </p:nvSpPr>
        <p:spPr>
          <a:xfrm>
            <a:off x="6949440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D6</a:t>
            </a:r>
            <a:endParaRPr lang="en-US" sz="2200" dirty="0"/>
          </a:p>
        </p:txBody>
      </p:sp>
      <p:sp>
        <p:nvSpPr>
          <p:cNvPr id="27" name="Toque canal 5"/>
          <p:cNvSpPr txBox="1"/>
          <p:nvPr/>
        </p:nvSpPr>
        <p:spPr>
          <a:xfrm>
            <a:off x="6949440" y="3337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Ligação</a:t>
            </a:r>
            <a:endParaRPr lang="en-US" sz="1400" dirty="0"/>
          </a:p>
        </p:txBody>
      </p:sp>
      <p:sp>
        <p:nvSpPr>
          <p:cNvPr id="28" name="Toque ação 5"/>
          <p:cNvSpPr txBox="1"/>
          <p:nvPr/>
        </p:nvSpPr>
        <p:spPr>
          <a:xfrm>
            <a:off x="6949440" y="39319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Citar o e-mail</a:t>
            </a:r>
            <a:endParaRPr lang="en-US" sz="1300" dirty="0"/>
          </a:p>
        </p:txBody>
      </p:sp>
      <p:sp>
        <p:nvSpPr>
          <p:cNvPr id="29" name="Toque D8 círculo"/>
          <p:cNvSpPr/>
          <p:nvPr/>
        </p:nvSpPr>
        <p:spPr>
          <a:xfrm>
            <a:off x="8983980" y="2057400"/>
            <a:ext cx="640080" cy="640080"/>
          </a:xfrm>
          <a:prstGeom prst="ellipse">
            <a:avLst/>
          </a:prstGeom>
          <a:solidFill>
            <a:srgbClr val="E011FF"/>
          </a:solidFill>
          <a:ln/>
        </p:spPr>
      </p:sp>
      <p:pic>
        <p:nvPicPr>
          <p:cNvPr id="30" name="Toque D8 í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2217420"/>
            <a:ext cx="320040" cy="320040"/>
          </a:xfrm>
          <a:prstGeom prst="rect">
            <a:avLst/>
          </a:prstGeom>
        </p:spPr>
      </p:pic>
      <p:sp>
        <p:nvSpPr>
          <p:cNvPr id="31" name="Toque dia 6"/>
          <p:cNvSpPr txBox="1"/>
          <p:nvPr/>
        </p:nvSpPr>
        <p:spPr>
          <a:xfrm>
            <a:off x="8549640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D8</a:t>
            </a:r>
            <a:endParaRPr lang="en-US" sz="2200" dirty="0"/>
          </a:p>
        </p:txBody>
      </p:sp>
      <p:sp>
        <p:nvSpPr>
          <p:cNvPr id="32" name="Toque canal 6"/>
          <p:cNvSpPr txBox="1"/>
          <p:nvPr/>
        </p:nvSpPr>
        <p:spPr>
          <a:xfrm>
            <a:off x="8549640" y="3337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Áudio ou vídeo</a:t>
            </a:r>
            <a:endParaRPr lang="en-US" sz="1400" dirty="0"/>
          </a:p>
        </p:txBody>
      </p:sp>
      <p:sp>
        <p:nvSpPr>
          <p:cNvPr id="33" name="Toque ação 6"/>
          <p:cNvSpPr txBox="1"/>
          <p:nvPr/>
        </p:nvSpPr>
        <p:spPr>
          <a:xfrm>
            <a:off x="8549640" y="39319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Ideia para o espaço</a:t>
            </a:r>
            <a:endParaRPr lang="en-US" sz="1300" dirty="0"/>
          </a:p>
        </p:txBody>
      </p:sp>
      <p:sp>
        <p:nvSpPr>
          <p:cNvPr id="34" name="Toque D10 círculo"/>
          <p:cNvSpPr/>
          <p:nvPr/>
        </p:nvSpPr>
        <p:spPr>
          <a:xfrm>
            <a:off x="10584180" y="2057400"/>
            <a:ext cx="640080" cy="640080"/>
          </a:xfrm>
          <a:prstGeom prst="ellipse">
            <a:avLst/>
          </a:prstGeom>
          <a:solidFill>
            <a:srgbClr val="5F5F5F"/>
          </a:solidFill>
          <a:ln/>
        </p:spPr>
      </p:sp>
      <p:pic>
        <p:nvPicPr>
          <p:cNvPr id="35" name="Toque D10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4200" y="2217420"/>
            <a:ext cx="320040" cy="320040"/>
          </a:xfrm>
          <a:prstGeom prst="rect">
            <a:avLst/>
          </a:prstGeom>
        </p:spPr>
      </p:pic>
      <p:sp>
        <p:nvSpPr>
          <p:cNvPr id="36" name="Toque dia 7"/>
          <p:cNvSpPr txBox="1"/>
          <p:nvPr/>
        </p:nvSpPr>
        <p:spPr>
          <a:xfrm>
            <a:off x="10149840" y="2834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D10</a:t>
            </a:r>
            <a:endParaRPr lang="en-US" sz="2200" dirty="0"/>
          </a:p>
        </p:txBody>
      </p:sp>
      <p:sp>
        <p:nvSpPr>
          <p:cNvPr id="37" name="Toque canal 7"/>
          <p:cNvSpPr txBox="1"/>
          <p:nvPr/>
        </p:nvSpPr>
        <p:spPr>
          <a:xfrm>
            <a:off x="10149840" y="33375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Encerramento</a:t>
            </a:r>
            <a:endParaRPr lang="en-US" sz="1400" dirty="0"/>
          </a:p>
        </p:txBody>
      </p:sp>
      <p:sp>
        <p:nvSpPr>
          <p:cNvPr id="38" name="Toque ação 7"/>
          <p:cNvSpPr txBox="1"/>
          <p:nvPr/>
        </p:nvSpPr>
        <p:spPr>
          <a:xfrm>
            <a:off x="10149840" y="39319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"Encerro ou volto em [mês]?"</a:t>
            </a:r>
            <a:endParaRPr lang="en-US" sz="1300" dirty="0"/>
          </a:p>
        </p:txBody>
      </p:sp>
      <p:sp>
        <p:nvSpPr>
          <p:cNvPr id="39" name="Faixa cadência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40" name="Regra cadência"/>
          <p:cNvSpPr txBox="1"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Cada toque traz algo novo.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Nunca "só passando para saber". Respondeu? Volta para a qualificação. Sem resposta no D10? Nutrição com motivo.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Objeções na etapa de SDR</a:t>
            </a:r>
            <a:endParaRPr lang="en-US" sz="3200" dirty="0"/>
          </a:p>
        </p:txBody>
      </p:sp>
      <p:sp>
        <p:nvSpPr>
          <p:cNvPr id="3" name="Objeção 1"/>
          <p:cNvSpPr/>
          <p:nvPr/>
        </p:nvSpPr>
        <p:spPr>
          <a:xfrm>
            <a:off x="548640" y="150876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" name="Objeção frase 1"/>
          <p:cNvSpPr txBox="1"/>
          <p:nvPr/>
        </p:nvSpPr>
        <p:spPr>
          <a:xfrm>
            <a:off x="82296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"Só quero o preço."</a:t>
            </a:r>
            <a:endParaRPr lang="en-US" sz="1600" dirty="0"/>
          </a:p>
        </p:txBody>
      </p:sp>
      <p:sp>
        <p:nvSpPr>
          <p:cNvPr id="5" name="Objeção resposta 1"/>
          <p:cNvSpPr txBox="1"/>
          <p:nvPr/>
        </p:nvSpPr>
        <p:spPr>
          <a:xfrm>
            <a:off x="822960" y="207568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valor muda com tamanho, local e modelo. Com 3 perguntas te passo ao especialista para uma proposta certa.</a:t>
            </a:r>
            <a:endParaRPr lang="en-US" sz="1400" dirty="0"/>
          </a:p>
        </p:txBody>
      </p:sp>
      <p:sp>
        <p:nvSpPr>
          <p:cNvPr id="6" name="Objeção 2"/>
          <p:cNvSpPr/>
          <p:nvPr/>
        </p:nvSpPr>
        <p:spPr>
          <a:xfrm>
            <a:off x="6172200" y="150876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7" name="Objeção frase 2"/>
          <p:cNvSpPr txBox="1"/>
          <p:nvPr/>
        </p:nvSpPr>
        <p:spPr>
          <a:xfrm>
            <a:off x="644652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"Me manda por WhatsApp."</a:t>
            </a:r>
            <a:endParaRPr lang="en-US" sz="1600" dirty="0"/>
          </a:p>
        </p:txBody>
      </p:sp>
      <p:sp>
        <p:nvSpPr>
          <p:cNvPr id="8" name="Objeção resposta 2"/>
          <p:cNvSpPr txBox="1"/>
          <p:nvPr/>
        </p:nvSpPr>
        <p:spPr>
          <a:xfrm>
            <a:off x="6446520" y="207568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Mando sim. Para não ser genérico: é para qual espaço e qual o tamanho?</a:t>
            </a:r>
            <a:endParaRPr lang="en-US" sz="1400" dirty="0"/>
          </a:p>
        </p:txBody>
      </p:sp>
      <p:sp>
        <p:nvSpPr>
          <p:cNvPr id="9" name="Objeção 3"/>
          <p:cNvSpPr/>
          <p:nvPr/>
        </p:nvSpPr>
        <p:spPr>
          <a:xfrm>
            <a:off x="548640" y="297180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0" name="Objeção frase 3"/>
          <p:cNvSpPr txBox="1"/>
          <p:nvPr/>
        </p:nvSpPr>
        <p:spPr>
          <a:xfrm>
            <a:off x="822960" y="3108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"Estou só pesquisando."</a:t>
            </a:r>
            <a:endParaRPr lang="en-US" sz="1600" dirty="0"/>
          </a:p>
        </p:txBody>
      </p:sp>
      <p:sp>
        <p:nvSpPr>
          <p:cNvPr id="11" name="Objeção resposta 3"/>
          <p:cNvSpPr txBox="1"/>
          <p:nvPr/>
        </p:nvSpPr>
        <p:spPr>
          <a:xfrm>
            <a:off x="822960" y="353872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Ótimo momento para conversar. O que te fez começar a pesquisar agora?</a:t>
            </a:r>
            <a:endParaRPr lang="en-US" sz="1400" dirty="0"/>
          </a:p>
        </p:txBody>
      </p:sp>
      <p:sp>
        <p:nvSpPr>
          <p:cNvPr id="12" name="Objeção 4"/>
          <p:cNvSpPr/>
          <p:nvPr/>
        </p:nvSpPr>
        <p:spPr>
          <a:xfrm>
            <a:off x="6172200" y="297180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3" name="Objeção frase 4"/>
          <p:cNvSpPr txBox="1"/>
          <p:nvPr/>
        </p:nvSpPr>
        <p:spPr>
          <a:xfrm>
            <a:off x="6446520" y="3108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"Não sou eu que decido."</a:t>
            </a:r>
            <a:endParaRPr lang="en-US" sz="1600" dirty="0"/>
          </a:p>
        </p:txBody>
      </p:sp>
      <p:sp>
        <p:nvSpPr>
          <p:cNvPr id="14" name="Objeção resposta 4"/>
          <p:cNvSpPr txBox="1"/>
          <p:nvPr/>
        </p:nvSpPr>
        <p:spPr>
          <a:xfrm>
            <a:off x="6446520" y="353872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 problema. Quem decide? Marcamos uma conversa com vocês dois.</a:t>
            </a:r>
            <a:endParaRPr lang="en-US" sz="1400" dirty="0"/>
          </a:p>
        </p:txBody>
      </p:sp>
      <p:sp>
        <p:nvSpPr>
          <p:cNvPr id="15" name="Objeção 5"/>
          <p:cNvSpPr/>
          <p:nvPr/>
        </p:nvSpPr>
        <p:spPr>
          <a:xfrm>
            <a:off x="548640" y="443484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6" name="Objeção frase 5"/>
          <p:cNvSpPr txBox="1"/>
          <p:nvPr/>
        </p:nvSpPr>
        <p:spPr>
          <a:xfrm>
            <a:off x="822960" y="4572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"Já tenho fornecedor."</a:t>
            </a:r>
            <a:endParaRPr lang="en-US" sz="1600" dirty="0"/>
          </a:p>
        </p:txBody>
      </p:sp>
      <p:sp>
        <p:nvSpPr>
          <p:cNvPr id="17" name="Objeção resposta 5"/>
          <p:cNvSpPr txBox="1"/>
          <p:nvPr/>
        </p:nvSpPr>
        <p:spPr>
          <a:xfrm>
            <a:off x="822960" y="500176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 bom. O que você melhoraria no atendimento de hoje?</a:t>
            </a:r>
            <a:endParaRPr lang="en-US" sz="1400" dirty="0"/>
          </a:p>
        </p:txBody>
      </p:sp>
      <p:sp>
        <p:nvSpPr>
          <p:cNvPr id="18" name="Objeção 6"/>
          <p:cNvSpPr/>
          <p:nvPr/>
        </p:nvSpPr>
        <p:spPr>
          <a:xfrm>
            <a:off x="6172200" y="443484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9" name="Objeção frase 6"/>
          <p:cNvSpPr txBox="1"/>
          <p:nvPr/>
        </p:nvSpPr>
        <p:spPr>
          <a:xfrm>
            <a:off x="6446520" y="4572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"Agora não é o momento."</a:t>
            </a:r>
            <a:endParaRPr lang="en-US" sz="1600" dirty="0"/>
          </a:p>
        </p:txBody>
      </p:sp>
      <p:sp>
        <p:nvSpPr>
          <p:cNvPr id="20" name="Objeção resposta 6"/>
          <p:cNvSpPr txBox="1"/>
          <p:nvPr/>
        </p:nvSpPr>
        <p:spPr>
          <a:xfrm>
            <a:off x="6446520" y="500176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Quando seria? Anoto aqui e te chamo na data.</a:t>
            </a:r>
            <a:endParaRPr lang="en-US" sz="1400" dirty="0"/>
          </a:p>
        </p:txBody>
      </p:sp>
      <p:sp>
        <p:nvSpPr>
          <p:cNvPr id="21" name="Método objeções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Acolha, pergunte o motivo e leve ao próximo passo. Preço, crédito e contrato ficam com o executivo.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Etapas 6 e 7: ninguém fica sem status</a:t>
            </a:r>
            <a:endParaRPr lang="en-US" sz="3200" dirty="0"/>
          </a:p>
        </p:txBody>
      </p:sp>
      <p:sp>
        <p:nvSpPr>
          <p:cNvPr id="3" name="Saídas títul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Saídas da fila</a:t>
            </a:r>
            <a:endParaRPr lang="en-US" sz="2000" dirty="0"/>
          </a:p>
        </p:txBody>
      </p:sp>
      <p:sp>
        <p:nvSpPr>
          <p:cNvPr id="4" name="Saída 1"/>
          <p:cNvSpPr/>
          <p:nvPr/>
        </p:nvSpPr>
        <p:spPr>
          <a:xfrm>
            <a:off x="548640" y="2103120"/>
            <a:ext cx="53949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5" name="Saída situação 1"/>
          <p:cNvSpPr txBox="1"/>
          <p:nvPr/>
        </p:nvSpPr>
        <p:spPr>
          <a:xfrm>
            <a:off x="777240" y="2176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Bom perfil, sem prazo</a:t>
            </a:r>
            <a:endParaRPr lang="en-US" sz="1500" dirty="0"/>
          </a:p>
        </p:txBody>
      </p:sp>
      <p:sp>
        <p:nvSpPr>
          <p:cNvPr id="6" name="Saída destino 1"/>
          <p:cNvSpPr txBox="1"/>
          <p:nvPr/>
        </p:nvSpPr>
        <p:spPr>
          <a:xfrm>
            <a:off x="777240" y="253288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Nutrição com retorno em 30, 60 ou 90 dias</a:t>
            </a:r>
            <a:endParaRPr lang="en-US" sz="1300" dirty="0"/>
          </a:p>
        </p:txBody>
      </p:sp>
      <p:sp>
        <p:nvSpPr>
          <p:cNvPr id="7" name="Saída 2"/>
          <p:cNvSpPr/>
          <p:nvPr/>
        </p:nvSpPr>
        <p:spPr>
          <a:xfrm>
            <a:off x="548640" y="3063240"/>
            <a:ext cx="53949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8" name="Saída situação 2"/>
          <p:cNvSpPr txBox="1"/>
          <p:nvPr/>
        </p:nvSpPr>
        <p:spPr>
          <a:xfrm>
            <a:off x="777240" y="3136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 resposta na cadência</a:t>
            </a:r>
            <a:endParaRPr lang="en-US" sz="1500" dirty="0"/>
          </a:p>
        </p:txBody>
      </p:sp>
      <p:sp>
        <p:nvSpPr>
          <p:cNvPr id="9" name="Saída destino 2"/>
          <p:cNvSpPr txBox="1"/>
          <p:nvPr/>
        </p:nvSpPr>
        <p:spPr>
          <a:xfrm>
            <a:off x="777240" y="34930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Nutrição por e-mail (automação)</a:t>
            </a:r>
            <a:endParaRPr lang="en-US" sz="1300" dirty="0"/>
          </a:p>
        </p:txBody>
      </p:sp>
      <p:sp>
        <p:nvSpPr>
          <p:cNvPr id="10" name="Saída 3"/>
          <p:cNvSpPr/>
          <p:nvPr/>
        </p:nvSpPr>
        <p:spPr>
          <a:xfrm>
            <a:off x="548640" y="4023360"/>
            <a:ext cx="53949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1" name="Saída situação 3"/>
          <p:cNvSpPr txBox="1"/>
          <p:nvPr/>
        </p:nvSpPr>
        <p:spPr>
          <a:xfrm>
            <a:off x="777240" y="40965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Fora do perfil</a:t>
            </a:r>
            <a:endParaRPr lang="en-US" sz="1500" dirty="0"/>
          </a:p>
        </p:txBody>
      </p:sp>
      <p:sp>
        <p:nvSpPr>
          <p:cNvPr id="12" name="Saída destino 3"/>
          <p:cNvSpPr txBox="1"/>
          <p:nvPr/>
        </p:nvSpPr>
        <p:spPr>
          <a:xfrm>
            <a:off x="777240" y="445312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Desqualificado, com motivo</a:t>
            </a:r>
            <a:endParaRPr lang="en-US" sz="1300" dirty="0"/>
          </a:p>
        </p:txBody>
      </p:sp>
      <p:sp>
        <p:nvSpPr>
          <p:cNvPr id="13" name="Saída 4"/>
          <p:cNvSpPr/>
          <p:nvPr/>
        </p:nvSpPr>
        <p:spPr>
          <a:xfrm>
            <a:off x="548640" y="4983480"/>
            <a:ext cx="539496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4" name="Saída situação 4"/>
          <p:cNvSpPr txBox="1"/>
          <p:nvPr/>
        </p:nvSpPr>
        <p:spPr>
          <a:xfrm>
            <a:off x="777240" y="5056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Contato errado ou duplicado</a:t>
            </a:r>
            <a:endParaRPr lang="en-US" sz="1500" dirty="0"/>
          </a:p>
        </p:txBody>
      </p:sp>
      <p:sp>
        <p:nvSpPr>
          <p:cNvPr id="15" name="Saída destino 4"/>
          <p:cNvSpPr txBox="1"/>
          <p:nvPr/>
        </p:nvSpPr>
        <p:spPr>
          <a:xfrm>
            <a:off x="777240" y="541324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Corrigir ou mesclar</a:t>
            </a:r>
            <a:endParaRPr lang="en-US" sz="1300" dirty="0"/>
          </a:p>
        </p:txBody>
      </p:sp>
      <p:sp>
        <p:nvSpPr>
          <p:cNvPr id="16" name="Salesforce"/>
          <p:cNvSpPr/>
          <p:nvPr/>
        </p:nvSpPr>
        <p:spPr>
          <a:xfrm>
            <a:off x="6400800" y="1554480"/>
            <a:ext cx="5212080" cy="452628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</p:spPr>
      </p:sp>
      <p:sp>
        <p:nvSpPr>
          <p:cNvPr id="17" name="Salesforce círculo"/>
          <p:cNvSpPr/>
          <p:nvPr/>
        </p:nvSpPr>
        <p:spPr>
          <a:xfrm>
            <a:off x="6720840" y="1783080"/>
            <a:ext cx="640080" cy="640080"/>
          </a:xfrm>
          <a:prstGeom prst="ellipse">
            <a:avLst/>
          </a:prstGeom>
          <a:solidFill>
            <a:srgbClr val="658DFF"/>
          </a:solidFill>
          <a:ln/>
        </p:spPr>
      </p:sp>
      <p:pic>
        <p:nvPicPr>
          <p:cNvPr id="18" name="Salesforc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0860" y="1943100"/>
            <a:ext cx="320040" cy="320040"/>
          </a:xfrm>
          <a:prstGeom prst="rect">
            <a:avLst/>
          </a:prstGeom>
        </p:spPr>
      </p:pic>
      <p:sp>
        <p:nvSpPr>
          <p:cNvPr id="19" name="Salesforce título"/>
          <p:cNvSpPr txBox="1"/>
          <p:nvPr/>
        </p:nvSpPr>
        <p:spPr>
          <a:xfrm>
            <a:off x="749808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Salesforce, na hora</a:t>
            </a:r>
            <a:endParaRPr lang="en-US" sz="1800" dirty="0"/>
          </a:p>
        </p:txBody>
      </p:sp>
      <p:sp>
        <p:nvSpPr>
          <p:cNvPr id="20" name="Salesforce regras"/>
          <p:cNvSpPr txBox="1"/>
          <p:nvPr/>
        </p:nvSpPr>
        <p:spPr>
          <a:xfrm>
            <a:off x="6720840" y="260604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Status: Novo → Em contato → MQL → SQL → Executivo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Cada ligação, WhatsApp e e-mail como atividade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TAG obrigatória (Prospecção Ativa ou evento)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Nicho, origem, temperatura, propósito, prazo, decisor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Motivo de perda sempre preenchido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Todo lead aberto com uma próxima tarefa e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Indicadores e metas</a:t>
            </a:r>
            <a:endParaRPr lang="en-US" sz="3200" dirty="0"/>
          </a:p>
        </p:txBody>
      </p:sp>
      <p:sp>
        <p:nvSpPr>
          <p:cNvPr id="3" name="Indicador 1"/>
          <p:cNvSpPr/>
          <p:nvPr/>
        </p:nvSpPr>
        <p:spPr>
          <a:xfrm>
            <a:off x="548640" y="1554480"/>
            <a:ext cx="34747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4" name="Indicador valor 1"/>
          <p:cNvSpPr txBox="1"/>
          <p:nvPr/>
        </p:nvSpPr>
        <p:spPr>
          <a:xfrm>
            <a:off x="822960" y="1737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 min</a:t>
            </a:r>
            <a:endParaRPr lang="en-US" sz="3600" dirty="0"/>
          </a:p>
        </p:txBody>
      </p:sp>
      <p:sp>
        <p:nvSpPr>
          <p:cNvPr id="5" name="Indicador nome 1"/>
          <p:cNvSpPr txBox="1"/>
          <p:nvPr/>
        </p:nvSpPr>
        <p:spPr>
          <a:xfrm>
            <a:off x="822960" y="2514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Tempo até o 1º contato dos leads quentes</a:t>
            </a:r>
            <a:endParaRPr lang="en-US" sz="1400" dirty="0"/>
          </a:p>
        </p:txBody>
      </p:sp>
      <p:sp>
        <p:nvSpPr>
          <p:cNvPr id="6" name="Indicador fonte 1"/>
          <p:cNvSpPr txBox="1"/>
          <p:nvPr/>
        </p:nvSpPr>
        <p:spPr>
          <a:xfrm>
            <a:off x="82296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</a:rPr>
              <a:t>sugestão</a:t>
            </a:r>
            <a:endParaRPr lang="en-US" sz="1100" dirty="0"/>
          </a:p>
        </p:txBody>
      </p:sp>
      <p:sp>
        <p:nvSpPr>
          <p:cNvPr id="7" name="Indicador 2"/>
          <p:cNvSpPr/>
          <p:nvPr/>
        </p:nvSpPr>
        <p:spPr>
          <a:xfrm>
            <a:off x="4297680" y="1554480"/>
            <a:ext cx="3474720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/>
        </p:spPr>
      </p:sp>
      <p:sp>
        <p:nvSpPr>
          <p:cNvPr id="8" name="Indicador valor 2"/>
          <p:cNvSpPr txBox="1"/>
          <p:nvPr/>
        </p:nvSpPr>
        <p:spPr>
          <a:xfrm>
            <a:off x="4572000" y="1737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15%</a:t>
            </a:r>
            <a:endParaRPr lang="en-US" sz="3600" dirty="0"/>
          </a:p>
        </p:txBody>
      </p:sp>
      <p:sp>
        <p:nvSpPr>
          <p:cNvPr id="9" name="Indicador nome 2"/>
          <p:cNvSpPr txBox="1"/>
          <p:nvPr/>
        </p:nvSpPr>
        <p:spPr>
          <a:xfrm>
            <a:off x="4572000" y="2514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Taxa de resposta no WhatsApp</a:t>
            </a:r>
            <a:endParaRPr lang="en-US" sz="1400" dirty="0"/>
          </a:p>
        </p:txBody>
      </p:sp>
      <p:sp>
        <p:nvSpPr>
          <p:cNvPr id="10" name="Indicador fonte 2"/>
          <p:cNvSpPr txBox="1"/>
          <p:nvPr/>
        </p:nvSpPr>
        <p:spPr>
          <a:xfrm>
            <a:off x="457200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Plano Limbo</a:t>
            </a:r>
            <a:endParaRPr lang="en-US" sz="1100" dirty="0"/>
          </a:p>
        </p:txBody>
      </p:sp>
      <p:sp>
        <p:nvSpPr>
          <p:cNvPr id="11" name="Indicador 3"/>
          <p:cNvSpPr/>
          <p:nvPr/>
        </p:nvSpPr>
        <p:spPr>
          <a:xfrm>
            <a:off x="8046720" y="1554480"/>
            <a:ext cx="34747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2" name="Indicador valor 3"/>
          <p:cNvSpPr txBox="1"/>
          <p:nvPr/>
        </p:nvSpPr>
        <p:spPr>
          <a:xfrm>
            <a:off x="8321040" y="1737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10%</a:t>
            </a:r>
            <a:endParaRPr lang="en-US" sz="3600" dirty="0"/>
          </a:p>
        </p:txBody>
      </p:sp>
      <p:sp>
        <p:nvSpPr>
          <p:cNvPr id="13" name="Indicador nome 3"/>
          <p:cNvSpPr txBox="1"/>
          <p:nvPr/>
        </p:nvSpPr>
        <p:spPr>
          <a:xfrm>
            <a:off x="8321040" y="2514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Taxa de agendamento sobre contatados</a:t>
            </a:r>
            <a:endParaRPr lang="en-US" sz="1400" dirty="0"/>
          </a:p>
        </p:txBody>
      </p:sp>
      <p:sp>
        <p:nvSpPr>
          <p:cNvPr id="14" name="Indicador fonte 3"/>
          <p:cNvSpPr txBox="1"/>
          <p:nvPr/>
        </p:nvSpPr>
        <p:spPr>
          <a:xfrm>
            <a:off x="832104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</a:rPr>
              <a:t>Plano Limbo</a:t>
            </a:r>
            <a:endParaRPr lang="en-US" sz="1100" dirty="0"/>
          </a:p>
        </p:txBody>
      </p:sp>
      <p:sp>
        <p:nvSpPr>
          <p:cNvPr id="15" name="Indicador 4"/>
          <p:cNvSpPr/>
          <p:nvPr/>
        </p:nvSpPr>
        <p:spPr>
          <a:xfrm>
            <a:off x="548640" y="3703320"/>
            <a:ext cx="3474720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/>
        </p:spPr>
      </p:sp>
      <p:sp>
        <p:nvSpPr>
          <p:cNvPr id="16" name="Indicador valor 4"/>
          <p:cNvSpPr txBox="1"/>
          <p:nvPr/>
        </p:nvSpPr>
        <p:spPr>
          <a:xfrm>
            <a:off x="822960" y="3886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30%</a:t>
            </a:r>
            <a:endParaRPr lang="en-US" sz="3600" dirty="0"/>
          </a:p>
        </p:txBody>
      </p:sp>
      <p:sp>
        <p:nvSpPr>
          <p:cNvPr id="17" name="Indicador nome 4"/>
          <p:cNvSpPr txBox="1"/>
          <p:nvPr/>
        </p:nvSpPr>
        <p:spPr>
          <a:xfrm>
            <a:off x="822960" y="4663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Conversão em MQL dos leads com conversa</a:t>
            </a:r>
            <a:endParaRPr lang="en-US" sz="1400" dirty="0"/>
          </a:p>
        </p:txBody>
      </p:sp>
      <p:sp>
        <p:nvSpPr>
          <p:cNvPr id="18" name="Indicador fonte 4"/>
          <p:cNvSpPr txBox="1"/>
          <p:nvPr/>
        </p:nvSpPr>
        <p:spPr>
          <a:xfrm>
            <a:off x="822960" y="5303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Plano Limbo</a:t>
            </a:r>
            <a:endParaRPr lang="en-US" sz="1100" dirty="0"/>
          </a:p>
        </p:txBody>
      </p:sp>
      <p:sp>
        <p:nvSpPr>
          <p:cNvPr id="19" name="Indicador 5"/>
          <p:cNvSpPr/>
          <p:nvPr/>
        </p:nvSpPr>
        <p:spPr>
          <a:xfrm>
            <a:off x="4297680" y="3703320"/>
            <a:ext cx="347472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20" name="Indicador valor 5"/>
          <p:cNvSpPr txBox="1"/>
          <p:nvPr/>
        </p:nvSpPr>
        <p:spPr>
          <a:xfrm>
            <a:off x="4572000" y="3886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80%</a:t>
            </a:r>
            <a:endParaRPr lang="en-US" sz="3600" dirty="0"/>
          </a:p>
        </p:txBody>
      </p:sp>
      <p:sp>
        <p:nvSpPr>
          <p:cNvPr id="21" name="Indicador nome 5"/>
          <p:cNvSpPr txBox="1"/>
          <p:nvPr/>
        </p:nvSpPr>
        <p:spPr>
          <a:xfrm>
            <a:off x="4572000" y="4663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Comparecimento às reuniões agendadas</a:t>
            </a:r>
            <a:endParaRPr lang="en-US" sz="1400" dirty="0"/>
          </a:p>
        </p:txBody>
      </p:sp>
      <p:sp>
        <p:nvSpPr>
          <p:cNvPr id="22" name="Indicador fonte 5"/>
          <p:cNvSpPr txBox="1"/>
          <p:nvPr/>
        </p:nvSpPr>
        <p:spPr>
          <a:xfrm>
            <a:off x="4572000" y="5303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A7A"/>
                </a:solidFill>
              </a:rPr>
              <a:t>sugestão</a:t>
            </a:r>
            <a:endParaRPr lang="en-US" sz="1100" dirty="0"/>
          </a:p>
        </p:txBody>
      </p:sp>
      <p:sp>
        <p:nvSpPr>
          <p:cNvPr id="23" name="Indicador 6"/>
          <p:cNvSpPr/>
          <p:nvPr/>
        </p:nvSpPr>
        <p:spPr>
          <a:xfrm>
            <a:off x="8046720" y="3703320"/>
            <a:ext cx="3474720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/>
        </p:spPr>
      </p:sp>
      <p:sp>
        <p:nvSpPr>
          <p:cNvPr id="24" name="Indicador valor 6"/>
          <p:cNvSpPr txBox="1"/>
          <p:nvPr/>
        </p:nvSpPr>
        <p:spPr>
          <a:xfrm>
            <a:off x="8321040" y="3886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zero</a:t>
            </a:r>
            <a:endParaRPr lang="en-US" sz="3600" dirty="0"/>
          </a:p>
        </p:txBody>
      </p:sp>
      <p:sp>
        <p:nvSpPr>
          <p:cNvPr id="25" name="Indicador nome 6"/>
          <p:cNvSpPr txBox="1"/>
          <p:nvPr/>
        </p:nvSpPr>
        <p:spPr>
          <a:xfrm>
            <a:off x="8321040" y="4663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Leads sem status ou sem próxima tarefa</a:t>
            </a:r>
            <a:endParaRPr lang="en-US" sz="1400" dirty="0"/>
          </a:p>
        </p:txBody>
      </p:sp>
      <p:sp>
        <p:nvSpPr>
          <p:cNvPr id="26" name="Indicador fonte 6"/>
          <p:cNvSpPr txBox="1"/>
          <p:nvPr/>
        </p:nvSpPr>
        <p:spPr>
          <a:xfrm>
            <a:off x="8321040" y="5303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sugestão</a:t>
            </a:r>
            <a:endParaRPr lang="en-US" sz="1100" dirty="0"/>
          </a:p>
        </p:txBody>
      </p:sp>
      <p:sp>
        <p:nvSpPr>
          <p:cNvPr id="27" name="Revisão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Revisão semanal: números da Pryscila e da Kelly lado a lado e 2 ou 3 conversas ouvidas juntas.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Rotina do dia e próximos passos</a:t>
            </a:r>
            <a:endParaRPr lang="en-US" sz="3200" dirty="0"/>
          </a:p>
        </p:txBody>
      </p:sp>
      <p:sp>
        <p:nvSpPr>
          <p:cNvPr id="3" name="Rotina títul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Rotina sugerida</a:t>
            </a:r>
            <a:endParaRPr lang="en-US" sz="2000" dirty="0"/>
          </a:p>
        </p:txBody>
      </p:sp>
      <p:sp>
        <p:nvSpPr>
          <p:cNvPr id="4" name="Rotina hora 1"/>
          <p:cNvSpPr txBox="1"/>
          <p:nvPr/>
        </p:nvSpPr>
        <p:spPr>
          <a:xfrm>
            <a:off x="548640" y="2103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8h30</a:t>
            </a:r>
            <a:endParaRPr lang="en-US" sz="1800" dirty="0"/>
          </a:p>
        </p:txBody>
      </p:sp>
      <p:sp>
        <p:nvSpPr>
          <p:cNvPr id="5" name="Rotina atividade 1"/>
          <p:cNvSpPr txBox="1"/>
          <p:nvPr/>
        </p:nvSpPr>
        <p:spPr>
          <a:xfrm>
            <a:off x="1691640" y="2103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Fila da noite, quentes primeiro</a:t>
            </a:r>
            <a:endParaRPr lang="en-US" sz="1500" dirty="0"/>
          </a:p>
        </p:txBody>
      </p:sp>
      <p:sp>
        <p:nvSpPr>
          <p:cNvPr id="6" name="Rotina hora 2"/>
          <p:cNvSpPr txBox="1"/>
          <p:nvPr/>
        </p:nvSpPr>
        <p:spPr>
          <a:xfrm>
            <a:off x="548640" y="28529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9h</a:t>
            </a:r>
            <a:endParaRPr lang="en-US" sz="1800" dirty="0"/>
          </a:p>
        </p:txBody>
      </p:sp>
      <p:sp>
        <p:nvSpPr>
          <p:cNvPr id="7" name="Rotina atividade 2"/>
          <p:cNvSpPr txBox="1"/>
          <p:nvPr/>
        </p:nvSpPr>
        <p:spPr>
          <a:xfrm>
            <a:off x="1691640" y="28529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Ligações e qualificações</a:t>
            </a:r>
            <a:endParaRPr lang="en-US" sz="1500" dirty="0"/>
          </a:p>
        </p:txBody>
      </p:sp>
      <p:sp>
        <p:nvSpPr>
          <p:cNvPr id="8" name="Rotina hora 3"/>
          <p:cNvSpPr txBox="1"/>
          <p:nvPr/>
        </p:nvSpPr>
        <p:spPr>
          <a:xfrm>
            <a:off x="548640" y="360273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13h30</a:t>
            </a:r>
            <a:endParaRPr lang="en-US" sz="1800" dirty="0"/>
          </a:p>
        </p:txBody>
      </p:sp>
      <p:sp>
        <p:nvSpPr>
          <p:cNvPr id="9" name="Rotina atividade 3"/>
          <p:cNvSpPr txBox="1"/>
          <p:nvPr/>
        </p:nvSpPr>
        <p:spPr>
          <a:xfrm>
            <a:off x="1691640" y="36027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Cadência e confirmações</a:t>
            </a:r>
            <a:endParaRPr lang="en-US" sz="1500" dirty="0"/>
          </a:p>
        </p:txBody>
      </p:sp>
      <p:sp>
        <p:nvSpPr>
          <p:cNvPr id="10" name="Rotina hora 4"/>
          <p:cNvSpPr txBox="1"/>
          <p:nvPr/>
        </p:nvSpPr>
        <p:spPr>
          <a:xfrm>
            <a:off x="548640" y="435254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16h</a:t>
            </a:r>
            <a:endParaRPr lang="en-US" sz="1800" dirty="0"/>
          </a:p>
        </p:txBody>
      </p:sp>
      <p:sp>
        <p:nvSpPr>
          <p:cNvPr id="11" name="Rotina atividade 4"/>
          <p:cNvSpPr txBox="1"/>
          <p:nvPr/>
        </p:nvSpPr>
        <p:spPr>
          <a:xfrm>
            <a:off x="1691640" y="435254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Novos leads e Plano Limbo</a:t>
            </a:r>
            <a:endParaRPr lang="en-US" sz="1500" dirty="0"/>
          </a:p>
        </p:txBody>
      </p:sp>
      <p:sp>
        <p:nvSpPr>
          <p:cNvPr id="12" name="Rotina hora 5"/>
          <p:cNvSpPr txBox="1"/>
          <p:nvPr/>
        </p:nvSpPr>
        <p:spPr>
          <a:xfrm>
            <a:off x="548640" y="510235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17h30</a:t>
            </a:r>
            <a:endParaRPr lang="en-US" sz="1800" dirty="0"/>
          </a:p>
        </p:txBody>
      </p:sp>
      <p:sp>
        <p:nvSpPr>
          <p:cNvPr id="13" name="Rotina atividade 5"/>
          <p:cNvSpPr txBox="1"/>
          <p:nvPr/>
        </p:nvSpPr>
        <p:spPr>
          <a:xfrm>
            <a:off x="1691640" y="51023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Salesforce em dia</a:t>
            </a:r>
            <a:endParaRPr lang="en-US" sz="1500" dirty="0"/>
          </a:p>
        </p:txBody>
      </p:sp>
      <p:sp>
        <p:nvSpPr>
          <p:cNvPr id="14" name="Próximos passos"/>
          <p:cNvSpPr/>
          <p:nvPr/>
        </p:nvSpPr>
        <p:spPr>
          <a:xfrm>
            <a:off x="6400800" y="1554480"/>
            <a:ext cx="521208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sp>
        <p:nvSpPr>
          <p:cNvPr id="15" name="Próximos título"/>
          <p:cNvSpPr txBox="1"/>
          <p:nvPr/>
        </p:nvSpPr>
        <p:spPr>
          <a:xfrm>
            <a:off x="672084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Próximos passos</a:t>
            </a:r>
            <a:endParaRPr lang="en-US" sz="1800" dirty="0"/>
          </a:p>
        </p:txBody>
      </p:sp>
      <p:sp>
        <p:nvSpPr>
          <p:cNvPr id="16" name="Próximos lista"/>
          <p:cNvSpPr txBox="1"/>
          <p:nvPr/>
        </p:nvSpPr>
        <p:spPr>
          <a:xfrm>
            <a:off x="6720840" y="237744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Validar a divisão: uma SDR com site, Google e Ledson; a outra com feiras, eventos e Plano Limbo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Rebalancear os 873 leads parados da fila da Pryscila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Criar no Salesforce os campos de temperatura e propósito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Salvar os WhatsApps como respostas rápidas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Roleplay de cada script com o comercial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Revisar os indicadores em 2 semanas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Para lembrar</a:t>
            </a:r>
            <a:endParaRPr lang="en-US" sz="18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822960" y="201168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Responder rápido, conversar sobre o negócio do cliente e entregar ao executivo uma reunião com tudo anotado.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3D3D3D"/>
      </a:dk1>
      <a:lt1>
        <a:srgbClr val="FFFFFF"/>
      </a:lt1>
      <a:dk2>
        <a:srgbClr val="5F5F5F"/>
      </a:dk2>
      <a:lt2>
        <a:srgbClr val="F2F3F7"/>
      </a:lt2>
      <a:accent1>
        <a:srgbClr val="E011FF"/>
      </a:accent1>
      <a:accent2>
        <a:srgbClr val="12D9FF"/>
      </a:accent2>
      <a:accent3>
        <a:srgbClr val="658DFF"/>
      </a:accent3>
      <a:accent4>
        <a:srgbClr val="8A5CF6"/>
      </a:accent4>
      <a:accent5>
        <a:srgbClr val="3EB1FE"/>
      </a:accent5>
      <a:accent6>
        <a:srgbClr val="7A7A7A"/>
      </a:accent6>
      <a:hlink>
        <a:srgbClr val="658DFF"/>
      </a:hlink>
      <a:folHlink>
        <a:srgbClr val="8A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Jornada do lead (SDR)</dc:title>
  <dc:subject>PptxGenJS Presentation</dc:subject>
  <dc:creator>LedWave</dc:creator>
  <cp:lastModifiedBy>LedWave</cp:lastModifiedBy>
  <cp:revision>1</cp:revision>
  <dcterms:created xsi:type="dcterms:W3CDTF">2026-10-29T11:56:52Z</dcterms:created>
  <dcterms:modified xsi:type="dcterms:W3CDTF">2026-10-29T11:56:52Z</dcterms:modified>
</cp:coreProperties>
</file>