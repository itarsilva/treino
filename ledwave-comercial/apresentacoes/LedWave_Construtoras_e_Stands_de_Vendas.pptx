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70bbb9ac-1924-44ab-4d79-ea910bd48194}">
          <p14:sldIdLst>
            <p14:sldId id="256"/>
            <p14:sldId id="257"/>
          </p14:sldIdLst>
        </p14:section>
        <p14:section name="O seu cenário" id="{f6dca279-f29b-e3cc-11cf-7bb34adefa0f}">
          <p14:sldIdLst>
            <p14:sldId id="258"/>
          </p14:sldIdLst>
        </p14:section>
        <p14:section name="LedWave" id="{62a6b8a2-c6fa-25fb-164c-8be26cffecb9}">
          <p14:sldIdLst>
            <p14:sldId id="259"/>
            <p14:sldId id="260"/>
            <p14:sldId id="261"/>
            <p14:sldId id="262"/>
            <p14:sldId id="263"/>
          </p14:sldIdLst>
        </p14:section>
        <p14:section name="Por que digitalizar" id="{491a0508-5046-f92c-ea9e-ef633efd4799}">
          <p14:sldIdLst>
            <p14:sldId id="264"/>
            <p14:sldId id="265"/>
          </p14:sldIdLst>
        </p14:section>
        <p14:section name="Ganhos e solução" id="{87d0fbee-3587-59c1-ab55-6ea7d7918bf4}">
          <p14:sldIdLst>
            <p14:sldId id="266"/>
            <p14:sldId id="267"/>
            <p14:sldId id="268"/>
          </p14:sldIdLst>
        </p14:section>
        <p14:section name="Próximo passo" id="{158e1c72-87b2-191a-1294-be3ce8333c97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Diretor de Incorporação, Diretor de Marketing, Gerente de Vendas imobiliárias.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"Quantos lançamentos e qual o VGV do próximo? Quanto tempo dura um stand?"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Quantos lançamentos e qual o VGV do próximo? Quanto tempo dura um stand?
Problema: O visitante entende o empreendimento só com maquete e perspectivas? Qual a conversão de visita em proposta?
Implicação: Cada mês a mais de ciclo de vendas custa quanto em custo financeiro da obra? Quantas visitas saem sem se imaginar no imóvel?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Construtoras e Stands de Vendas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[Diferenciais · ~1 min] Não leia os oito. Escolha os 2 ou 3 que respondem ao propósito de compra do cliente (Status, Retrofit / arquitetura, Experiência) e conte cada um em uma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Sem case mapeado do segmento: escolha o cliente com o propósito de compra mais parecido.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
Propósitos de compra mais comuns neste nicho: Status, Retrofit / arquitetura, Experiência. Confirme qual pesa mais para este cliente e apague 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"Ninguém compra metro quadrado. Compra o futuro que cabe nele."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O stand é temporário, não compensa comprar.
Resposta: Temos locação e também compra com reaproveitamento: o mesmo painel vai do stand para o próximo lançamento ou para o hall do prédio entregue.
Objeção (comercial): Forma de pagamento
Resposta: Temos opções: à vista, parcelado, financiamento e locação. Montamos a que cabe no seu fluxo de caixa.
Objeção (comercial): Fabricação de estrutura metálica
Resposta: A estrutura faz parte do projeto: dimensionamos, fabricamos e instalamos com responsabilidade técnica, sem você precisar de outro fornecedor.
Objeção (comercial): Preço
Resposta: Vamos comparar o custo total: impressos, locações e vendas perdidas de um ano contra o investimento no painel, que fica com você por muitos 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Se o stand fizesse o cliente viver o apartamento e o painel fosse reaproveitado nos próximos lançamentos, faria sentido avaliar?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743200" cy="939769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ca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914400"/>
            <a:ext cx="3904488" cy="45720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194560" cy="751815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5943600"/>
            <a:ext cx="2322576" cy="54864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1645920" cy="563862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5897880"/>
            <a:ext cx="2514600" cy="59436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272784"/>
            <a:ext cx="960120" cy="32891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91640" y="63276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A7A"/>
                </a:solidFill>
              </a:rPr>
              <a:t>Construtoras e Stands de Vendas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Construtoras e Stands de Vendas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Ninguém compra metro quadrado. Compra o futuro que cabe nele.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7360920" y="4160520"/>
            <a:ext cx="1645920" cy="164592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457200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Seu cliente está comprando um sonho que ainda é um terreno. Como ele enxerga esse sonho hoje no seu stand?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Vender na planta é vender algo que não existe. Maquete e perspectivas impressas não fazem o cliente se imaginar morando lá.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Cada visita ao stand que sai sem emoção é uma unidade que vai para o concorrente. Ciclo de venda mais longo é custo financeiro.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2F3F7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a LedWave</a:t>
            </a:r>
            <a:endParaRPr lang="en-US" sz="3200" dirty="0"/>
          </a:p>
        </p:txBody>
      </p:sp>
      <p:sp>
        <p:nvSpPr>
          <p:cNvPr id="3" name="Diferencial Solução 360°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olução 360° círcul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Solução 360°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34540"/>
            <a:ext cx="320040" cy="320040"/>
          </a:xfrm>
          <a:prstGeom prst="rect">
            <a:avLst/>
          </a:prstGeom>
        </p:spPr>
      </p:pic>
      <p:sp>
        <p:nvSpPr>
          <p:cNvPr id="6" name="Solução 360° título"/>
          <p:cNvSpPr txBox="1"/>
          <p:nvPr/>
        </p:nvSpPr>
        <p:spPr>
          <a:xfrm>
            <a:off x="822960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Solução 360°</a:t>
            </a:r>
            <a:endParaRPr lang="en-US" sz="1600" dirty="0"/>
          </a:p>
        </p:txBody>
      </p:sp>
      <p:sp>
        <p:nvSpPr>
          <p:cNvPr id="7" name="Solução 360° texto"/>
          <p:cNvSpPr txBox="1"/>
          <p:nvPr/>
        </p:nvSpPr>
        <p:spPr>
          <a:xfrm>
            <a:off x="822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projeto ao conteúdo, um só parceiro</a:t>
            </a:r>
            <a:endParaRPr lang="en-US" sz="1400" dirty="0"/>
          </a:p>
        </p:txBody>
      </p:sp>
      <p:sp>
        <p:nvSpPr>
          <p:cNvPr id="8" name="Diferencial Fábrica própria"/>
          <p:cNvSpPr/>
          <p:nvPr/>
        </p:nvSpPr>
        <p:spPr>
          <a:xfrm>
            <a:off x="3364992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Fábrica própria círculo"/>
          <p:cNvSpPr/>
          <p:nvPr/>
        </p:nvSpPr>
        <p:spPr>
          <a:xfrm>
            <a:off x="3639312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Fábrica própr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034540"/>
            <a:ext cx="320040" cy="320040"/>
          </a:xfrm>
          <a:prstGeom prst="rect">
            <a:avLst/>
          </a:prstGeom>
        </p:spPr>
      </p:pic>
      <p:sp>
        <p:nvSpPr>
          <p:cNvPr id="11" name="Fábrica própria título"/>
          <p:cNvSpPr txBox="1"/>
          <p:nvPr/>
        </p:nvSpPr>
        <p:spPr>
          <a:xfrm>
            <a:off x="3639312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própria</a:t>
            </a:r>
            <a:endParaRPr lang="en-US" sz="1600" dirty="0"/>
          </a:p>
        </p:txBody>
      </p:sp>
      <p:sp>
        <p:nvSpPr>
          <p:cNvPr id="12" name="Fábrica própria texto"/>
          <p:cNvSpPr txBox="1"/>
          <p:nvPr/>
        </p:nvSpPr>
        <p:spPr>
          <a:xfrm>
            <a:off x="3639312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no Brasil, em Goiânia</a:t>
            </a:r>
            <a:endParaRPr lang="en-US" sz="1400" dirty="0"/>
          </a:p>
        </p:txBody>
      </p:sp>
      <p:sp>
        <p:nvSpPr>
          <p:cNvPr id="13" name="Diferencial Venda ou locação"/>
          <p:cNvSpPr/>
          <p:nvPr/>
        </p:nvSpPr>
        <p:spPr>
          <a:xfrm>
            <a:off x="6181344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Venda ou locação círculo"/>
          <p:cNvSpPr/>
          <p:nvPr/>
        </p:nvSpPr>
        <p:spPr>
          <a:xfrm>
            <a:off x="6455664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5" name="Venda ou locaçã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034540"/>
            <a:ext cx="320040" cy="320040"/>
          </a:xfrm>
          <a:prstGeom prst="rect">
            <a:avLst/>
          </a:prstGeom>
        </p:spPr>
      </p:pic>
      <p:sp>
        <p:nvSpPr>
          <p:cNvPr id="16" name="Venda ou locação título"/>
          <p:cNvSpPr txBox="1"/>
          <p:nvPr/>
        </p:nvSpPr>
        <p:spPr>
          <a:xfrm>
            <a:off x="6455664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Venda ou locação</a:t>
            </a:r>
            <a:endParaRPr lang="en-US" sz="1600" dirty="0"/>
          </a:p>
        </p:txBody>
      </p:sp>
      <p:sp>
        <p:nvSpPr>
          <p:cNvPr id="17" name="Venda ou locação texto"/>
          <p:cNvSpPr txBox="1"/>
          <p:nvPr/>
        </p:nvSpPr>
        <p:spPr>
          <a:xfrm>
            <a:off x="6455664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modelo comercial que cabe no seu negócio</a:t>
            </a:r>
            <a:endParaRPr lang="en-US" sz="1400" dirty="0"/>
          </a:p>
        </p:txBody>
      </p:sp>
      <p:sp>
        <p:nvSpPr>
          <p:cNvPr id="18" name="Diferencial Estoque próprio"/>
          <p:cNvSpPr/>
          <p:nvPr/>
        </p:nvSpPr>
        <p:spPr>
          <a:xfrm>
            <a:off x="8997696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Estoque próprio círculo"/>
          <p:cNvSpPr/>
          <p:nvPr/>
        </p:nvSpPr>
        <p:spPr>
          <a:xfrm>
            <a:off x="9272016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20" name="Estoque própri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2034540"/>
            <a:ext cx="320040" cy="320040"/>
          </a:xfrm>
          <a:prstGeom prst="rect">
            <a:avLst/>
          </a:prstGeom>
        </p:spPr>
      </p:pic>
      <p:sp>
        <p:nvSpPr>
          <p:cNvPr id="21" name="Estoque próprio título"/>
          <p:cNvSpPr txBox="1"/>
          <p:nvPr/>
        </p:nvSpPr>
        <p:spPr>
          <a:xfrm>
            <a:off x="9272016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 próprio</a:t>
            </a:r>
            <a:endParaRPr lang="en-US" sz="1600" dirty="0"/>
          </a:p>
        </p:txBody>
      </p:sp>
      <p:sp>
        <p:nvSpPr>
          <p:cNvPr id="22" name="Estoque próprio texto"/>
          <p:cNvSpPr txBox="1"/>
          <p:nvPr/>
        </p:nvSpPr>
        <p:spPr>
          <a:xfrm>
            <a:off x="9272016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espera entre a assinatura e a tela acesa</a:t>
            </a:r>
            <a:endParaRPr lang="en-US" sz="1400" dirty="0"/>
          </a:p>
        </p:txBody>
      </p:sp>
      <p:sp>
        <p:nvSpPr>
          <p:cNvPr id="23" name="Diferencial Atendimento nacional"/>
          <p:cNvSpPr/>
          <p:nvPr/>
        </p:nvSpPr>
        <p:spPr>
          <a:xfrm>
            <a:off x="548640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Atendimento nacional círculo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5" name="Atendimento nacional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6" name="Atendimento nacional título"/>
          <p:cNvSpPr txBox="1"/>
          <p:nvPr/>
        </p:nvSpPr>
        <p:spPr>
          <a:xfrm>
            <a:off x="822960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Atendimento nacional</a:t>
            </a:r>
            <a:endParaRPr lang="en-US" sz="1600" dirty="0"/>
          </a:p>
        </p:txBody>
      </p:sp>
      <p:sp>
        <p:nvSpPr>
          <p:cNvPr id="27" name="Atendimento nacional texto"/>
          <p:cNvSpPr txBox="1"/>
          <p:nvPr/>
        </p:nvSpPr>
        <p:spPr>
          <a:xfrm>
            <a:off x="822960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Goiânia, São Paulo, Brasília e Orlando (EUA)</a:t>
            </a:r>
            <a:endParaRPr lang="en-US" sz="1400" dirty="0"/>
          </a:p>
        </p:txBody>
      </p:sp>
      <p:sp>
        <p:nvSpPr>
          <p:cNvPr id="28" name="Diferencial Sob medida"/>
          <p:cNvSpPr/>
          <p:nvPr/>
        </p:nvSpPr>
        <p:spPr>
          <a:xfrm>
            <a:off x="3364992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ob medida círculo"/>
          <p:cNvSpPr/>
          <p:nvPr/>
        </p:nvSpPr>
        <p:spPr>
          <a:xfrm>
            <a:off x="3639312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30" name="Sob medida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32" y="4274820"/>
            <a:ext cx="320040" cy="320040"/>
          </a:xfrm>
          <a:prstGeom prst="rect">
            <a:avLst/>
          </a:prstGeom>
        </p:spPr>
      </p:pic>
      <p:sp>
        <p:nvSpPr>
          <p:cNvPr id="31" name="Sob medida título"/>
          <p:cNvSpPr txBox="1"/>
          <p:nvPr/>
        </p:nvSpPr>
        <p:spPr>
          <a:xfrm>
            <a:off x="3639312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medida</a:t>
            </a:r>
            <a:endParaRPr lang="en-US" sz="1600" dirty="0"/>
          </a:p>
        </p:txBody>
      </p:sp>
      <p:sp>
        <p:nvSpPr>
          <p:cNvPr id="32" name="Sob medida texto"/>
          <p:cNvSpPr txBox="1"/>
          <p:nvPr/>
        </p:nvSpPr>
        <p:spPr>
          <a:xfrm>
            <a:off x="3639312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Formato e resolução para o seu espaço</a:t>
            </a:r>
            <a:endParaRPr lang="en-US" sz="1400" dirty="0"/>
          </a:p>
        </p:txBody>
      </p:sp>
      <p:sp>
        <p:nvSpPr>
          <p:cNvPr id="33" name="Diferencial Software de gestão"/>
          <p:cNvSpPr/>
          <p:nvPr/>
        </p:nvSpPr>
        <p:spPr>
          <a:xfrm>
            <a:off x="6181344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4" name="Software de gestão círculo"/>
          <p:cNvSpPr/>
          <p:nvPr/>
        </p:nvSpPr>
        <p:spPr>
          <a:xfrm>
            <a:off x="6455664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35" name="Software d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684" y="4274820"/>
            <a:ext cx="320040" cy="320040"/>
          </a:xfrm>
          <a:prstGeom prst="rect">
            <a:avLst/>
          </a:prstGeom>
        </p:spPr>
      </p:pic>
      <p:sp>
        <p:nvSpPr>
          <p:cNvPr id="36" name="Software de gestão título"/>
          <p:cNvSpPr txBox="1"/>
          <p:nvPr/>
        </p:nvSpPr>
        <p:spPr>
          <a:xfrm>
            <a:off x="6455664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Software de gestão</a:t>
            </a:r>
            <a:endParaRPr lang="en-US" sz="1600" dirty="0"/>
          </a:p>
        </p:txBody>
      </p:sp>
      <p:sp>
        <p:nvSpPr>
          <p:cNvPr id="37" name="Software de gestão texto"/>
          <p:cNvSpPr txBox="1"/>
          <p:nvPr/>
        </p:nvSpPr>
        <p:spPr>
          <a:xfrm>
            <a:off x="6455664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Conteúdo e venda programática de mídia</a:t>
            </a:r>
            <a:endParaRPr lang="en-US" sz="1400" dirty="0"/>
          </a:p>
        </p:txBody>
      </p:sp>
      <p:sp>
        <p:nvSpPr>
          <p:cNvPr id="38" name="Diferencial Garantia e suporte"/>
          <p:cNvSpPr/>
          <p:nvPr/>
        </p:nvSpPr>
        <p:spPr>
          <a:xfrm>
            <a:off x="8997696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9" name="Garantia e suporte círculo"/>
          <p:cNvSpPr/>
          <p:nvPr/>
        </p:nvSpPr>
        <p:spPr>
          <a:xfrm>
            <a:off x="9272016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40" name="Garantia e suporte 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036" y="4274820"/>
            <a:ext cx="320040" cy="320040"/>
          </a:xfrm>
          <a:prstGeom prst="rect">
            <a:avLst/>
          </a:prstGeom>
        </p:spPr>
      </p:pic>
      <p:sp>
        <p:nvSpPr>
          <p:cNvPr id="41" name="Garantia e suporte título"/>
          <p:cNvSpPr txBox="1"/>
          <p:nvPr/>
        </p:nvSpPr>
        <p:spPr>
          <a:xfrm>
            <a:off x="9272016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Garantia e suporte</a:t>
            </a:r>
            <a:endParaRPr lang="en-US" sz="1600" dirty="0"/>
          </a:p>
        </p:txBody>
      </p:sp>
      <p:sp>
        <p:nvSpPr>
          <p:cNvPr id="42" name="Garantia e suporte texto"/>
          <p:cNvSpPr txBox="1"/>
          <p:nvPr/>
        </p:nvSpPr>
        <p:spPr>
          <a:xfrm>
            <a:off x="9272016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Equipe técnica própria para a tela não apagar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Nordestão"/>
          <p:cNvSpPr/>
          <p:nvPr/>
        </p:nvSpPr>
        <p:spPr>
          <a:xfrm>
            <a:off x="54864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Nordestão</a:t>
            </a:r>
            <a:endParaRPr lang="en-US" sz="2200" dirty="0"/>
          </a:p>
        </p:txBody>
      </p:sp>
      <p:sp>
        <p:nvSpPr>
          <p:cNvPr id="5" name="Marca Rosewood"/>
          <p:cNvSpPr/>
          <p:nvPr/>
        </p:nvSpPr>
        <p:spPr>
          <a:xfrm>
            <a:off x="429768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Rosewood</a:t>
            </a:r>
            <a:endParaRPr lang="en-US" sz="2200" dirty="0"/>
          </a:p>
        </p:txBody>
      </p:sp>
      <p:sp>
        <p:nvSpPr>
          <p:cNvPr id="7" name="Marca Beto Carrero World"/>
          <p:cNvSpPr/>
          <p:nvPr/>
        </p:nvSpPr>
        <p:spPr>
          <a:xfrm>
            <a:off x="804672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Beto Carrero World</a:t>
            </a:r>
            <a:endParaRPr lang="en-US" sz="2200" dirty="0"/>
          </a:p>
        </p:txBody>
      </p:sp>
      <p:sp>
        <p:nvSpPr>
          <p:cNvPr id="9" name="Marca Museu do Amanhã"/>
          <p:cNvSpPr/>
          <p:nvPr/>
        </p:nvSpPr>
        <p:spPr>
          <a:xfrm>
            <a:off x="54864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Marca nome 4"/>
          <p:cNvSpPr txBox="1"/>
          <p:nvPr/>
        </p:nvSpPr>
        <p:spPr>
          <a:xfrm>
            <a:off x="54864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Museu do Amanhã</a:t>
            </a:r>
            <a:endParaRPr lang="en-US" sz="2200" dirty="0"/>
          </a:p>
        </p:txBody>
      </p:sp>
      <p:sp>
        <p:nvSpPr>
          <p:cNvPr id="11" name="Marca Animalia"/>
          <p:cNvSpPr/>
          <p:nvPr/>
        </p:nvSpPr>
        <p:spPr>
          <a:xfrm>
            <a:off x="429768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Marca nome 5"/>
          <p:cNvSpPr txBox="1"/>
          <p:nvPr/>
        </p:nvSpPr>
        <p:spPr>
          <a:xfrm>
            <a:off x="429768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Animalia</a:t>
            </a:r>
            <a:endParaRPr lang="en-US" sz="2200" dirty="0"/>
          </a:p>
        </p:txBody>
      </p:sp>
      <p:sp>
        <p:nvSpPr>
          <p:cNvPr id="13" name="Marca Volkswagen"/>
          <p:cNvSpPr/>
          <p:nvPr/>
        </p:nvSpPr>
        <p:spPr>
          <a:xfrm>
            <a:off x="804672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 nome 6"/>
          <p:cNvSpPr txBox="1"/>
          <p:nvPr/>
        </p:nvSpPr>
        <p:spPr>
          <a:xfrm>
            <a:off x="804672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Volkswagen</a:t>
            </a:r>
            <a:endParaRPr lang="en-US" sz="2200" dirty="0"/>
          </a:p>
        </p:txBody>
      </p:sp>
      <p:sp>
        <p:nvSpPr>
          <p:cNvPr id="15" name="Ranking Exame círculo"/>
          <p:cNvSpPr/>
          <p:nvPr/>
        </p:nvSpPr>
        <p:spPr>
          <a:xfrm>
            <a:off x="54864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6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4263390"/>
            <a:ext cx="388620" cy="388620"/>
          </a:xfrm>
          <a:prstGeom prst="rect">
            <a:avLst/>
          </a:prstGeom>
        </p:spPr>
      </p:pic>
      <p:sp>
        <p:nvSpPr>
          <p:cNvPr id="17" name="Ranking Exame título"/>
          <p:cNvSpPr txBox="1"/>
          <p:nvPr/>
        </p:nvSpPr>
        <p:spPr>
          <a:xfrm>
            <a:off x="150876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8" name="Ranking Exame texto"/>
          <p:cNvSpPr txBox="1"/>
          <p:nvPr/>
        </p:nvSpPr>
        <p:spPr>
          <a:xfrm>
            <a:off x="150876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9" name="ABF Expo círculo"/>
          <p:cNvSpPr/>
          <p:nvPr/>
        </p:nvSpPr>
        <p:spPr>
          <a:xfrm>
            <a:off x="429768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0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4263390"/>
            <a:ext cx="388620" cy="388620"/>
          </a:xfrm>
          <a:prstGeom prst="rect">
            <a:avLst/>
          </a:prstGeom>
        </p:spPr>
      </p:pic>
      <p:sp>
        <p:nvSpPr>
          <p:cNvPr id="21" name="ABF Expo título"/>
          <p:cNvSpPr txBox="1"/>
          <p:nvPr/>
        </p:nvSpPr>
        <p:spPr>
          <a:xfrm>
            <a:off x="525780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22" name="ABF Expo texto"/>
          <p:cNvSpPr txBox="1"/>
          <p:nvPr/>
        </p:nvSpPr>
        <p:spPr>
          <a:xfrm>
            <a:off x="525780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23" name="NRF 2026, Nova York círculo"/>
          <p:cNvSpPr/>
          <p:nvPr/>
        </p:nvSpPr>
        <p:spPr>
          <a:xfrm>
            <a:off x="804672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4263390"/>
            <a:ext cx="388620" cy="388620"/>
          </a:xfrm>
          <a:prstGeom prst="rect">
            <a:avLst/>
          </a:prstGeom>
        </p:spPr>
      </p:pic>
      <p:sp>
        <p:nvSpPr>
          <p:cNvPr id="25" name="NRF 2026, Nova York título"/>
          <p:cNvSpPr txBox="1"/>
          <p:nvPr/>
        </p:nvSpPr>
        <p:spPr>
          <a:xfrm>
            <a:off x="900684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6" name="NRF 2026, Nova York texto"/>
          <p:cNvSpPr txBox="1"/>
          <p:nvPr/>
        </p:nvSpPr>
        <p:spPr>
          <a:xfrm>
            <a:off x="900684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7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7A7A7A"/>
                </a:solidFill>
              </a:rPr>
              <a:t>Troque os nomes pelos logos oficiais dos clientes antes de enviar o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Fazer o cliente viver o empreendimento antes de ele existir.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  <p:sp>
        <p:nvSpPr>
          <p:cNvPr id="6" name="Propósito de compra 1"/>
          <p:cNvSpPr/>
          <p:nvPr/>
        </p:nvSpPr>
        <p:spPr>
          <a:xfrm>
            <a:off x="82296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7" name="Propósito de compra texto 1"/>
          <p:cNvSpPr txBox="1"/>
          <p:nvPr/>
        </p:nvSpPr>
        <p:spPr>
          <a:xfrm>
            <a:off x="82296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Status</a:t>
            </a:r>
            <a:endParaRPr lang="en-US" sz="1400" dirty="0"/>
          </a:p>
        </p:txBody>
      </p:sp>
      <p:sp>
        <p:nvSpPr>
          <p:cNvPr id="8" name="Propósito de compra 2"/>
          <p:cNvSpPr/>
          <p:nvPr/>
        </p:nvSpPr>
        <p:spPr>
          <a:xfrm>
            <a:off x="347472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9" name="Propósito de compra texto 2"/>
          <p:cNvSpPr txBox="1"/>
          <p:nvPr/>
        </p:nvSpPr>
        <p:spPr>
          <a:xfrm>
            <a:off x="347472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Retrofit / arquitetura</a:t>
            </a:r>
            <a:endParaRPr lang="en-US" sz="1400" dirty="0"/>
          </a:p>
        </p:txBody>
      </p:sp>
      <p:sp>
        <p:nvSpPr>
          <p:cNvPr id="10" name="Propósito de compra 3"/>
          <p:cNvSpPr/>
          <p:nvPr/>
        </p:nvSpPr>
        <p:spPr>
          <a:xfrm>
            <a:off x="612648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11" name="Propósito de compra texto 3"/>
          <p:cNvSpPr txBox="1"/>
          <p:nvPr/>
        </p:nvSpPr>
        <p:spPr>
          <a:xfrm>
            <a:off x="612648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Experiência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Visitante entra no stand, o painel abre a vista do 20º andar ao pôr do sol, depois a área de lazer com as crianças na piscina. Ele não vê uma planta; ele vê a vida dele.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Ninguém compra metro quadrado. Compra o futuro que cabe nele.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Vendas mais rápidas no lançamento; o painel acompanha os próximos empreendimentos (reaproveitamento entre stands).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8A5CF6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Stand com padrão de alto luxo, coerente com o ticket do imóvel; tapume digital que vira mídia na obra.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Atualização de tabela, unidades disponíveis e condições em tempo real; locação para stands temporários.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Painel imersivo no stand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LED em tapume de obra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Fachada do stand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Locação para lançamentos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Velocidade de vendas (unidades/mês)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Conversão de visita em proposta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Custo de stand por unidade vendida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Ninguém compra metro quadrado. Compra o futuro que cabe nele.</a:t>
            </a:r>
            <a:endParaRPr lang="en-US" sz="3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Vamos fazer o seu próximo lançamento ser visto antes de ser construído?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Apresentar conceito imersivo para o próximo lançamento + comparativo compra x locação.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3D3D3D"/>
      </a:dk1>
      <a:lt1>
        <a:srgbClr val="FFFFFF"/>
      </a:lt1>
      <a:dk2>
        <a:srgbClr val="5F5F5F"/>
      </a:dk2>
      <a:lt2>
        <a:srgbClr val="F2F3F7"/>
      </a:lt2>
      <a:accent1>
        <a:srgbClr val="E011FF"/>
      </a:accent1>
      <a:accent2>
        <a:srgbClr val="12D9FF"/>
      </a:accent2>
      <a:accent3>
        <a:srgbClr val="658DFF"/>
      </a:accent3>
      <a:accent4>
        <a:srgbClr val="8A5CF6"/>
      </a:accent4>
      <a:accent5>
        <a:srgbClr val="3EB1FE"/>
      </a:accent5>
      <a:accent6>
        <a:srgbClr val="7A7A7A"/>
      </a:accent6>
      <a:hlink>
        <a:srgbClr val="658DFF"/>
      </a:hlink>
      <a:folHlink>
        <a:srgbClr val="8A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Construtoras e Stands de Vendas</dc:title>
  <dc:subject>PptxGenJS Presentation</dc:subject>
  <dc:creator>LedWave</dc:creator>
  <cp:lastModifiedBy>LedWave</cp:lastModifiedBy>
  <cp:revision>1</cp:revision>
  <dcterms:created xsi:type="dcterms:W3CDTF">2026-10-19T18:43:12Z</dcterms:created>
  <dcterms:modified xsi:type="dcterms:W3CDTF">2026-10-19T18:43:12Z</dcterms:modified>
</cp:coreProperties>
</file>