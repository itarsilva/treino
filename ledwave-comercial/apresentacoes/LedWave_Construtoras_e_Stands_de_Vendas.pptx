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58b0c576-cf43-dfc6-8beb-cb92b00d539d}">
          <p14:sldIdLst>
            <p14:sldId id="256"/>
            <p14:sldId id="257"/>
          </p14:sldIdLst>
        </p14:section>
        <p14:section name="O seu cenário" id="{4e34b15d-5d53-309c-68a5-3320cc5cae89}">
          <p14:sldIdLst>
            <p14:sldId id="258"/>
          </p14:sldIdLst>
        </p14:section>
        <p14:section name="LedWave" id="{db123cae-0964-4937-022b-63928c2eca8d}">
          <p14:sldIdLst>
            <p14:sldId id="259"/>
            <p14:sldId id="260"/>
            <p14:sldId id="261"/>
            <p14:sldId id="262"/>
            <p14:sldId id="263"/>
          </p14:sldIdLst>
        </p14:section>
        <p14:section name="Por que digitalizar" id="{d2fb602b-21b8-1710-9cc6-2218cc87e3f2}">
          <p14:sldIdLst>
            <p14:sldId id="264"/>
            <p14:sldId id="265"/>
          </p14:sldIdLst>
        </p14:section>
        <p14:section name="Ganhos e solução" id="{1bdfeed5-ee0b-19f3-a3e3-f7eb71bcd83a}">
          <p14:sldIdLst>
            <p14:sldId id="266"/>
            <p14:sldId id="267"/>
            <p14:sldId id="268"/>
          </p14:sldIdLst>
        </p14:section>
        <p14:section name="Próximo passo" id="{562d9fc0-e348-84e5-af43-f1073dd57594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[Abertura · ~1 min] Cumprimente, combine o objetivo e o tempo da reunião (15 min) e peça permissão: "Posso começar com uma pergunta?"
Decisor típico: Diretor de Incorporação, Diretor de Marketing, Gerente de Vendas imobiliárias.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[Gancho · ~1 min] Leia a pergunta, olhe nos olhos e espere 3 segundos. Deixe o cliente responder e anote as palavras dele.
Se ele responder, aprofunde com: "Quantos lançamentos e qual o VGV do próximo? Quanto tempo dura um stand?"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[Dor · ~2 min] Não leia o slide. Pergunte antes de mostrar:
Situação: Quantos lançamentos e qual o VGV do próximo? Quanto tempo dura um stand?
Problema: O visitante entende o empreendimento só com maquete e perspectivas? Qual a conversão de visita em proposta?
Implicação: Cada mês a mais de ciclo de vendas custa quanto em custo financeiro da obra? Quantas visitas saem sem se imaginar no imóvel?
Use os números que o cliente der no slide de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[LedWave · ~1,5 min] O cliente é o herói; a LedWave é o guia que já fez isso antes. Conte a origem em 20 segundos e siga.
Frase-ponte: "E é por isso que estamos aqui."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[Números · ~1 min] Escolha os 2 números que mais conversam com Construtoras e Stands de Vendas e fale só deles. Ex.: para mídia e grandes formatos, o Boulevard.Live; para redes, as 4 bases e a fábrica própria.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completa · ~1 min] Mensagem central: "Não vendemos painel. Entregamos o resultado que o painel gera."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[Diferenciais · ~1 min] Não leia os oito. Escolha os 2 ou 3 que respondem ao propósito de compra do cliente (Status, Retrofit / arquitetura, Experiência) e conte cada um em uma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social · ~1 min] Sem case mapeado do segmento: escolha o cliente com o propósito de compra mais parecido. Apague a linha de instrução antes de enviar 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[Propósito · ~1 min] Fale devagar. Este é o porquê da conversa. Pausa de 3 segundos no final.
Propósitos de compra mais comuns neste nicho: Status, Retrofit / arquitetura, Experiência. Confirme qual pesa mais para este cliente e apague os outros.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[História · ~1,5 min] Conte a história como cena, no presente. Se tiver o mockup do espaço do cliente, este é o momento de mostrar: antes e depois.
Frase de efeito: "Ninguém compra metro quadrado. Compra o futuro que cabe nele."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[Ganhos · ~2,5 min] Um ganho por vez. Para cada um, conecte com o que o cliente disse na descoberta: "Você comentou que... é aqui que isso muda."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· ~1,5 min] Mostre só o que faz sentido para o espaço do cliente; apague o resto.
Objeção provável: O stand é temporário, não compensa comprar.
Resposta: Temos locação e também compra com reaproveitamento: o mesmo painel vai do stand para o próximo lançamento ou para o hall do prédio entregue.
Objeção (comercial): Forma de pagamento
Resposta: Temos opções: à vista, parcelado, financiamento e locação. Montamos a que cabe no seu fluxo de caixa.
Objeção (comercial): Fabricação de estrutura metálica
Resposta: A estrutura faz parte do projeto: dimensionamos, fabricamos e instalamos com responsabilidade técnica, sem você precisar de outro fornecedor.
Objeção (comercial): Preço
Resposta: Vamos comparar o custo total: impressos, locações e vendas perdidas de um ano contra o investimento no painel, que fica com você por muitos anos.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· ~1 min] Preencha o case do segmento com um cliente real antes da reunião. Sem case do segmento, apague o card da direita e fale só do Boulevard.Live.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[Fechamento · ~1,5 min] Termine no ponto alto: repita a frase de efeito e proponha o próximo passo com duas opções de data ("quinta ou sexta?"). Nunca termine com "alguma dúvida?".
Pergunta de necessidade: Se o stand fizesse o cliente viver o apartamento e o painel fosse reaproveitado nos próximos lançamentos, faria sentido avaliar?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rgbClr val="2B1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85"/>
                </a:solidFill>
              </a:rPr>
              <a:t>LedWave  ·  Construtoras e Stands de Vendas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Construtoras e Stands de Vendas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Ninguém compra metro quadrado. Compra o futuro que cabe nele.</a:t>
            </a:r>
            <a:endParaRPr lang="en-US" sz="2000" dirty="0"/>
          </a:p>
        </p:txBody>
      </p:sp>
      <p:sp>
        <p:nvSpPr>
          <p:cNvPr id="4" name="Cliente e data"/>
          <p:cNvSpPr txBox="1"/>
          <p:nvPr/>
        </p:nvSpPr>
        <p:spPr>
          <a:xfrm>
            <a:off x="54864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Proposta para [Nome do cliente]  ·  [Data]</a:t>
            </a:r>
            <a:endParaRPr lang="en-US" sz="1400" dirty="0"/>
          </a:p>
        </p:txBody>
      </p:sp>
      <p:sp>
        <p:nvSpPr>
          <p:cNvPr id="5" name="Ícone do nicho círculo"/>
          <p:cNvSpPr/>
          <p:nvPr/>
        </p:nvSpPr>
        <p:spPr>
          <a:xfrm>
            <a:off x="8412480" y="1737360"/>
            <a:ext cx="3017520" cy="301752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6" name="Ícone do nich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6860" y="2491740"/>
            <a:ext cx="15087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Uma pergunta para começar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Seu cliente está comprando um sonho que ainda é um terreno. Como ele enxerga esse sonho hoje no seu stand?</a:t>
            </a:r>
            <a:endParaRPr lang="en-US" sz="3200" dirty="0"/>
          </a:p>
        </p:txBody>
      </p:sp>
      <p:sp>
        <p:nvSpPr>
          <p:cNvPr id="4" name="Pergunta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ergun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desafio de hoje</a:t>
            </a:r>
            <a:endParaRPr lang="en-US" sz="3200" dirty="0"/>
          </a:p>
        </p:txBody>
      </p:sp>
      <p:sp>
        <p:nvSpPr>
          <p:cNvPr id="3" name="Card Como é hoje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Como é hoje círculo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5" name="Como é hoj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125980"/>
            <a:ext cx="411480" cy="411480"/>
          </a:xfrm>
          <a:prstGeom prst="rect">
            <a:avLst/>
          </a:prstGeom>
        </p:spPr>
      </p:pic>
      <p:sp>
        <p:nvSpPr>
          <p:cNvPr id="6" name="Como é hoje título"/>
          <p:cNvSpPr txBox="1"/>
          <p:nvPr/>
        </p:nvSpPr>
        <p:spPr>
          <a:xfrm>
            <a:off x="91440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Como é hoje</a:t>
            </a:r>
            <a:endParaRPr lang="en-US" sz="2200" dirty="0"/>
          </a:p>
        </p:txBody>
      </p:sp>
      <p:sp>
        <p:nvSpPr>
          <p:cNvPr id="7" name="Como é hoje texto"/>
          <p:cNvSpPr txBox="1"/>
          <p:nvPr/>
        </p:nvSpPr>
        <p:spPr>
          <a:xfrm>
            <a:off x="91440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Vender na planta é vender algo que não existe. Maquete e perspectivas impressas não fazem o cliente se imaginar morando lá.</a:t>
            </a:r>
            <a:endParaRPr lang="en-US" sz="1700" dirty="0"/>
          </a:p>
        </p:txBody>
      </p:sp>
      <p:sp>
        <p:nvSpPr>
          <p:cNvPr id="8" name="Card O custo de esperar"/>
          <p:cNvSpPr/>
          <p:nvPr/>
        </p:nvSpPr>
        <p:spPr>
          <a:xfrm>
            <a:off x="621792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9" name="O custo de esperar círculo"/>
          <p:cNvSpPr/>
          <p:nvPr/>
        </p:nvSpPr>
        <p:spPr>
          <a:xfrm>
            <a:off x="6583680" y="1920240"/>
            <a:ext cx="822960" cy="8229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O custo de esperar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2125980"/>
            <a:ext cx="411480" cy="411480"/>
          </a:xfrm>
          <a:prstGeom prst="rect">
            <a:avLst/>
          </a:prstGeom>
        </p:spPr>
      </p:pic>
      <p:sp>
        <p:nvSpPr>
          <p:cNvPr id="11" name="O custo de esperar título"/>
          <p:cNvSpPr txBox="1"/>
          <p:nvPr/>
        </p:nvSpPr>
        <p:spPr>
          <a:xfrm>
            <a:off x="658368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 custo de esperar</a:t>
            </a:r>
            <a:endParaRPr lang="en-US" sz="2200" dirty="0"/>
          </a:p>
        </p:txBody>
      </p:sp>
      <p:sp>
        <p:nvSpPr>
          <p:cNvPr id="12" name="O custo de esperar texto"/>
          <p:cNvSpPr txBox="1"/>
          <p:nvPr/>
        </p:nvSpPr>
        <p:spPr>
          <a:xfrm>
            <a:off x="658368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Cada visita ao stand que sai sem emoção é uma unidade que vai para o concorrente. Ciclo de venda mais longo é custo financeiro.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é a LedWave</a:t>
            </a:r>
            <a:endParaRPr lang="en-US" sz="3200" dirty="0"/>
          </a:p>
        </p:txBody>
      </p:sp>
      <p:sp>
        <p:nvSpPr>
          <p:cNvPr id="3" name="História LedWave"/>
          <p:cNvSpPr txBox="1"/>
          <p:nvPr/>
        </p:nvSpPr>
        <p:spPr>
          <a:xfrm>
            <a:off x="548640" y="164592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De uma ideia em Xangai à liderança no Brasil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Uma viagem a Xangai mostrou ao nosso fundador, Tiago Brito, como as grandes capitais usam o LED para encantar pessoas. Com R$ 12 mil, essa ideia virou fábrica em Goiânia.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Hoje fabricamos, instalamos e operamos painéis de LED para marcas de todo o país, com unidades no Brasil e nos Estados Unidos.</a:t>
            </a:r>
            <a:endParaRPr lang="en-US" sz="1600" dirty="0"/>
          </a:p>
        </p:txBody>
      </p:sp>
      <p:sp>
        <p:nvSpPr>
          <p:cNvPr id="4" name="Linha do tempo"/>
          <p:cNvSpPr/>
          <p:nvPr/>
        </p:nvSpPr>
        <p:spPr>
          <a:xfrm>
            <a:off x="6903720" y="1920240"/>
            <a:ext cx="0" cy="3657600"/>
          </a:xfrm>
          <a:prstGeom prst="line">
            <a:avLst/>
          </a:prstGeom>
          <a:noFill/>
          <a:ln w="38100">
            <a:solidFill>
              <a:srgbClr val="F3F0FA"/>
            </a:solidFill>
            <a:prstDash val="solid"/>
          </a:ln>
        </p:spPr>
      </p:sp>
      <p:sp>
        <p:nvSpPr>
          <p:cNvPr id="5" name="Marco 1"/>
          <p:cNvSpPr/>
          <p:nvPr/>
        </p:nvSpPr>
        <p:spPr>
          <a:xfrm>
            <a:off x="6739128" y="1810512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Marco ano 1"/>
          <p:cNvSpPr txBox="1"/>
          <p:nvPr/>
        </p:nvSpPr>
        <p:spPr>
          <a:xfrm>
            <a:off x="726948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2010/11</a:t>
            </a:r>
            <a:endParaRPr lang="en-US" sz="1800" dirty="0"/>
          </a:p>
        </p:txBody>
      </p:sp>
      <p:sp>
        <p:nvSpPr>
          <p:cNvPr id="7" name="Marco texto 1"/>
          <p:cNvSpPr txBox="1"/>
          <p:nvPr/>
        </p:nvSpPr>
        <p:spPr>
          <a:xfrm>
            <a:off x="7269480" y="20756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Fundação em Goiânia, com fábrica própria</a:t>
            </a:r>
            <a:endParaRPr lang="en-US" sz="1400" dirty="0"/>
          </a:p>
        </p:txBody>
      </p:sp>
      <p:sp>
        <p:nvSpPr>
          <p:cNvPr id="8" name="Marco 2"/>
          <p:cNvSpPr/>
          <p:nvPr/>
        </p:nvSpPr>
        <p:spPr>
          <a:xfrm>
            <a:off x="6739128" y="2889504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Marco ano 2"/>
          <p:cNvSpPr txBox="1"/>
          <p:nvPr/>
        </p:nvSpPr>
        <p:spPr>
          <a:xfrm>
            <a:off x="7269480" y="2770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 anos</a:t>
            </a:r>
            <a:endParaRPr lang="en-US" sz="1800" dirty="0"/>
          </a:p>
        </p:txBody>
      </p:sp>
      <p:sp>
        <p:nvSpPr>
          <p:cNvPr id="10" name="Marco texto 2"/>
          <p:cNvSpPr txBox="1"/>
          <p:nvPr/>
        </p:nvSpPr>
        <p:spPr>
          <a:xfrm>
            <a:off x="7269480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Seguidos no ranking Exame Negócios em Expansão</a:t>
            </a:r>
            <a:endParaRPr lang="en-US" sz="1400" dirty="0"/>
          </a:p>
        </p:txBody>
      </p:sp>
      <p:sp>
        <p:nvSpPr>
          <p:cNvPr id="11" name="Marco 3"/>
          <p:cNvSpPr/>
          <p:nvPr/>
        </p:nvSpPr>
        <p:spPr>
          <a:xfrm>
            <a:off x="6739128" y="3968496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Marco ano 3"/>
          <p:cNvSpPr txBox="1"/>
          <p:nvPr/>
        </p:nvSpPr>
        <p:spPr>
          <a:xfrm>
            <a:off x="7269480" y="38496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2025</a:t>
            </a:r>
            <a:endParaRPr lang="en-US" sz="1800" dirty="0"/>
          </a:p>
        </p:txBody>
      </p:sp>
      <p:sp>
        <p:nvSpPr>
          <p:cNvPr id="13" name="Marco texto 3"/>
          <p:cNvSpPr txBox="1"/>
          <p:nvPr/>
        </p:nvSpPr>
        <p:spPr>
          <a:xfrm>
            <a:off x="7269480" y="42336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1ª colocada do segmento de painéis de LED no ranking</a:t>
            </a:r>
            <a:endParaRPr lang="en-US" sz="1400" dirty="0"/>
          </a:p>
        </p:txBody>
      </p:sp>
      <p:sp>
        <p:nvSpPr>
          <p:cNvPr id="14" name="Marco 4"/>
          <p:cNvSpPr/>
          <p:nvPr/>
        </p:nvSpPr>
        <p:spPr>
          <a:xfrm>
            <a:off x="6739128" y="5047488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Marco ano 4"/>
          <p:cNvSpPr txBox="1"/>
          <p:nvPr/>
        </p:nvSpPr>
        <p:spPr>
          <a:xfrm>
            <a:off x="7269480" y="4928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2026</a:t>
            </a:r>
            <a:endParaRPr lang="en-US" sz="1800" dirty="0"/>
          </a:p>
        </p:txBody>
      </p:sp>
      <p:sp>
        <p:nvSpPr>
          <p:cNvPr id="16" name="Marco texto 4"/>
          <p:cNvSpPr txBox="1"/>
          <p:nvPr/>
        </p:nvSpPr>
        <p:spPr>
          <a:xfrm>
            <a:off x="7269480" y="531266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Única empresa brasileira de LED com estande próprio na NRF, em Nova York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LedWave em números</a:t>
            </a:r>
            <a:endParaRPr lang="en-US" sz="3200" dirty="0"/>
          </a:p>
        </p:txBody>
      </p:sp>
      <p:sp>
        <p:nvSpPr>
          <p:cNvPr id="3" name="Número 1"/>
          <p:cNvSpPr/>
          <p:nvPr/>
        </p:nvSpPr>
        <p:spPr>
          <a:xfrm>
            <a:off x="548640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4" name="Número valor 1"/>
          <p:cNvSpPr txBox="1"/>
          <p:nvPr/>
        </p:nvSpPr>
        <p:spPr>
          <a:xfrm>
            <a:off x="82296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1.125 m²</a:t>
            </a:r>
            <a:endParaRPr lang="en-US" sz="4000" dirty="0"/>
          </a:p>
        </p:txBody>
      </p:sp>
      <p:sp>
        <p:nvSpPr>
          <p:cNvPr id="5" name="Número legenda 1"/>
          <p:cNvSpPr txBox="1"/>
          <p:nvPr/>
        </p:nvSpPr>
        <p:spPr>
          <a:xfrm>
            <a:off x="822960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maior painel de LED da América Latina (Boulevard.Live, Brasília)</a:t>
            </a:r>
            <a:endParaRPr lang="en-US" sz="1500" dirty="0"/>
          </a:p>
        </p:txBody>
      </p:sp>
      <p:sp>
        <p:nvSpPr>
          <p:cNvPr id="6" name="Número 2"/>
          <p:cNvSpPr/>
          <p:nvPr/>
        </p:nvSpPr>
        <p:spPr>
          <a:xfrm>
            <a:off x="3364992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Número valor 2"/>
          <p:cNvSpPr txBox="1"/>
          <p:nvPr/>
        </p:nvSpPr>
        <p:spPr>
          <a:xfrm>
            <a:off x="3639312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Nº 1</a:t>
            </a:r>
            <a:endParaRPr lang="en-US" sz="4000" dirty="0"/>
          </a:p>
        </p:txBody>
      </p:sp>
      <p:sp>
        <p:nvSpPr>
          <p:cNvPr id="8" name="Número legenda 2"/>
          <p:cNvSpPr txBox="1"/>
          <p:nvPr/>
        </p:nvSpPr>
        <p:spPr>
          <a:xfrm>
            <a:off x="3639312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 segmento de painéis de LED no ranking Exame Negócios em Expansão 2025</a:t>
            </a:r>
            <a:endParaRPr lang="en-US" sz="1500" dirty="0"/>
          </a:p>
        </p:txBody>
      </p:sp>
      <p:sp>
        <p:nvSpPr>
          <p:cNvPr id="9" name="Número 3"/>
          <p:cNvSpPr/>
          <p:nvPr/>
        </p:nvSpPr>
        <p:spPr>
          <a:xfrm>
            <a:off x="6181344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10" name="Número valor 3"/>
          <p:cNvSpPr txBox="1"/>
          <p:nvPr/>
        </p:nvSpPr>
        <p:spPr>
          <a:xfrm>
            <a:off x="6455664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 anos</a:t>
            </a:r>
            <a:endParaRPr lang="en-US" sz="4000" dirty="0"/>
          </a:p>
        </p:txBody>
      </p:sp>
      <p:sp>
        <p:nvSpPr>
          <p:cNvPr id="11" name="Número legenda 3"/>
          <p:cNvSpPr txBox="1"/>
          <p:nvPr/>
        </p:nvSpPr>
        <p:spPr>
          <a:xfrm>
            <a:off x="6455664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seguidos entre as empresas que mais crescem no Brasil (Exame)</a:t>
            </a:r>
            <a:endParaRPr lang="en-US" sz="1500" dirty="0"/>
          </a:p>
        </p:txBody>
      </p:sp>
      <p:sp>
        <p:nvSpPr>
          <p:cNvPr id="12" name="Número 4"/>
          <p:cNvSpPr/>
          <p:nvPr/>
        </p:nvSpPr>
        <p:spPr>
          <a:xfrm>
            <a:off x="8997696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3" name="Número valor 4"/>
          <p:cNvSpPr txBox="1"/>
          <p:nvPr/>
        </p:nvSpPr>
        <p:spPr>
          <a:xfrm>
            <a:off x="9272016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 bases</a:t>
            </a:r>
            <a:endParaRPr lang="en-US" sz="4000" dirty="0"/>
          </a:p>
        </p:txBody>
      </p:sp>
      <p:sp>
        <p:nvSpPr>
          <p:cNvPr id="14" name="Número legenda 4"/>
          <p:cNvSpPr txBox="1"/>
          <p:nvPr/>
        </p:nvSpPr>
        <p:spPr>
          <a:xfrm>
            <a:off x="9272016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Goiânia (sede e fábrica), São Paulo, Brasília e Orlando (EUA)</a:t>
            </a:r>
            <a:endParaRPr lang="en-US" sz="15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85"/>
                </a:solidFill>
              </a:rPr>
              <a:t>Ranking Exame Negócios em Expansão com dados auditados pela PwC.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Solução completa, do projeto ao resultado</a:t>
            </a:r>
            <a:endParaRPr lang="en-US" sz="3200" dirty="0"/>
          </a:p>
        </p:txBody>
      </p:sp>
      <p:sp>
        <p:nvSpPr>
          <p:cNvPr id="3" name="Diagnóstico e projeto círculo"/>
          <p:cNvSpPr/>
          <p:nvPr/>
        </p:nvSpPr>
        <p:spPr>
          <a:xfrm>
            <a:off x="1115568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4" name="Diagnóstico e proje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057400"/>
            <a:ext cx="457200" cy="457200"/>
          </a:xfrm>
          <a:prstGeom prst="rect">
            <a:avLst/>
          </a:prstGeom>
        </p:spPr>
      </p:pic>
      <p:pic>
        <p:nvPicPr>
          <p:cNvPr id="5" name="Set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130552"/>
            <a:ext cx="292608" cy="292608"/>
          </a:xfrm>
          <a:prstGeom prst="rect">
            <a:avLst/>
          </a:prstGeom>
        </p:spPr>
      </p:pic>
      <p:sp>
        <p:nvSpPr>
          <p:cNvPr id="6" name="Diagnóstico e projeto título"/>
          <p:cNvSpPr txBox="1"/>
          <p:nvPr/>
        </p:nvSpPr>
        <p:spPr>
          <a:xfrm>
            <a:off x="54864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Diagnóstico e projeto</a:t>
            </a:r>
            <a:endParaRPr lang="en-US" sz="1700" dirty="0"/>
          </a:p>
        </p:txBody>
      </p:sp>
      <p:sp>
        <p:nvSpPr>
          <p:cNvPr id="7" name="Diagnóstico e projeto texto"/>
          <p:cNvSpPr txBox="1"/>
          <p:nvPr/>
        </p:nvSpPr>
        <p:spPr>
          <a:xfrm>
            <a:off x="548640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Estudo do seu espaço, do público e do objetivo</a:t>
            </a:r>
            <a:endParaRPr lang="en-US" sz="1400" dirty="0"/>
          </a:p>
        </p:txBody>
      </p:sp>
      <p:sp>
        <p:nvSpPr>
          <p:cNvPr id="8" name="Fabricação própria círculo"/>
          <p:cNvSpPr/>
          <p:nvPr/>
        </p:nvSpPr>
        <p:spPr>
          <a:xfrm>
            <a:off x="3383280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9" name="Fabricação própria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057400"/>
            <a:ext cx="457200" cy="457200"/>
          </a:xfrm>
          <a:prstGeom prst="rect">
            <a:avLst/>
          </a:prstGeom>
        </p:spPr>
      </p:pic>
      <p:pic>
        <p:nvPicPr>
          <p:cNvPr id="10" name="Set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130552"/>
            <a:ext cx="292608" cy="292608"/>
          </a:xfrm>
          <a:prstGeom prst="rect">
            <a:avLst/>
          </a:prstGeom>
        </p:spPr>
      </p:pic>
      <p:sp>
        <p:nvSpPr>
          <p:cNvPr id="11" name="Fabricação própria título"/>
          <p:cNvSpPr txBox="1"/>
          <p:nvPr/>
        </p:nvSpPr>
        <p:spPr>
          <a:xfrm>
            <a:off x="2816352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Fabricação própria</a:t>
            </a:r>
            <a:endParaRPr lang="en-US" sz="1700" dirty="0"/>
          </a:p>
        </p:txBody>
      </p:sp>
      <p:sp>
        <p:nvSpPr>
          <p:cNvPr id="12" name="Fabricação própria texto"/>
          <p:cNvSpPr txBox="1"/>
          <p:nvPr/>
        </p:nvSpPr>
        <p:spPr>
          <a:xfrm>
            <a:off x="2816352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em Goiânia</a:t>
            </a:r>
            <a:endParaRPr lang="en-US" sz="1400" dirty="0"/>
          </a:p>
        </p:txBody>
      </p:sp>
      <p:sp>
        <p:nvSpPr>
          <p:cNvPr id="13" name="Instalação círculo"/>
          <p:cNvSpPr/>
          <p:nvPr/>
        </p:nvSpPr>
        <p:spPr>
          <a:xfrm>
            <a:off x="5650992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4" name="Instalação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057400"/>
            <a:ext cx="457200" cy="457200"/>
          </a:xfrm>
          <a:prstGeom prst="rect">
            <a:avLst/>
          </a:prstGeom>
        </p:spPr>
      </p:pic>
      <p:pic>
        <p:nvPicPr>
          <p:cNvPr id="15" name="Seta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584" y="2130552"/>
            <a:ext cx="292608" cy="292608"/>
          </a:xfrm>
          <a:prstGeom prst="rect">
            <a:avLst/>
          </a:prstGeom>
        </p:spPr>
      </p:pic>
      <p:sp>
        <p:nvSpPr>
          <p:cNvPr id="16" name="Instalação título"/>
          <p:cNvSpPr txBox="1"/>
          <p:nvPr/>
        </p:nvSpPr>
        <p:spPr>
          <a:xfrm>
            <a:off x="5084064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Instalação</a:t>
            </a:r>
            <a:endParaRPr lang="en-US" sz="1700" dirty="0"/>
          </a:p>
        </p:txBody>
      </p:sp>
      <p:sp>
        <p:nvSpPr>
          <p:cNvPr id="17" name="Instalação texto"/>
          <p:cNvSpPr txBox="1"/>
          <p:nvPr/>
        </p:nvSpPr>
        <p:spPr>
          <a:xfrm>
            <a:off x="5084064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Estrutura, energia e entrega com equipe técnica</a:t>
            </a:r>
            <a:endParaRPr lang="en-US" sz="1400" dirty="0"/>
          </a:p>
        </p:txBody>
      </p:sp>
      <p:sp>
        <p:nvSpPr>
          <p:cNvPr id="18" name="Conteúdo e gestão círculo"/>
          <p:cNvSpPr/>
          <p:nvPr/>
        </p:nvSpPr>
        <p:spPr>
          <a:xfrm>
            <a:off x="7918704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9" name="Conteúdo 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2057400"/>
            <a:ext cx="457200" cy="457200"/>
          </a:xfrm>
          <a:prstGeom prst="rect">
            <a:avLst/>
          </a:prstGeom>
        </p:spPr>
      </p:pic>
      <p:pic>
        <p:nvPicPr>
          <p:cNvPr id="20" name="Seta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2130552"/>
            <a:ext cx="292608" cy="292608"/>
          </a:xfrm>
          <a:prstGeom prst="rect">
            <a:avLst/>
          </a:prstGeom>
        </p:spPr>
      </p:pic>
      <p:sp>
        <p:nvSpPr>
          <p:cNvPr id="21" name="Conteúdo e gestão título"/>
          <p:cNvSpPr txBox="1"/>
          <p:nvPr/>
        </p:nvSpPr>
        <p:spPr>
          <a:xfrm>
            <a:off x="7351776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Conteúdo e gestão</a:t>
            </a:r>
            <a:endParaRPr lang="en-US" sz="1700" dirty="0"/>
          </a:p>
        </p:txBody>
      </p:sp>
      <p:sp>
        <p:nvSpPr>
          <p:cNvPr id="22" name="Conteúdo e gestão texto"/>
          <p:cNvSpPr txBox="1"/>
          <p:nvPr/>
        </p:nvSpPr>
        <p:spPr>
          <a:xfrm>
            <a:off x="7351776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Telas atualizadas do celular ou do computador</a:t>
            </a:r>
            <a:endParaRPr lang="en-US" sz="1400" dirty="0"/>
          </a:p>
        </p:txBody>
      </p:sp>
      <p:sp>
        <p:nvSpPr>
          <p:cNvPr id="23" name="Suporte círculo"/>
          <p:cNvSpPr/>
          <p:nvPr/>
        </p:nvSpPr>
        <p:spPr>
          <a:xfrm>
            <a:off x="10186416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4" name="Suporte ícon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5016" y="2057400"/>
            <a:ext cx="457200" cy="457200"/>
          </a:xfrm>
          <a:prstGeom prst="rect">
            <a:avLst/>
          </a:prstGeom>
        </p:spPr>
      </p:pic>
      <p:sp>
        <p:nvSpPr>
          <p:cNvPr id="25" name="Suporte título"/>
          <p:cNvSpPr txBox="1"/>
          <p:nvPr/>
        </p:nvSpPr>
        <p:spPr>
          <a:xfrm>
            <a:off x="9619488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Suporte</a:t>
            </a:r>
            <a:endParaRPr lang="en-US" sz="1700" dirty="0"/>
          </a:p>
        </p:txBody>
      </p:sp>
      <p:sp>
        <p:nvSpPr>
          <p:cNvPr id="26" name="Suporte texto"/>
          <p:cNvSpPr txBox="1"/>
          <p:nvPr/>
        </p:nvSpPr>
        <p:spPr>
          <a:xfrm>
            <a:off x="9619488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Assistência técnica para a tela não apagar</a:t>
            </a:r>
            <a:endParaRPr lang="en-US" sz="1400" dirty="0"/>
          </a:p>
        </p:txBody>
      </p:sp>
      <p:sp>
        <p:nvSpPr>
          <p:cNvPr id="27" name="Faixa venda e locação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8" name="Venda ou locação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Venda ou locação: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modelo se adapta ao seu uso, do evento de um dia à operação permanente.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Por que a LedWave</a:t>
            </a:r>
            <a:endParaRPr lang="en-US" sz="3200" dirty="0"/>
          </a:p>
        </p:txBody>
      </p:sp>
      <p:sp>
        <p:nvSpPr>
          <p:cNvPr id="3" name="Diferencial Solução 360°"/>
          <p:cNvSpPr/>
          <p:nvPr/>
        </p:nvSpPr>
        <p:spPr>
          <a:xfrm>
            <a:off x="548640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Solução 360° círculo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5" name="Solução 360°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34540"/>
            <a:ext cx="320040" cy="320040"/>
          </a:xfrm>
          <a:prstGeom prst="rect">
            <a:avLst/>
          </a:prstGeom>
        </p:spPr>
      </p:pic>
      <p:sp>
        <p:nvSpPr>
          <p:cNvPr id="6" name="Solução 360° título"/>
          <p:cNvSpPr txBox="1"/>
          <p:nvPr/>
        </p:nvSpPr>
        <p:spPr>
          <a:xfrm>
            <a:off x="822960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Solução 360°</a:t>
            </a:r>
            <a:endParaRPr lang="en-US" sz="1600" dirty="0"/>
          </a:p>
        </p:txBody>
      </p:sp>
      <p:sp>
        <p:nvSpPr>
          <p:cNvPr id="7" name="Solução 360° texto"/>
          <p:cNvSpPr txBox="1"/>
          <p:nvPr/>
        </p:nvSpPr>
        <p:spPr>
          <a:xfrm>
            <a:off x="822960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 projeto ao conteúdo, um só parceiro</a:t>
            </a:r>
            <a:endParaRPr lang="en-US" sz="1400" dirty="0"/>
          </a:p>
        </p:txBody>
      </p:sp>
      <p:sp>
        <p:nvSpPr>
          <p:cNvPr id="8" name="Diferencial Fábrica própria"/>
          <p:cNvSpPr/>
          <p:nvPr/>
        </p:nvSpPr>
        <p:spPr>
          <a:xfrm>
            <a:off x="3364992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Fábrica própria círculo"/>
          <p:cNvSpPr/>
          <p:nvPr/>
        </p:nvSpPr>
        <p:spPr>
          <a:xfrm>
            <a:off x="3639312" y="187452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Fábrica própr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332" y="2034540"/>
            <a:ext cx="320040" cy="320040"/>
          </a:xfrm>
          <a:prstGeom prst="rect">
            <a:avLst/>
          </a:prstGeom>
        </p:spPr>
      </p:pic>
      <p:sp>
        <p:nvSpPr>
          <p:cNvPr id="11" name="Fábrica própria título"/>
          <p:cNvSpPr txBox="1"/>
          <p:nvPr/>
        </p:nvSpPr>
        <p:spPr>
          <a:xfrm>
            <a:off x="3639312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Fábrica própria</a:t>
            </a:r>
            <a:endParaRPr lang="en-US" sz="1600" dirty="0"/>
          </a:p>
        </p:txBody>
      </p:sp>
      <p:sp>
        <p:nvSpPr>
          <p:cNvPr id="12" name="Fábrica própria texto"/>
          <p:cNvSpPr txBox="1"/>
          <p:nvPr/>
        </p:nvSpPr>
        <p:spPr>
          <a:xfrm>
            <a:off x="3639312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no Brasil, em Goiânia</a:t>
            </a:r>
            <a:endParaRPr lang="en-US" sz="1400" dirty="0"/>
          </a:p>
        </p:txBody>
      </p:sp>
      <p:sp>
        <p:nvSpPr>
          <p:cNvPr id="13" name="Diferencial Venda ou locação"/>
          <p:cNvSpPr/>
          <p:nvPr/>
        </p:nvSpPr>
        <p:spPr>
          <a:xfrm>
            <a:off x="6181344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Venda ou locação círculo"/>
          <p:cNvSpPr/>
          <p:nvPr/>
        </p:nvSpPr>
        <p:spPr>
          <a:xfrm>
            <a:off x="6455664" y="187452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5" name="Venda ou locaçã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4" y="2034540"/>
            <a:ext cx="320040" cy="320040"/>
          </a:xfrm>
          <a:prstGeom prst="rect">
            <a:avLst/>
          </a:prstGeom>
        </p:spPr>
      </p:pic>
      <p:sp>
        <p:nvSpPr>
          <p:cNvPr id="16" name="Venda ou locação título"/>
          <p:cNvSpPr txBox="1"/>
          <p:nvPr/>
        </p:nvSpPr>
        <p:spPr>
          <a:xfrm>
            <a:off x="6455664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Venda ou locação</a:t>
            </a:r>
            <a:endParaRPr lang="en-US" sz="1600" dirty="0"/>
          </a:p>
        </p:txBody>
      </p:sp>
      <p:sp>
        <p:nvSpPr>
          <p:cNvPr id="17" name="Venda ou locação texto"/>
          <p:cNvSpPr txBox="1"/>
          <p:nvPr/>
        </p:nvSpPr>
        <p:spPr>
          <a:xfrm>
            <a:off x="6455664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 modelo comercial que cabe no seu negócio</a:t>
            </a:r>
            <a:endParaRPr lang="en-US" sz="1400" dirty="0"/>
          </a:p>
        </p:txBody>
      </p:sp>
      <p:sp>
        <p:nvSpPr>
          <p:cNvPr id="18" name="Diferencial Estoque próprio"/>
          <p:cNvSpPr/>
          <p:nvPr/>
        </p:nvSpPr>
        <p:spPr>
          <a:xfrm>
            <a:off x="8997696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9" name="Estoque próprio círculo"/>
          <p:cNvSpPr/>
          <p:nvPr/>
        </p:nvSpPr>
        <p:spPr>
          <a:xfrm>
            <a:off x="9272016" y="187452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20" name="Estoque próprio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2036" y="2034540"/>
            <a:ext cx="320040" cy="320040"/>
          </a:xfrm>
          <a:prstGeom prst="rect">
            <a:avLst/>
          </a:prstGeom>
        </p:spPr>
      </p:pic>
      <p:sp>
        <p:nvSpPr>
          <p:cNvPr id="21" name="Estoque próprio título"/>
          <p:cNvSpPr txBox="1"/>
          <p:nvPr/>
        </p:nvSpPr>
        <p:spPr>
          <a:xfrm>
            <a:off x="9272016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Estoque próprio</a:t>
            </a:r>
            <a:endParaRPr lang="en-US" sz="1600" dirty="0"/>
          </a:p>
        </p:txBody>
      </p:sp>
      <p:sp>
        <p:nvSpPr>
          <p:cNvPr id="22" name="Estoque próprio texto"/>
          <p:cNvSpPr txBox="1"/>
          <p:nvPr/>
        </p:nvSpPr>
        <p:spPr>
          <a:xfrm>
            <a:off x="9272016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Menos espera entre a assinatura e a tela acesa</a:t>
            </a:r>
            <a:endParaRPr lang="en-US" sz="1400" dirty="0"/>
          </a:p>
        </p:txBody>
      </p:sp>
      <p:sp>
        <p:nvSpPr>
          <p:cNvPr id="23" name="Diferencial Atendimento nacional"/>
          <p:cNvSpPr/>
          <p:nvPr/>
        </p:nvSpPr>
        <p:spPr>
          <a:xfrm>
            <a:off x="548640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4" name="Atendimento nacional círculo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5" name="Atendimento nacional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274820"/>
            <a:ext cx="320040" cy="320040"/>
          </a:xfrm>
          <a:prstGeom prst="rect">
            <a:avLst/>
          </a:prstGeom>
        </p:spPr>
      </p:pic>
      <p:sp>
        <p:nvSpPr>
          <p:cNvPr id="26" name="Atendimento nacional título"/>
          <p:cNvSpPr txBox="1"/>
          <p:nvPr/>
        </p:nvSpPr>
        <p:spPr>
          <a:xfrm>
            <a:off x="822960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Atendimento nacional</a:t>
            </a:r>
            <a:endParaRPr lang="en-US" sz="1600" dirty="0"/>
          </a:p>
        </p:txBody>
      </p:sp>
      <p:sp>
        <p:nvSpPr>
          <p:cNvPr id="27" name="Atendimento nacional texto"/>
          <p:cNvSpPr txBox="1"/>
          <p:nvPr/>
        </p:nvSpPr>
        <p:spPr>
          <a:xfrm>
            <a:off x="822960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Goiânia, São Paulo, Brasília e Orlando (EUA)</a:t>
            </a:r>
            <a:endParaRPr lang="en-US" sz="1400" dirty="0"/>
          </a:p>
        </p:txBody>
      </p:sp>
      <p:sp>
        <p:nvSpPr>
          <p:cNvPr id="28" name="Diferencial Sob medida"/>
          <p:cNvSpPr/>
          <p:nvPr/>
        </p:nvSpPr>
        <p:spPr>
          <a:xfrm>
            <a:off x="3364992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9" name="Sob medida círculo"/>
          <p:cNvSpPr/>
          <p:nvPr/>
        </p:nvSpPr>
        <p:spPr>
          <a:xfrm>
            <a:off x="3639312" y="411480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30" name="Sob medida í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9332" y="4274820"/>
            <a:ext cx="320040" cy="320040"/>
          </a:xfrm>
          <a:prstGeom prst="rect">
            <a:avLst/>
          </a:prstGeom>
        </p:spPr>
      </p:pic>
      <p:sp>
        <p:nvSpPr>
          <p:cNvPr id="31" name="Sob medida título"/>
          <p:cNvSpPr txBox="1"/>
          <p:nvPr/>
        </p:nvSpPr>
        <p:spPr>
          <a:xfrm>
            <a:off x="3639312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Sob medida</a:t>
            </a:r>
            <a:endParaRPr lang="en-US" sz="1600" dirty="0"/>
          </a:p>
        </p:txBody>
      </p:sp>
      <p:sp>
        <p:nvSpPr>
          <p:cNvPr id="32" name="Sob medida texto"/>
          <p:cNvSpPr txBox="1"/>
          <p:nvPr/>
        </p:nvSpPr>
        <p:spPr>
          <a:xfrm>
            <a:off x="3639312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Formato e resolução para o seu espaço</a:t>
            </a:r>
            <a:endParaRPr lang="en-US" sz="1400" dirty="0"/>
          </a:p>
        </p:txBody>
      </p:sp>
      <p:sp>
        <p:nvSpPr>
          <p:cNvPr id="33" name="Diferencial Software de gestão"/>
          <p:cNvSpPr/>
          <p:nvPr/>
        </p:nvSpPr>
        <p:spPr>
          <a:xfrm>
            <a:off x="6181344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4" name="Software de gestão círculo"/>
          <p:cNvSpPr/>
          <p:nvPr/>
        </p:nvSpPr>
        <p:spPr>
          <a:xfrm>
            <a:off x="6455664" y="411480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35" name="Software d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5684" y="4274820"/>
            <a:ext cx="320040" cy="320040"/>
          </a:xfrm>
          <a:prstGeom prst="rect">
            <a:avLst/>
          </a:prstGeom>
        </p:spPr>
      </p:pic>
      <p:sp>
        <p:nvSpPr>
          <p:cNvPr id="36" name="Software de gestão título"/>
          <p:cNvSpPr txBox="1"/>
          <p:nvPr/>
        </p:nvSpPr>
        <p:spPr>
          <a:xfrm>
            <a:off x="6455664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Software de gestão</a:t>
            </a:r>
            <a:endParaRPr lang="en-US" sz="1600" dirty="0"/>
          </a:p>
        </p:txBody>
      </p:sp>
      <p:sp>
        <p:nvSpPr>
          <p:cNvPr id="37" name="Software de gestão texto"/>
          <p:cNvSpPr txBox="1"/>
          <p:nvPr/>
        </p:nvSpPr>
        <p:spPr>
          <a:xfrm>
            <a:off x="6455664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Conteúdo e venda programática de mídia</a:t>
            </a:r>
            <a:endParaRPr lang="en-US" sz="1400" dirty="0"/>
          </a:p>
        </p:txBody>
      </p:sp>
      <p:sp>
        <p:nvSpPr>
          <p:cNvPr id="38" name="Diferencial Garantia e suporte"/>
          <p:cNvSpPr/>
          <p:nvPr/>
        </p:nvSpPr>
        <p:spPr>
          <a:xfrm>
            <a:off x="8997696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9" name="Garantia e suporte círculo"/>
          <p:cNvSpPr/>
          <p:nvPr/>
        </p:nvSpPr>
        <p:spPr>
          <a:xfrm>
            <a:off x="9272016" y="411480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40" name="Garantia e suporte ícone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2036" y="4274820"/>
            <a:ext cx="320040" cy="320040"/>
          </a:xfrm>
          <a:prstGeom prst="rect">
            <a:avLst/>
          </a:prstGeom>
        </p:spPr>
      </p:pic>
      <p:sp>
        <p:nvSpPr>
          <p:cNvPr id="41" name="Garantia e suporte título"/>
          <p:cNvSpPr txBox="1"/>
          <p:nvPr/>
        </p:nvSpPr>
        <p:spPr>
          <a:xfrm>
            <a:off x="9272016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Garantia e suporte</a:t>
            </a:r>
            <a:endParaRPr lang="en-US" sz="1600" dirty="0"/>
          </a:p>
        </p:txBody>
      </p:sp>
      <p:sp>
        <p:nvSpPr>
          <p:cNvPr id="42" name="Garantia e suporte texto"/>
          <p:cNvSpPr txBox="1"/>
          <p:nvPr/>
        </p:nvSpPr>
        <p:spPr>
          <a:xfrm>
            <a:off x="9272016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Equipe técnica própria para a tela não apagar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confia na LedWave</a:t>
            </a:r>
            <a:endParaRPr lang="en-US" sz="3200" dirty="0"/>
          </a:p>
        </p:txBody>
      </p:sp>
      <p:sp>
        <p:nvSpPr>
          <p:cNvPr id="3" name="Marca Nordestão"/>
          <p:cNvSpPr/>
          <p:nvPr/>
        </p:nvSpPr>
        <p:spPr>
          <a:xfrm>
            <a:off x="54864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4" name="Marca nome 1"/>
          <p:cNvSpPr txBox="1"/>
          <p:nvPr/>
        </p:nvSpPr>
        <p:spPr>
          <a:xfrm>
            <a:off x="54864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Nordestão</a:t>
            </a:r>
            <a:endParaRPr lang="en-US" sz="2200" dirty="0"/>
          </a:p>
        </p:txBody>
      </p:sp>
      <p:sp>
        <p:nvSpPr>
          <p:cNvPr id="5" name="Marca Rosewood"/>
          <p:cNvSpPr/>
          <p:nvPr/>
        </p:nvSpPr>
        <p:spPr>
          <a:xfrm>
            <a:off x="429768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6" name="Marca nome 2"/>
          <p:cNvSpPr txBox="1"/>
          <p:nvPr/>
        </p:nvSpPr>
        <p:spPr>
          <a:xfrm>
            <a:off x="429768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Rosewood</a:t>
            </a:r>
            <a:endParaRPr lang="en-US" sz="2200" dirty="0"/>
          </a:p>
        </p:txBody>
      </p:sp>
      <p:sp>
        <p:nvSpPr>
          <p:cNvPr id="7" name="Marca Beto Carrero World"/>
          <p:cNvSpPr/>
          <p:nvPr/>
        </p:nvSpPr>
        <p:spPr>
          <a:xfrm>
            <a:off x="804672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8" name="Marca nome 3"/>
          <p:cNvSpPr txBox="1"/>
          <p:nvPr/>
        </p:nvSpPr>
        <p:spPr>
          <a:xfrm>
            <a:off x="804672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Beto Carrero World</a:t>
            </a:r>
            <a:endParaRPr lang="en-US" sz="2200" dirty="0"/>
          </a:p>
        </p:txBody>
      </p:sp>
      <p:sp>
        <p:nvSpPr>
          <p:cNvPr id="9" name="Marca Museu do Amanhã"/>
          <p:cNvSpPr/>
          <p:nvPr/>
        </p:nvSpPr>
        <p:spPr>
          <a:xfrm>
            <a:off x="54864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0" name="Marca nome 4"/>
          <p:cNvSpPr txBox="1"/>
          <p:nvPr/>
        </p:nvSpPr>
        <p:spPr>
          <a:xfrm>
            <a:off x="54864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Museu do Amanhã</a:t>
            </a:r>
            <a:endParaRPr lang="en-US" sz="2200" dirty="0"/>
          </a:p>
        </p:txBody>
      </p:sp>
      <p:sp>
        <p:nvSpPr>
          <p:cNvPr id="11" name="Marca Animalia"/>
          <p:cNvSpPr/>
          <p:nvPr/>
        </p:nvSpPr>
        <p:spPr>
          <a:xfrm>
            <a:off x="429768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2" name="Marca nome 5"/>
          <p:cNvSpPr txBox="1"/>
          <p:nvPr/>
        </p:nvSpPr>
        <p:spPr>
          <a:xfrm>
            <a:off x="429768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Animalia</a:t>
            </a:r>
            <a:endParaRPr lang="en-US" sz="2200" dirty="0"/>
          </a:p>
        </p:txBody>
      </p:sp>
      <p:sp>
        <p:nvSpPr>
          <p:cNvPr id="13" name="Marca Volkswagen"/>
          <p:cNvSpPr/>
          <p:nvPr/>
        </p:nvSpPr>
        <p:spPr>
          <a:xfrm>
            <a:off x="804672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4" name="Marca nome 6"/>
          <p:cNvSpPr txBox="1"/>
          <p:nvPr/>
        </p:nvSpPr>
        <p:spPr>
          <a:xfrm>
            <a:off x="804672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Volkswagen</a:t>
            </a:r>
            <a:endParaRPr lang="en-US" sz="2200" dirty="0"/>
          </a:p>
        </p:txBody>
      </p:sp>
      <p:sp>
        <p:nvSpPr>
          <p:cNvPr id="15" name="Ranking Exame círculo"/>
          <p:cNvSpPr/>
          <p:nvPr/>
        </p:nvSpPr>
        <p:spPr>
          <a:xfrm>
            <a:off x="548640" y="4069080"/>
            <a:ext cx="777240" cy="77724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6" name="Ranking Exam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4263390"/>
            <a:ext cx="388620" cy="388620"/>
          </a:xfrm>
          <a:prstGeom prst="rect">
            <a:avLst/>
          </a:prstGeom>
        </p:spPr>
      </p:pic>
      <p:sp>
        <p:nvSpPr>
          <p:cNvPr id="17" name="Ranking Exame título"/>
          <p:cNvSpPr txBox="1"/>
          <p:nvPr/>
        </p:nvSpPr>
        <p:spPr>
          <a:xfrm>
            <a:off x="150876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Ranking Exame</a:t>
            </a:r>
            <a:endParaRPr lang="en-US" sz="1700" dirty="0"/>
          </a:p>
        </p:txBody>
      </p:sp>
      <p:sp>
        <p:nvSpPr>
          <p:cNvPr id="18" name="Ranking Exame texto"/>
          <p:cNvSpPr txBox="1"/>
          <p:nvPr/>
        </p:nvSpPr>
        <p:spPr>
          <a:xfrm>
            <a:off x="150876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 anos seguidos, nº 1 do segmento em 2025</a:t>
            </a:r>
            <a:endParaRPr lang="en-US" sz="1400" dirty="0"/>
          </a:p>
        </p:txBody>
      </p:sp>
      <p:sp>
        <p:nvSpPr>
          <p:cNvPr id="19" name="ABF Expo círculo"/>
          <p:cNvSpPr/>
          <p:nvPr/>
        </p:nvSpPr>
        <p:spPr>
          <a:xfrm>
            <a:off x="4297680" y="4069080"/>
            <a:ext cx="777240" cy="77724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0" name="ABF Exp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90" y="4263390"/>
            <a:ext cx="388620" cy="388620"/>
          </a:xfrm>
          <a:prstGeom prst="rect">
            <a:avLst/>
          </a:prstGeom>
        </p:spPr>
      </p:pic>
      <p:sp>
        <p:nvSpPr>
          <p:cNvPr id="21" name="ABF Expo título"/>
          <p:cNvSpPr txBox="1"/>
          <p:nvPr/>
        </p:nvSpPr>
        <p:spPr>
          <a:xfrm>
            <a:off x="525780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ABF Expo</a:t>
            </a:r>
            <a:endParaRPr lang="en-US" sz="1700" dirty="0"/>
          </a:p>
        </p:txBody>
      </p:sp>
      <p:sp>
        <p:nvSpPr>
          <p:cNvPr id="22" name="ABF Expo texto"/>
          <p:cNvSpPr txBox="1"/>
          <p:nvPr/>
        </p:nvSpPr>
        <p:spPr>
          <a:xfrm>
            <a:off x="525780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Parceira oficial da maior feira de franquias do país</a:t>
            </a:r>
            <a:endParaRPr lang="en-US" sz="1400" dirty="0"/>
          </a:p>
        </p:txBody>
      </p:sp>
      <p:sp>
        <p:nvSpPr>
          <p:cNvPr id="23" name="NRF 2026, Nova York círculo"/>
          <p:cNvSpPr/>
          <p:nvPr/>
        </p:nvSpPr>
        <p:spPr>
          <a:xfrm>
            <a:off x="8046720" y="4069080"/>
            <a:ext cx="777240" cy="77724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4" name="NRF 2026, Nova York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030" y="4263390"/>
            <a:ext cx="388620" cy="388620"/>
          </a:xfrm>
          <a:prstGeom prst="rect">
            <a:avLst/>
          </a:prstGeom>
        </p:spPr>
      </p:pic>
      <p:sp>
        <p:nvSpPr>
          <p:cNvPr id="25" name="NRF 2026, Nova York título"/>
          <p:cNvSpPr txBox="1"/>
          <p:nvPr/>
        </p:nvSpPr>
        <p:spPr>
          <a:xfrm>
            <a:off x="900684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NRF 2026, Nova York</a:t>
            </a:r>
            <a:endParaRPr lang="en-US" sz="1700" dirty="0"/>
          </a:p>
        </p:txBody>
      </p:sp>
      <p:sp>
        <p:nvSpPr>
          <p:cNvPr id="26" name="NRF 2026, Nova York texto"/>
          <p:cNvSpPr txBox="1"/>
          <p:nvPr/>
        </p:nvSpPr>
        <p:spPr>
          <a:xfrm>
            <a:off x="900684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Estande próprio na maior feira de varejo do mundo</a:t>
            </a:r>
            <a:endParaRPr lang="en-US" sz="1400" dirty="0"/>
          </a:p>
        </p:txBody>
      </p:sp>
      <p:sp>
        <p:nvSpPr>
          <p:cNvPr id="27" name="Instrução logos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385"/>
                </a:solidFill>
              </a:rPr>
              <a:t>Troque os nomes pelos logos oficiais dos clientes antes de enviar o arquivo.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Por que digitalizar o seu espaço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Fazer o cliente viver o empreendimento antes de ele existir.</a:t>
            </a:r>
            <a:endParaRPr lang="en-US" sz="3200" dirty="0"/>
          </a:p>
        </p:txBody>
      </p:sp>
      <p:sp>
        <p:nvSpPr>
          <p:cNvPr id="4" name="Propósito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ropósi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  <p:sp>
        <p:nvSpPr>
          <p:cNvPr id="6" name="Propósito de compra 1"/>
          <p:cNvSpPr/>
          <p:nvPr/>
        </p:nvSpPr>
        <p:spPr>
          <a:xfrm>
            <a:off x="82296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218A"/>
            </a:solidFill>
            <a:prstDash val="solid"/>
          </a:ln>
        </p:spPr>
      </p:sp>
      <p:sp>
        <p:nvSpPr>
          <p:cNvPr id="7" name="Propósito de compra texto 1"/>
          <p:cNvSpPr txBox="1"/>
          <p:nvPr/>
        </p:nvSpPr>
        <p:spPr>
          <a:xfrm>
            <a:off x="82296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Status</a:t>
            </a:r>
            <a:endParaRPr lang="en-US" sz="1400" dirty="0"/>
          </a:p>
        </p:txBody>
      </p:sp>
      <p:sp>
        <p:nvSpPr>
          <p:cNvPr id="8" name="Propósito de compra 2"/>
          <p:cNvSpPr/>
          <p:nvPr/>
        </p:nvSpPr>
        <p:spPr>
          <a:xfrm>
            <a:off x="347472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218A"/>
            </a:solidFill>
            <a:prstDash val="solid"/>
          </a:ln>
        </p:spPr>
      </p:sp>
      <p:sp>
        <p:nvSpPr>
          <p:cNvPr id="9" name="Propósito de compra texto 2"/>
          <p:cNvSpPr txBox="1"/>
          <p:nvPr/>
        </p:nvSpPr>
        <p:spPr>
          <a:xfrm>
            <a:off x="347472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Retrofit / arquitetura</a:t>
            </a:r>
            <a:endParaRPr lang="en-US" sz="1400" dirty="0"/>
          </a:p>
        </p:txBody>
      </p:sp>
      <p:sp>
        <p:nvSpPr>
          <p:cNvPr id="10" name="Propósito de compra 3"/>
          <p:cNvSpPr/>
          <p:nvPr/>
        </p:nvSpPr>
        <p:spPr>
          <a:xfrm>
            <a:off x="612648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218A"/>
            </a:solidFill>
            <a:prstDash val="solid"/>
          </a:ln>
        </p:spPr>
      </p:sp>
      <p:sp>
        <p:nvSpPr>
          <p:cNvPr id="11" name="Propósito de compra texto 3"/>
          <p:cNvSpPr txBox="1"/>
          <p:nvPr/>
        </p:nvSpPr>
        <p:spPr>
          <a:xfrm>
            <a:off x="612648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Experiência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Imagine o seu espaço</a:t>
            </a:r>
            <a:endParaRPr lang="en-US" sz="3200" dirty="0"/>
          </a:p>
        </p:txBody>
      </p:sp>
      <p:sp>
        <p:nvSpPr>
          <p:cNvPr id="3" name="História"/>
          <p:cNvSpPr txBox="1"/>
          <p:nvPr/>
        </p:nvSpPr>
        <p:spPr>
          <a:xfrm>
            <a:off x="548640" y="16916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Visitante entra no stand, o painel abre a vista do 20º andar ao pôr do sol, depois a área de lazer com as crianças na piscina. Ele não vê uma planta; ele vê a vida dele.</a:t>
            </a:r>
            <a:endParaRPr lang="en-US" sz="1800" dirty="0"/>
          </a:p>
        </p:txBody>
      </p:sp>
      <p:sp>
        <p:nvSpPr>
          <p:cNvPr id="4" name="Frase de efeito"/>
          <p:cNvSpPr txBox="1"/>
          <p:nvPr/>
        </p:nvSpPr>
        <p:spPr>
          <a:xfrm>
            <a:off x="54864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Ninguém compra metro quadrado. Compra o futuro que cabe nele.</a:t>
            </a:r>
            <a:endParaRPr lang="en-US" sz="2000" dirty="0"/>
          </a:p>
        </p:txBody>
      </p:sp>
      <p:sp>
        <p:nvSpPr>
          <p:cNvPr id="5" name="Área da simulação"/>
          <p:cNvSpPr/>
          <p:nvPr/>
        </p:nvSpPr>
        <p:spPr>
          <a:xfrm>
            <a:off x="5943600" y="1600200"/>
            <a:ext cx="566928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6" name="Simulação círculo"/>
          <p:cNvSpPr/>
          <p:nvPr/>
        </p:nvSpPr>
        <p:spPr>
          <a:xfrm>
            <a:off x="8366760" y="274320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7" name="Simulaçã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0" y="2948940"/>
            <a:ext cx="411480" cy="411480"/>
          </a:xfrm>
          <a:prstGeom prst="rect">
            <a:avLst/>
          </a:prstGeom>
        </p:spPr>
      </p:pic>
      <p:sp>
        <p:nvSpPr>
          <p:cNvPr id="8" name="Instrução simulação"/>
          <p:cNvSpPr txBox="1"/>
          <p:nvPr/>
        </p:nvSpPr>
        <p:spPr>
          <a:xfrm>
            <a:off x="6217920" y="3749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Simulação do painel no espaço do cliente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(insira aqui o mockup antes da reunião)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Três ganhos para o seu negócio</a:t>
            </a:r>
            <a:endParaRPr lang="en-US" sz="3200" dirty="0"/>
          </a:p>
        </p:txBody>
      </p:sp>
      <p:sp>
        <p:nvSpPr>
          <p:cNvPr id="3" name="Ganho Mais receita"/>
          <p:cNvSpPr/>
          <p:nvPr/>
        </p:nvSpPr>
        <p:spPr>
          <a:xfrm>
            <a:off x="54864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Mais receita círculo"/>
          <p:cNvSpPr/>
          <p:nvPr/>
        </p:nvSpPr>
        <p:spPr>
          <a:xfrm>
            <a:off x="868680" y="1920240"/>
            <a:ext cx="868680" cy="8686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Mais recei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137410"/>
            <a:ext cx="434340" cy="434340"/>
          </a:xfrm>
          <a:prstGeom prst="rect">
            <a:avLst/>
          </a:prstGeom>
        </p:spPr>
      </p:pic>
      <p:sp>
        <p:nvSpPr>
          <p:cNvPr id="6" name="Mais receita título"/>
          <p:cNvSpPr txBox="1"/>
          <p:nvPr/>
        </p:nvSpPr>
        <p:spPr>
          <a:xfrm>
            <a:off x="86868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receita</a:t>
            </a:r>
            <a:endParaRPr lang="en-US" sz="2100" dirty="0"/>
          </a:p>
        </p:txBody>
      </p:sp>
      <p:sp>
        <p:nvSpPr>
          <p:cNvPr id="7" name="Mais receita texto"/>
          <p:cNvSpPr txBox="1"/>
          <p:nvPr/>
        </p:nvSpPr>
        <p:spPr>
          <a:xfrm>
            <a:off x="86868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Vendas mais rápidas no lançamento; o painel acompanha os próximos empreendimentos (reaproveitamento entre stands).</a:t>
            </a:r>
            <a:endParaRPr lang="en-US" sz="1500" dirty="0"/>
          </a:p>
        </p:txBody>
      </p:sp>
      <p:sp>
        <p:nvSpPr>
          <p:cNvPr id="8" name="Ganho Mais experiência"/>
          <p:cNvSpPr/>
          <p:nvPr/>
        </p:nvSpPr>
        <p:spPr>
          <a:xfrm>
            <a:off x="429768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9" name="Mais experiência círculo"/>
          <p:cNvSpPr/>
          <p:nvPr/>
        </p:nvSpPr>
        <p:spPr>
          <a:xfrm>
            <a:off x="4617720" y="1920240"/>
            <a:ext cx="868680" cy="86868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10" name="Mais experiênc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2137410"/>
            <a:ext cx="434340" cy="434340"/>
          </a:xfrm>
          <a:prstGeom prst="rect">
            <a:avLst/>
          </a:prstGeom>
        </p:spPr>
      </p:pic>
      <p:sp>
        <p:nvSpPr>
          <p:cNvPr id="11" name="Mais experiência título"/>
          <p:cNvSpPr txBox="1"/>
          <p:nvPr/>
        </p:nvSpPr>
        <p:spPr>
          <a:xfrm>
            <a:off x="461772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experiência</a:t>
            </a:r>
            <a:endParaRPr lang="en-US" sz="2100" dirty="0"/>
          </a:p>
        </p:txBody>
      </p:sp>
      <p:sp>
        <p:nvSpPr>
          <p:cNvPr id="12" name="Mais experiência texto"/>
          <p:cNvSpPr txBox="1"/>
          <p:nvPr/>
        </p:nvSpPr>
        <p:spPr>
          <a:xfrm>
            <a:off x="461772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Stand com padrão de alto luxo, coerente com o ticket do imóvel; tapume digital que vira mídia na obra.</a:t>
            </a:r>
            <a:endParaRPr lang="en-US" sz="1500" dirty="0"/>
          </a:p>
        </p:txBody>
      </p:sp>
      <p:sp>
        <p:nvSpPr>
          <p:cNvPr id="13" name="Ganho Menos custo"/>
          <p:cNvSpPr/>
          <p:nvPr/>
        </p:nvSpPr>
        <p:spPr>
          <a:xfrm>
            <a:off x="804672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4" name="Menos custo círculo"/>
          <p:cNvSpPr/>
          <p:nvPr/>
        </p:nvSpPr>
        <p:spPr>
          <a:xfrm>
            <a:off x="8366760" y="1920240"/>
            <a:ext cx="868680" cy="8686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5" name="Menos cust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30" y="2137410"/>
            <a:ext cx="434340" cy="434340"/>
          </a:xfrm>
          <a:prstGeom prst="rect">
            <a:avLst/>
          </a:prstGeom>
        </p:spPr>
      </p:pic>
      <p:sp>
        <p:nvSpPr>
          <p:cNvPr id="16" name="Menos custo título"/>
          <p:cNvSpPr txBox="1"/>
          <p:nvPr/>
        </p:nvSpPr>
        <p:spPr>
          <a:xfrm>
            <a:off x="836676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Menos custo</a:t>
            </a:r>
            <a:endParaRPr lang="en-US" sz="2100" dirty="0"/>
          </a:p>
        </p:txBody>
      </p:sp>
      <p:sp>
        <p:nvSpPr>
          <p:cNvPr id="17" name="Menos custo texto"/>
          <p:cNvSpPr txBox="1"/>
          <p:nvPr/>
        </p:nvSpPr>
        <p:spPr>
          <a:xfrm>
            <a:off x="836676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Atualização de tabela, unidades disponíveis e condições em tempo real; locação para stands temporários.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solução para o seu espaço</a:t>
            </a:r>
            <a:endParaRPr lang="en-US" sz="3200" dirty="0"/>
          </a:p>
        </p:txBody>
      </p:sp>
      <p:sp>
        <p:nvSpPr>
          <p:cNvPr id="3" name="Título solução"/>
          <p:cNvSpPr txBox="1"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 que propomos</a:t>
            </a:r>
            <a:endParaRPr lang="en-US" sz="2000" dirty="0"/>
          </a:p>
        </p:txBody>
      </p:sp>
      <p:sp>
        <p:nvSpPr>
          <p:cNvPr id="4" name="Item 1 círculo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5" name="Item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2217420"/>
            <a:ext cx="228600" cy="228600"/>
          </a:xfrm>
          <a:prstGeom prst="rect">
            <a:avLst/>
          </a:prstGeom>
        </p:spPr>
      </p:pic>
      <p:sp>
        <p:nvSpPr>
          <p:cNvPr id="6" name="Solução 1"/>
          <p:cNvSpPr txBox="1"/>
          <p:nvPr/>
        </p:nvSpPr>
        <p:spPr>
          <a:xfrm>
            <a:off x="1188720" y="2057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Painel imersivo no stand</a:t>
            </a:r>
            <a:endParaRPr lang="en-US" sz="1500" dirty="0"/>
          </a:p>
        </p:txBody>
      </p:sp>
      <p:sp>
        <p:nvSpPr>
          <p:cNvPr id="7" name="Item 2 círculo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8" name="Item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994660"/>
            <a:ext cx="228600" cy="228600"/>
          </a:xfrm>
          <a:prstGeom prst="rect">
            <a:avLst/>
          </a:prstGeom>
        </p:spPr>
      </p:pic>
      <p:sp>
        <p:nvSpPr>
          <p:cNvPr id="9" name="Solução 2"/>
          <p:cNvSpPr txBox="1"/>
          <p:nvPr/>
        </p:nvSpPr>
        <p:spPr>
          <a:xfrm>
            <a:off x="1188720" y="2834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LED em tapume de obra</a:t>
            </a:r>
            <a:endParaRPr lang="en-US" sz="1500" dirty="0"/>
          </a:p>
        </p:txBody>
      </p:sp>
      <p:sp>
        <p:nvSpPr>
          <p:cNvPr id="10" name="Item 3 círculo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1" name="Item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3771900"/>
            <a:ext cx="228600" cy="228600"/>
          </a:xfrm>
          <a:prstGeom prst="rect">
            <a:avLst/>
          </a:prstGeom>
        </p:spPr>
      </p:pic>
      <p:sp>
        <p:nvSpPr>
          <p:cNvPr id="12" name="Solução 3"/>
          <p:cNvSpPr txBox="1"/>
          <p:nvPr/>
        </p:nvSpPr>
        <p:spPr>
          <a:xfrm>
            <a:off x="1188720" y="3611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Fachada do stand</a:t>
            </a:r>
            <a:endParaRPr lang="en-US" sz="1500" dirty="0"/>
          </a:p>
        </p:txBody>
      </p:sp>
      <p:sp>
        <p:nvSpPr>
          <p:cNvPr id="13" name="Item 4 círculo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4" name="Item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4549140"/>
            <a:ext cx="228600" cy="228600"/>
          </a:xfrm>
          <a:prstGeom prst="rect">
            <a:avLst/>
          </a:prstGeom>
        </p:spPr>
      </p:pic>
      <p:sp>
        <p:nvSpPr>
          <p:cNvPr id="15" name="Solução 4"/>
          <p:cNvSpPr txBox="1"/>
          <p:nvPr/>
        </p:nvSpPr>
        <p:spPr>
          <a:xfrm>
            <a:off x="1188720" y="4389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Locação para lançamentos</a:t>
            </a:r>
            <a:endParaRPr lang="en-US" sz="1500" dirty="0"/>
          </a:p>
        </p:txBody>
      </p:sp>
      <p:sp>
        <p:nvSpPr>
          <p:cNvPr id="16" name="Card indicadores"/>
          <p:cNvSpPr/>
          <p:nvPr/>
        </p:nvSpPr>
        <p:spPr>
          <a:xfrm>
            <a:off x="6583680" y="1554480"/>
            <a:ext cx="502920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/>
        </p:spPr>
      </p:sp>
      <p:sp>
        <p:nvSpPr>
          <p:cNvPr id="17" name="Título indicadores"/>
          <p:cNvSpPr txBox="1"/>
          <p:nvPr/>
        </p:nvSpPr>
        <p:spPr>
          <a:xfrm>
            <a:off x="694944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 que você vai medir</a:t>
            </a:r>
            <a:endParaRPr lang="en-US" sz="2000" dirty="0"/>
          </a:p>
        </p:txBody>
      </p:sp>
      <p:sp>
        <p:nvSpPr>
          <p:cNvPr id="18" name="Indicadores"/>
          <p:cNvSpPr txBox="1"/>
          <p:nvPr/>
        </p:nvSpPr>
        <p:spPr>
          <a:xfrm>
            <a:off x="6949440" y="2423160"/>
            <a:ext cx="4389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Velocidade de vendas (unidades/mês)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Conversão de visita em proposta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Custo de stand por unidade vendida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Projeto em destaque</a:t>
            </a:r>
            <a:endParaRPr lang="en-US" sz="3200" dirty="0"/>
          </a:p>
        </p:txBody>
      </p:sp>
      <p:sp>
        <p:nvSpPr>
          <p:cNvPr id="3" name="Card Boulevard"/>
          <p:cNvSpPr/>
          <p:nvPr/>
        </p:nvSpPr>
        <p:spPr>
          <a:xfrm>
            <a:off x="548640" y="1600200"/>
            <a:ext cx="5486400" cy="438912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sp>
        <p:nvSpPr>
          <p:cNvPr id="4" name="Boulevard título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Boulevard.Live</a:t>
            </a:r>
            <a:endParaRPr lang="en-US" sz="1800" dirty="0"/>
          </a:p>
        </p:txBody>
      </p:sp>
      <p:sp>
        <p:nvSpPr>
          <p:cNvPr id="5" name="Boulevard número"/>
          <p:cNvSpPr txBox="1"/>
          <p:nvPr/>
        </p:nvSpPr>
        <p:spPr>
          <a:xfrm>
            <a:off x="914400" y="24231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1.125 m²</a:t>
            </a:r>
            <a:endParaRPr lang="en-US" sz="6000" dirty="0"/>
          </a:p>
        </p:txBody>
      </p:sp>
      <p:sp>
        <p:nvSpPr>
          <p:cNvPr id="6" name="Boulevard texto"/>
          <p:cNvSpPr txBox="1"/>
          <p:nvPr/>
        </p:nvSpPr>
        <p:spPr>
          <a:xfrm>
            <a:off x="914400" y="37033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 maior painel de LED da América Latina, em Brasília. Inspirado na Times Square e instalado no ponto de maior fluxo de pessoas e veículos da cidade.</a:t>
            </a:r>
            <a:endParaRPr lang="en-US" sz="1600" dirty="0"/>
          </a:p>
        </p:txBody>
      </p:sp>
      <p:sp>
        <p:nvSpPr>
          <p:cNvPr id="7" name="Área case do segmento"/>
          <p:cNvSpPr/>
          <p:nvPr/>
        </p:nvSpPr>
        <p:spPr>
          <a:xfrm>
            <a:off x="6309360" y="1600200"/>
            <a:ext cx="530352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8" name="Case título"/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Case do seu segmento</a:t>
            </a:r>
            <a:endParaRPr lang="en-US" sz="1800" dirty="0"/>
          </a:p>
        </p:txBody>
      </p:sp>
      <p:sp>
        <p:nvSpPr>
          <p:cNvPr id="9" name="Case conteúdo"/>
          <p:cNvSpPr txBox="1"/>
          <p:nvPr/>
        </p:nvSpPr>
        <p:spPr>
          <a:xfrm>
            <a:off x="6675120" y="25146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[Nome do cliente do segmento]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[Desafio em uma frase]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[O que a LedWave entregou]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[Resultado]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Ninguém compra metro quadrado. Compra o futuro que cabe nele.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Vamos fazer o seu próximo lançamento ser visto antes de ser construído?</a:t>
            </a:r>
            <a:endParaRPr lang="en-US" sz="2000" dirty="0"/>
          </a:p>
        </p:txBody>
      </p:sp>
      <p:sp>
        <p:nvSpPr>
          <p:cNvPr id="4" name="Card próximo passo"/>
          <p:cNvSpPr/>
          <p:nvPr/>
        </p:nvSpPr>
        <p:spPr>
          <a:xfrm>
            <a:off x="8046720" y="2103120"/>
            <a:ext cx="3566160" cy="2971800"/>
          </a:xfrm>
          <a:prstGeom prst="roundRect">
            <a:avLst>
              <a:gd name="adj" fmla="val 3692"/>
            </a:avLst>
          </a:prstGeom>
          <a:solidFill>
            <a:schemeClr val="accent1"/>
          </a:solidFill>
          <a:ln/>
        </p:spPr>
      </p:sp>
      <p:sp>
        <p:nvSpPr>
          <p:cNvPr id="5" name="Próximo passo título"/>
          <p:cNvSpPr txBox="1"/>
          <p:nvPr/>
        </p:nvSpPr>
        <p:spPr>
          <a:xfrm>
            <a:off x="836676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Próximo passo</a:t>
            </a:r>
            <a:endParaRPr lang="en-US" sz="1800" dirty="0"/>
          </a:p>
        </p:txBody>
      </p:sp>
      <p:sp>
        <p:nvSpPr>
          <p:cNvPr id="6" name="Próximo passo texto"/>
          <p:cNvSpPr txBox="1"/>
          <p:nvPr/>
        </p:nvSpPr>
        <p:spPr>
          <a:xfrm>
            <a:off x="8366760" y="283464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Apresentar conceito imersivo para o próximo lançamento + comparativo compra x locação.</a:t>
            </a:r>
            <a:endParaRPr lang="en-US" sz="1500" dirty="0"/>
          </a:p>
        </p:txBody>
      </p:sp>
      <p:sp>
        <p:nvSpPr>
          <p:cNvPr id="7" name="Contato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[Nome do executivo]  ·  [Telefone / WhatsApp]  ·  [E-mail]  ·  ledwave.com.br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dWave">
  <a:themeElements>
    <a:clrScheme name="LedWave">
      <a:dk1>
        <a:srgbClr val="140C2E"/>
      </a:dk1>
      <a:lt1>
        <a:srgbClr val="FFFFFF"/>
      </a:lt1>
      <a:dk2>
        <a:srgbClr val="2B1A63"/>
      </a:dk2>
      <a:lt2>
        <a:srgbClr val="F3F0FA"/>
      </a:lt2>
      <a:accent1>
        <a:srgbClr val="E0218A"/>
      </a:accent1>
      <a:accent2>
        <a:srgbClr val="4F6BFF"/>
      </a:accent2>
      <a:accent3>
        <a:srgbClr val="8B5CF6"/>
      </a:accent3>
      <a:accent4>
        <a:srgbClr val="22C3A6"/>
      </a:accent4>
      <a:accent5>
        <a:srgbClr val="FFB020"/>
      </a:accent5>
      <a:accent6>
        <a:srgbClr val="6B6385"/>
      </a:accent6>
      <a:hlink>
        <a:srgbClr val="4F6BFF"/>
      </a:hlink>
      <a:folHlink>
        <a:srgbClr val="8B5CF6"/>
      </a:folHlink>
    </a:clrScheme>
    <a:fontScheme name="LedWav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LedWave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LedWave | Construtoras e Stands de Vendas</dc:title>
  <dc:subject>PptxGenJS Presentation</dc:subject>
  <dc:creator>LedWave</dc:creator>
  <cp:lastModifiedBy>LedWave</cp:lastModifiedBy>
  <cp:revision>1</cp:revision>
  <dcterms:created xsi:type="dcterms:W3CDTF">2026-10-19T17:15:11Z</dcterms:created>
  <dcterms:modified xsi:type="dcterms:W3CDTF">2026-10-19T17:15:11Z</dcterms:modified>
</cp:coreProperties>
</file>