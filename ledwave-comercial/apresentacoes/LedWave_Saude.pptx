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f8a7553-8dae-21ca-32bc-1a190ce9119a}">
          <p14:sldIdLst>
            <p14:sldId id="256"/>
            <p14:sldId id="257"/>
          </p14:sldIdLst>
        </p14:section>
        <p14:section name="O seu cenário" id="{39e3d7a6-7f60-d824-9c04-992261453484}">
          <p14:sldIdLst>
            <p14:sldId id="258"/>
          </p14:sldIdLst>
        </p14:section>
        <p14:section name="LedWave" id="{86a09664-1a03-ffc3-787d-99e2ab6b53e9}">
          <p14:sldIdLst>
            <p14:sldId id="259"/>
            <p14:sldId id="260"/>
            <p14:sldId id="261"/>
            <p14:sldId id="262"/>
          </p14:sldIdLst>
        </p14:section>
        <p14:section name="Por que digitalizar" id="{d82af548-2378-eaa4-60f6-66b729708831}">
          <p14:sldIdLst>
            <p14:sldId id="263"/>
            <p14:sldId id="264"/>
          </p14:sldIdLst>
        </p14:section>
        <p14:section name="Ganhos e solução" id="{1d04d5e7-f076-871e-9214-527b43f66b92}">
          <p14:sldIdLst>
            <p14:sldId id="265"/>
            <p14:sldId id="266"/>
            <p14:sldId id="267"/>
          </p14:sldIdLst>
        </p14:section>
        <p14:section name="Próximo passo" id="{989dcad8-0e40-e24a-4169-fb04e3116094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[Abertura · ~1 min] Cumprimente, combine o objetivo e o tempo da reunião (15 min) e peça permissão: "Posso começar com uma pergunta?"
Decisor típico: Diretor Administrativo, Diretor de Marketing, Gerente de Hotelaria Hospitalar.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[Gancho · ~1 min] Leia a pergunta, olhe nos olhos e espere 3 segundos. Deixe o cliente responder e anote as palavras dele.
Se ele responder, aprofunde com: "Quantas unidades, fluxo diário de pacientes e tempo médio de espera?"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 · ~2 min] Não leia o slide. Pergunte antes de mostrar:
Situação: Quantas unidades, fluxo diário de pacientes e tempo médio de espera?
Problema: Como os pacientes avaliam a recepção? A sinalização e a chamada são claras?
Implicação: O que a ansiedade na espera faz com o NPS e as avaliações online? Quantos serviços o paciente desconhece?
Use os números que o cliente der no slide de fechamento.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[LedWave · ~1,5 min] O cliente é o herói; a LedWave é o guia que já fez isso antes. Conte a origem em 20 segundos e siga.
Frase-ponte: "E é por isso que estamos aqui."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[Números · ~1 min] Escolha os 2 números que mais conversam com Saúde (Hospitais, Clínicas e Laboratórios) e fale só deles. Ex.: para mídia e grandes formatos, o Boulevard.Live; para redes, as 4 bases e a fábrica própria.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completa · ~1 min] Mensagem central: "Não vendemos painel. Entregamos o resultado que o painel gera."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social · ~1 min] Se houver cliente do mesmo segmento, troque um dos nomes por ele e conte o resultado em uma frase. Apague a linha de instrução antes de enviar 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[Propósito · ~1 min] Fale devagar. Este é o porquê da conversa. Pausa de 3 segundos no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[História · ~1,5 min] Conte a história como cena, no presente. Se tiver o mockup do espaço do cliente, este é o momento de mostrar: antes e depois.
Frase de efeito: "Tecnologia que cuida começa na recepção."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[Ganhos · ~2,5 min] Um ganho por vez. Para cada um, conecte com o que o cliente disse na descoberta: "Você comentou que... é aqui que isso muda."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[Solução · ~1,5 min] Mostre só o que faz sentido para o espaço do cliente; apague o resto.
Objeção provável: Ambiente de saúde tem restrições técnicas e normativas.
Resposta: Dimensionamos brilho, instalação e conteúdo para o ambiente, seguindo as normas e as orientações da equipe de engenharia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[Prova · ~1 min] Preencha o case do segmento com um cliente real antes da reunião. Sem case do segmento, apague o card da direita e fale só do Boulevard.Live.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[Fechamento · ~1,5 min] Termine no ponto alto: repita a frase de efeito e proponha o próximo passo com duas opções de data ("quinta ou sexta?"). Nunca termine com "alguma dúvida?".
Pergunta de necessidade: Uma recepção que informa, acalma e divulga serviços ajudaria nas metas de satisfação e de receita?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40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9D2F0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rgbClr val="2B1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LedWave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385"/>
                </a:solidFill>
              </a:rPr>
              <a:t>LedWave  ·  Saúde (Hospitais, Clínicas e Laboratórios)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1031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Saúde (Hospitais, Clínicas e Laboratórios)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39776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Tecnologia que cuida começa na recepção.</a:t>
            </a:r>
            <a:endParaRPr lang="en-US" sz="2000" dirty="0"/>
          </a:p>
        </p:txBody>
      </p:sp>
      <p:sp>
        <p:nvSpPr>
          <p:cNvPr id="4" name="Cliente e data"/>
          <p:cNvSpPr txBox="1"/>
          <p:nvPr/>
        </p:nvSpPr>
        <p:spPr>
          <a:xfrm>
            <a:off x="548640" y="6035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Proposta para [Nome do cliente]  ·  [Data]</a:t>
            </a:r>
            <a:endParaRPr lang="en-US" sz="1400" dirty="0"/>
          </a:p>
        </p:txBody>
      </p:sp>
      <p:sp>
        <p:nvSpPr>
          <p:cNvPr id="5" name="Ícone do nicho círculo"/>
          <p:cNvSpPr/>
          <p:nvPr/>
        </p:nvSpPr>
        <p:spPr>
          <a:xfrm>
            <a:off x="8412480" y="1737360"/>
            <a:ext cx="3017520" cy="301752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6" name="Ícone do nich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6860" y="249174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Uma pergunta para começar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Quanto tempo o seu paciente espera, e o que ele sente nesse tempo?</a:t>
            </a:r>
            <a:endParaRPr lang="en-US" sz="3200" dirty="0"/>
          </a:p>
        </p:txBody>
      </p:sp>
      <p:sp>
        <p:nvSpPr>
          <p:cNvPr id="4" name="Pergunta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ergun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 desafio de hoje</a:t>
            </a:r>
            <a:endParaRPr lang="en-US" sz="3200" dirty="0"/>
          </a:p>
        </p:txBody>
      </p:sp>
      <p:sp>
        <p:nvSpPr>
          <p:cNvPr id="3" name="Card Como é hoje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4" name="Como é hoje círculo"/>
          <p:cNvSpPr/>
          <p:nvPr/>
        </p:nvSpPr>
        <p:spPr>
          <a:xfrm>
            <a:off x="914400" y="1920240"/>
            <a:ext cx="822960" cy="82296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5" name="Como é hoj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125980"/>
            <a:ext cx="411480" cy="411480"/>
          </a:xfrm>
          <a:prstGeom prst="rect">
            <a:avLst/>
          </a:prstGeom>
        </p:spPr>
      </p:pic>
      <p:sp>
        <p:nvSpPr>
          <p:cNvPr id="6" name="Como é hoje título"/>
          <p:cNvSpPr txBox="1"/>
          <p:nvPr/>
        </p:nvSpPr>
        <p:spPr>
          <a:xfrm>
            <a:off x="91440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Como é hoje</a:t>
            </a:r>
            <a:endParaRPr lang="en-US" sz="2200" dirty="0"/>
          </a:p>
        </p:txBody>
      </p:sp>
      <p:sp>
        <p:nvSpPr>
          <p:cNvPr id="7" name="Como é hoje texto"/>
          <p:cNvSpPr txBox="1"/>
          <p:nvPr/>
        </p:nvSpPr>
        <p:spPr>
          <a:xfrm>
            <a:off x="91440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Sala de espera ansiosa, informação desencontrada e marca que precisa transmitir confiança e tecnologia.</a:t>
            </a:r>
            <a:endParaRPr lang="en-US" sz="1700" dirty="0"/>
          </a:p>
        </p:txBody>
      </p:sp>
      <p:sp>
        <p:nvSpPr>
          <p:cNvPr id="8" name="Card O custo de esperar"/>
          <p:cNvSpPr/>
          <p:nvPr/>
        </p:nvSpPr>
        <p:spPr>
          <a:xfrm>
            <a:off x="6217920" y="1600200"/>
            <a:ext cx="53949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9" name="O custo de esperar círculo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O custo de esperar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2125980"/>
            <a:ext cx="411480" cy="411480"/>
          </a:xfrm>
          <a:prstGeom prst="rect">
            <a:avLst/>
          </a:prstGeom>
        </p:spPr>
      </p:pic>
      <p:sp>
        <p:nvSpPr>
          <p:cNvPr id="11" name="O custo de esperar título"/>
          <p:cNvSpPr txBox="1"/>
          <p:nvPr/>
        </p:nvSpPr>
        <p:spPr>
          <a:xfrm>
            <a:off x="658368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O custo de esperar</a:t>
            </a:r>
            <a:endParaRPr lang="en-US" sz="2200" dirty="0"/>
          </a:p>
        </p:txBody>
      </p:sp>
      <p:sp>
        <p:nvSpPr>
          <p:cNvPr id="12" name="O custo de esperar texto"/>
          <p:cNvSpPr txBox="1"/>
          <p:nvPr/>
        </p:nvSpPr>
        <p:spPr>
          <a:xfrm>
            <a:off x="6583680" y="347472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Paciente ansioso tem percepção pior do atendimento; percepção ruim vira avaliação negativa e perda de convênio/particular.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é a LedWave</a:t>
            </a:r>
            <a:endParaRPr lang="en-US" sz="3200" dirty="0"/>
          </a:p>
        </p:txBody>
      </p:sp>
      <p:sp>
        <p:nvSpPr>
          <p:cNvPr id="3" name="História LedWave"/>
          <p:cNvSpPr txBox="1"/>
          <p:nvPr/>
        </p:nvSpPr>
        <p:spPr>
          <a:xfrm>
            <a:off x="548640" y="164592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De uma ideia em Xangai à liderança no Brasil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Uma viagem a Xangai mostrou ao nosso fundador, Tiago Brito, como as grandes capitais usam o LED para encantar pessoas. Com R$ 12 mil, essa ideia virou fábrica em Goiânia.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Hoje fabricamos, instalamos e operamos painéis de LED para marcas de todo o país, com unidades no Brasil e nos Estados Unidos.</a:t>
            </a:r>
            <a:endParaRPr lang="en-US" sz="1600" dirty="0"/>
          </a:p>
        </p:txBody>
      </p:sp>
      <p:sp>
        <p:nvSpPr>
          <p:cNvPr id="4" name="Linha do tempo"/>
          <p:cNvSpPr/>
          <p:nvPr/>
        </p:nvSpPr>
        <p:spPr>
          <a:xfrm>
            <a:off x="6903720" y="1920240"/>
            <a:ext cx="0" cy="3657600"/>
          </a:xfrm>
          <a:prstGeom prst="line">
            <a:avLst/>
          </a:prstGeom>
          <a:noFill/>
          <a:ln w="38100">
            <a:solidFill>
              <a:srgbClr val="F3F0FA"/>
            </a:solidFill>
            <a:prstDash val="solid"/>
          </a:ln>
        </p:spPr>
      </p:sp>
      <p:sp>
        <p:nvSpPr>
          <p:cNvPr id="5" name="Marco 1"/>
          <p:cNvSpPr/>
          <p:nvPr/>
        </p:nvSpPr>
        <p:spPr>
          <a:xfrm>
            <a:off x="6739128" y="1810512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Marco ano 1"/>
          <p:cNvSpPr txBox="1"/>
          <p:nvPr/>
        </p:nvSpPr>
        <p:spPr>
          <a:xfrm>
            <a:off x="7269480" y="1691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2010/11</a:t>
            </a:r>
            <a:endParaRPr lang="en-US" sz="1800" dirty="0"/>
          </a:p>
        </p:txBody>
      </p:sp>
      <p:sp>
        <p:nvSpPr>
          <p:cNvPr id="7" name="Marco texto 1"/>
          <p:cNvSpPr txBox="1"/>
          <p:nvPr/>
        </p:nvSpPr>
        <p:spPr>
          <a:xfrm>
            <a:off x="7269480" y="20756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Fundação em Goiânia, com fábrica própria</a:t>
            </a:r>
            <a:endParaRPr lang="en-US" sz="1400" dirty="0"/>
          </a:p>
        </p:txBody>
      </p:sp>
      <p:sp>
        <p:nvSpPr>
          <p:cNvPr id="8" name="Marco 2"/>
          <p:cNvSpPr/>
          <p:nvPr/>
        </p:nvSpPr>
        <p:spPr>
          <a:xfrm>
            <a:off x="6739128" y="2889504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Marco ano 2"/>
          <p:cNvSpPr txBox="1"/>
          <p:nvPr/>
        </p:nvSpPr>
        <p:spPr>
          <a:xfrm>
            <a:off x="7269480" y="2770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 anos</a:t>
            </a:r>
            <a:endParaRPr lang="en-US" sz="1800" dirty="0"/>
          </a:p>
        </p:txBody>
      </p:sp>
      <p:sp>
        <p:nvSpPr>
          <p:cNvPr id="10" name="Marco texto 2"/>
          <p:cNvSpPr txBox="1"/>
          <p:nvPr/>
        </p:nvSpPr>
        <p:spPr>
          <a:xfrm>
            <a:off x="7269480" y="31546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Seguidos no ranking Exame Negócios em Expansão</a:t>
            </a:r>
            <a:endParaRPr lang="en-US" sz="1400" dirty="0"/>
          </a:p>
        </p:txBody>
      </p:sp>
      <p:sp>
        <p:nvSpPr>
          <p:cNvPr id="11" name="Marco 3"/>
          <p:cNvSpPr/>
          <p:nvPr/>
        </p:nvSpPr>
        <p:spPr>
          <a:xfrm>
            <a:off x="6739128" y="3968496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Marco ano 3"/>
          <p:cNvSpPr txBox="1"/>
          <p:nvPr/>
        </p:nvSpPr>
        <p:spPr>
          <a:xfrm>
            <a:off x="7269480" y="384962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2025</a:t>
            </a:r>
            <a:endParaRPr lang="en-US" sz="1800" dirty="0"/>
          </a:p>
        </p:txBody>
      </p:sp>
      <p:sp>
        <p:nvSpPr>
          <p:cNvPr id="13" name="Marco texto 3"/>
          <p:cNvSpPr txBox="1"/>
          <p:nvPr/>
        </p:nvSpPr>
        <p:spPr>
          <a:xfrm>
            <a:off x="7269480" y="42336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1ª colocada do segmento de painéis de LED no ranking</a:t>
            </a:r>
            <a:endParaRPr lang="en-US" sz="1400" dirty="0"/>
          </a:p>
        </p:txBody>
      </p:sp>
      <p:sp>
        <p:nvSpPr>
          <p:cNvPr id="14" name="Marco 4"/>
          <p:cNvSpPr/>
          <p:nvPr/>
        </p:nvSpPr>
        <p:spPr>
          <a:xfrm>
            <a:off x="6739128" y="5047488"/>
            <a:ext cx="329184" cy="329184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Marco ano 4"/>
          <p:cNvSpPr txBox="1"/>
          <p:nvPr/>
        </p:nvSpPr>
        <p:spPr>
          <a:xfrm>
            <a:off x="7269480" y="492861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2026</a:t>
            </a:r>
            <a:endParaRPr lang="en-US" sz="1800" dirty="0"/>
          </a:p>
        </p:txBody>
      </p:sp>
      <p:sp>
        <p:nvSpPr>
          <p:cNvPr id="16" name="Marco texto 4"/>
          <p:cNvSpPr txBox="1"/>
          <p:nvPr/>
        </p:nvSpPr>
        <p:spPr>
          <a:xfrm>
            <a:off x="7269480" y="53126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Única empresa brasileira de LED com estande próprio na NRF, em Nova York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LedWave em números</a:t>
            </a:r>
            <a:endParaRPr lang="en-US" sz="3200" dirty="0"/>
          </a:p>
        </p:txBody>
      </p:sp>
      <p:sp>
        <p:nvSpPr>
          <p:cNvPr id="3" name="Número 1"/>
          <p:cNvSpPr/>
          <p:nvPr/>
        </p:nvSpPr>
        <p:spPr>
          <a:xfrm>
            <a:off x="548640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4" name="Número valor 1"/>
          <p:cNvSpPr txBox="1"/>
          <p:nvPr/>
        </p:nvSpPr>
        <p:spPr>
          <a:xfrm>
            <a:off x="822960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1.125 m²</a:t>
            </a:r>
            <a:endParaRPr lang="en-US" sz="4000" dirty="0"/>
          </a:p>
        </p:txBody>
      </p:sp>
      <p:sp>
        <p:nvSpPr>
          <p:cNvPr id="5" name="Número legenda 1"/>
          <p:cNvSpPr txBox="1"/>
          <p:nvPr/>
        </p:nvSpPr>
        <p:spPr>
          <a:xfrm>
            <a:off x="822960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maior painel de LED da América Latina (Boulevard.Live, Brasília)</a:t>
            </a:r>
            <a:endParaRPr lang="en-US" sz="1500" dirty="0"/>
          </a:p>
        </p:txBody>
      </p:sp>
      <p:sp>
        <p:nvSpPr>
          <p:cNvPr id="6" name="Número 2"/>
          <p:cNvSpPr/>
          <p:nvPr/>
        </p:nvSpPr>
        <p:spPr>
          <a:xfrm>
            <a:off x="3364992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7" name="Número valor 2"/>
          <p:cNvSpPr txBox="1"/>
          <p:nvPr/>
        </p:nvSpPr>
        <p:spPr>
          <a:xfrm>
            <a:off x="3639312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Nº 1</a:t>
            </a:r>
            <a:endParaRPr lang="en-US" sz="4000" dirty="0"/>
          </a:p>
        </p:txBody>
      </p:sp>
      <p:sp>
        <p:nvSpPr>
          <p:cNvPr id="8" name="Número legenda 2"/>
          <p:cNvSpPr txBox="1"/>
          <p:nvPr/>
        </p:nvSpPr>
        <p:spPr>
          <a:xfrm>
            <a:off x="3639312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 segmento de painéis de LED no ranking Exame Negócios em Expansão 2025</a:t>
            </a:r>
            <a:endParaRPr lang="en-US" sz="1500" dirty="0"/>
          </a:p>
        </p:txBody>
      </p:sp>
      <p:sp>
        <p:nvSpPr>
          <p:cNvPr id="9" name="Número 3"/>
          <p:cNvSpPr/>
          <p:nvPr/>
        </p:nvSpPr>
        <p:spPr>
          <a:xfrm>
            <a:off x="6181344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/>
        </p:spPr>
      </p:sp>
      <p:sp>
        <p:nvSpPr>
          <p:cNvPr id="10" name="Número valor 3"/>
          <p:cNvSpPr txBox="1"/>
          <p:nvPr/>
        </p:nvSpPr>
        <p:spPr>
          <a:xfrm>
            <a:off x="6455664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4 anos</a:t>
            </a:r>
            <a:endParaRPr lang="en-US" sz="4000" dirty="0"/>
          </a:p>
        </p:txBody>
      </p:sp>
      <p:sp>
        <p:nvSpPr>
          <p:cNvPr id="11" name="Número legenda 3"/>
          <p:cNvSpPr txBox="1"/>
          <p:nvPr/>
        </p:nvSpPr>
        <p:spPr>
          <a:xfrm>
            <a:off x="6455664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seguidos entre as empresas que mais crescem no Brasil (Exame)</a:t>
            </a:r>
            <a:endParaRPr lang="en-US" sz="1500" dirty="0"/>
          </a:p>
        </p:txBody>
      </p:sp>
      <p:sp>
        <p:nvSpPr>
          <p:cNvPr id="12" name="Número 4"/>
          <p:cNvSpPr/>
          <p:nvPr/>
        </p:nvSpPr>
        <p:spPr>
          <a:xfrm>
            <a:off x="8997696" y="1737360"/>
            <a:ext cx="2606040" cy="38404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3" name="Número valor 4"/>
          <p:cNvSpPr txBox="1"/>
          <p:nvPr/>
        </p:nvSpPr>
        <p:spPr>
          <a:xfrm>
            <a:off x="9272016" y="21031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 bases</a:t>
            </a:r>
            <a:endParaRPr lang="en-US" sz="4000" dirty="0"/>
          </a:p>
        </p:txBody>
      </p:sp>
      <p:sp>
        <p:nvSpPr>
          <p:cNvPr id="14" name="Número legenda 4"/>
          <p:cNvSpPr txBox="1"/>
          <p:nvPr/>
        </p:nvSpPr>
        <p:spPr>
          <a:xfrm>
            <a:off x="9272016" y="33375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Goiânia (sede e fábrica), São Paulo, Brasília e Orlando (EUA)</a:t>
            </a:r>
            <a:endParaRPr lang="en-US" sz="15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</a:rPr>
              <a:t>Ranking Exame Negócios em Expansão com dados auditados pela PwC.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Solução completa, do projeto ao resultado</a:t>
            </a:r>
            <a:endParaRPr lang="en-US" sz="3200" dirty="0"/>
          </a:p>
        </p:txBody>
      </p:sp>
      <p:sp>
        <p:nvSpPr>
          <p:cNvPr id="3" name="Diagnóstico e projeto círculo"/>
          <p:cNvSpPr/>
          <p:nvPr/>
        </p:nvSpPr>
        <p:spPr>
          <a:xfrm>
            <a:off x="1115568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4" name="Diagnóstico e proje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057400"/>
            <a:ext cx="457200" cy="457200"/>
          </a:xfrm>
          <a:prstGeom prst="rect">
            <a:avLst/>
          </a:prstGeom>
        </p:spPr>
      </p:pic>
      <p:pic>
        <p:nvPicPr>
          <p:cNvPr id="5" name="Seta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2130552"/>
            <a:ext cx="292608" cy="292608"/>
          </a:xfrm>
          <a:prstGeom prst="rect">
            <a:avLst/>
          </a:prstGeom>
        </p:spPr>
      </p:pic>
      <p:sp>
        <p:nvSpPr>
          <p:cNvPr id="6" name="Diagnóstico e projeto título"/>
          <p:cNvSpPr txBox="1"/>
          <p:nvPr/>
        </p:nvSpPr>
        <p:spPr>
          <a:xfrm>
            <a:off x="548640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Diagnóstico e projeto</a:t>
            </a:r>
            <a:endParaRPr lang="en-US" sz="1700" dirty="0"/>
          </a:p>
        </p:txBody>
      </p:sp>
      <p:sp>
        <p:nvSpPr>
          <p:cNvPr id="7" name="Diagnóstico e projeto texto"/>
          <p:cNvSpPr txBox="1"/>
          <p:nvPr/>
        </p:nvSpPr>
        <p:spPr>
          <a:xfrm>
            <a:off x="548640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Estudo do seu espaço, do público e do objetivo</a:t>
            </a:r>
            <a:endParaRPr lang="en-US" sz="1400" dirty="0"/>
          </a:p>
        </p:txBody>
      </p:sp>
      <p:sp>
        <p:nvSpPr>
          <p:cNvPr id="8" name="Fabricação própria círculo"/>
          <p:cNvSpPr/>
          <p:nvPr/>
        </p:nvSpPr>
        <p:spPr>
          <a:xfrm>
            <a:off x="3383280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9" name="Fabricação própria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057400"/>
            <a:ext cx="457200" cy="457200"/>
          </a:xfrm>
          <a:prstGeom prst="rect">
            <a:avLst/>
          </a:prstGeom>
        </p:spPr>
      </p:pic>
      <p:pic>
        <p:nvPicPr>
          <p:cNvPr id="10" name="Seta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130552"/>
            <a:ext cx="292608" cy="292608"/>
          </a:xfrm>
          <a:prstGeom prst="rect">
            <a:avLst/>
          </a:prstGeom>
        </p:spPr>
      </p:pic>
      <p:sp>
        <p:nvSpPr>
          <p:cNvPr id="11" name="Fabricação própria título"/>
          <p:cNvSpPr txBox="1"/>
          <p:nvPr/>
        </p:nvSpPr>
        <p:spPr>
          <a:xfrm>
            <a:off x="2816352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Fabricação própria</a:t>
            </a:r>
            <a:endParaRPr lang="en-US" sz="1700" dirty="0"/>
          </a:p>
        </p:txBody>
      </p:sp>
      <p:sp>
        <p:nvSpPr>
          <p:cNvPr id="12" name="Fabricação própria texto"/>
          <p:cNvSpPr txBox="1"/>
          <p:nvPr/>
        </p:nvSpPr>
        <p:spPr>
          <a:xfrm>
            <a:off x="2816352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Linha de produção em Goiânia</a:t>
            </a:r>
            <a:endParaRPr lang="en-US" sz="1400" dirty="0"/>
          </a:p>
        </p:txBody>
      </p:sp>
      <p:sp>
        <p:nvSpPr>
          <p:cNvPr id="13" name="Instalação círculo"/>
          <p:cNvSpPr/>
          <p:nvPr/>
        </p:nvSpPr>
        <p:spPr>
          <a:xfrm>
            <a:off x="5650992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nstalação í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057400"/>
            <a:ext cx="457200" cy="457200"/>
          </a:xfrm>
          <a:prstGeom prst="rect">
            <a:avLst/>
          </a:prstGeom>
        </p:spPr>
      </p:pic>
      <p:pic>
        <p:nvPicPr>
          <p:cNvPr id="15" name="Set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2130552"/>
            <a:ext cx="292608" cy="292608"/>
          </a:xfrm>
          <a:prstGeom prst="rect">
            <a:avLst/>
          </a:prstGeom>
        </p:spPr>
      </p:pic>
      <p:sp>
        <p:nvSpPr>
          <p:cNvPr id="16" name="Instalação título"/>
          <p:cNvSpPr txBox="1"/>
          <p:nvPr/>
        </p:nvSpPr>
        <p:spPr>
          <a:xfrm>
            <a:off x="5084064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Instalação</a:t>
            </a:r>
            <a:endParaRPr lang="en-US" sz="1700" dirty="0"/>
          </a:p>
        </p:txBody>
      </p:sp>
      <p:sp>
        <p:nvSpPr>
          <p:cNvPr id="17" name="Instalação texto"/>
          <p:cNvSpPr txBox="1"/>
          <p:nvPr/>
        </p:nvSpPr>
        <p:spPr>
          <a:xfrm>
            <a:off x="5084064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Estrutura, energia e entrega com equipe técnica</a:t>
            </a:r>
            <a:endParaRPr lang="en-US" sz="1400" dirty="0"/>
          </a:p>
        </p:txBody>
      </p:sp>
      <p:sp>
        <p:nvSpPr>
          <p:cNvPr id="18" name="Conteúdo e gestão círculo"/>
          <p:cNvSpPr/>
          <p:nvPr/>
        </p:nvSpPr>
        <p:spPr>
          <a:xfrm>
            <a:off x="7918704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9" name="Conteúdo e gestão ícone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7304" y="2057400"/>
            <a:ext cx="457200" cy="457200"/>
          </a:xfrm>
          <a:prstGeom prst="rect">
            <a:avLst/>
          </a:prstGeom>
        </p:spPr>
      </p:pic>
      <p:pic>
        <p:nvPicPr>
          <p:cNvPr id="20" name="Seta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130552"/>
            <a:ext cx="292608" cy="292608"/>
          </a:xfrm>
          <a:prstGeom prst="rect">
            <a:avLst/>
          </a:prstGeom>
        </p:spPr>
      </p:pic>
      <p:sp>
        <p:nvSpPr>
          <p:cNvPr id="21" name="Conteúdo e gestão título"/>
          <p:cNvSpPr txBox="1"/>
          <p:nvPr/>
        </p:nvSpPr>
        <p:spPr>
          <a:xfrm>
            <a:off x="7351776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Conteúdo e gestão</a:t>
            </a:r>
            <a:endParaRPr lang="en-US" sz="1700" dirty="0"/>
          </a:p>
        </p:txBody>
      </p:sp>
      <p:sp>
        <p:nvSpPr>
          <p:cNvPr id="22" name="Conteúdo e gestão texto"/>
          <p:cNvSpPr txBox="1"/>
          <p:nvPr/>
        </p:nvSpPr>
        <p:spPr>
          <a:xfrm>
            <a:off x="7351776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Telas atualizadas do celular ou do computador</a:t>
            </a:r>
            <a:endParaRPr lang="en-US" sz="1400" dirty="0"/>
          </a:p>
        </p:txBody>
      </p:sp>
      <p:sp>
        <p:nvSpPr>
          <p:cNvPr id="23" name="Suporte círculo"/>
          <p:cNvSpPr/>
          <p:nvPr/>
        </p:nvSpPr>
        <p:spPr>
          <a:xfrm>
            <a:off x="10186416" y="1828800"/>
            <a:ext cx="914400" cy="9144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24" name="Suporte ícone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5016" y="2057400"/>
            <a:ext cx="457200" cy="457200"/>
          </a:xfrm>
          <a:prstGeom prst="rect">
            <a:avLst/>
          </a:prstGeom>
        </p:spPr>
      </p:pic>
      <p:sp>
        <p:nvSpPr>
          <p:cNvPr id="25" name="Suporte título"/>
          <p:cNvSpPr txBox="1"/>
          <p:nvPr/>
        </p:nvSpPr>
        <p:spPr>
          <a:xfrm>
            <a:off x="9619488" y="29718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Suporte</a:t>
            </a:r>
            <a:endParaRPr lang="en-US" sz="1700" dirty="0"/>
          </a:p>
        </p:txBody>
      </p:sp>
      <p:sp>
        <p:nvSpPr>
          <p:cNvPr id="26" name="Suporte texto"/>
          <p:cNvSpPr txBox="1"/>
          <p:nvPr/>
        </p:nvSpPr>
        <p:spPr>
          <a:xfrm>
            <a:off x="9619488" y="361188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Assistência técnica para a tela não apagar</a:t>
            </a:r>
            <a:endParaRPr lang="en-US" sz="1400" dirty="0"/>
          </a:p>
        </p:txBody>
      </p:sp>
      <p:sp>
        <p:nvSpPr>
          <p:cNvPr id="27" name="Faixa venda e locação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8" name="Venda ou locação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Venda ou locação: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modelo se adapta ao seu uso, do evento de um dia à operação permanente.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Quem confia na LedWave</a:t>
            </a:r>
            <a:endParaRPr lang="en-US" sz="3200" dirty="0"/>
          </a:p>
        </p:txBody>
      </p:sp>
      <p:sp>
        <p:nvSpPr>
          <p:cNvPr id="3" name="Marca Volkswagen"/>
          <p:cNvSpPr/>
          <p:nvPr/>
        </p:nvSpPr>
        <p:spPr>
          <a:xfrm>
            <a:off x="54864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Marca nome 1"/>
          <p:cNvSpPr txBox="1"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Volkswagen</a:t>
            </a:r>
            <a:endParaRPr lang="en-US" sz="2800" dirty="0"/>
          </a:p>
        </p:txBody>
      </p:sp>
      <p:sp>
        <p:nvSpPr>
          <p:cNvPr id="5" name="Marca Globo"/>
          <p:cNvSpPr/>
          <p:nvPr/>
        </p:nvSpPr>
        <p:spPr>
          <a:xfrm>
            <a:off x="429768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Marca nome 2"/>
          <p:cNvSpPr txBox="1"/>
          <p:nvPr/>
        </p:nvSpPr>
        <p:spPr>
          <a:xfrm>
            <a:off x="429768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Globo</a:t>
            </a:r>
            <a:endParaRPr lang="en-US" sz="2800" dirty="0"/>
          </a:p>
        </p:txBody>
      </p:sp>
      <p:sp>
        <p:nvSpPr>
          <p:cNvPr id="7" name="Marca Riachuelo"/>
          <p:cNvSpPr/>
          <p:nvPr/>
        </p:nvSpPr>
        <p:spPr>
          <a:xfrm>
            <a:off x="8046720" y="1691640"/>
            <a:ext cx="34747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8" name="Marca nome 3"/>
          <p:cNvSpPr txBox="1"/>
          <p:nvPr/>
        </p:nvSpPr>
        <p:spPr>
          <a:xfrm>
            <a:off x="8046720" y="16916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Riachuelo</a:t>
            </a:r>
            <a:endParaRPr lang="en-US" sz="2800" dirty="0"/>
          </a:p>
        </p:txBody>
      </p:sp>
      <p:sp>
        <p:nvSpPr>
          <p:cNvPr id="9" name="Ranking Exame círculo"/>
          <p:cNvSpPr/>
          <p:nvPr/>
        </p:nvSpPr>
        <p:spPr>
          <a:xfrm>
            <a:off x="54864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0" name="Ranking Exame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3943350"/>
            <a:ext cx="388620" cy="388620"/>
          </a:xfrm>
          <a:prstGeom prst="rect">
            <a:avLst/>
          </a:prstGeom>
        </p:spPr>
      </p:pic>
      <p:sp>
        <p:nvSpPr>
          <p:cNvPr id="11" name="Ranking Exame título"/>
          <p:cNvSpPr txBox="1"/>
          <p:nvPr/>
        </p:nvSpPr>
        <p:spPr>
          <a:xfrm>
            <a:off x="150876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Ranking Exame</a:t>
            </a:r>
            <a:endParaRPr lang="en-US" sz="1700" dirty="0"/>
          </a:p>
        </p:txBody>
      </p:sp>
      <p:sp>
        <p:nvSpPr>
          <p:cNvPr id="12" name="Ranking Exame texto"/>
          <p:cNvSpPr txBox="1"/>
          <p:nvPr/>
        </p:nvSpPr>
        <p:spPr>
          <a:xfrm>
            <a:off x="150876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anos seguidos, nº 1 do segmento em 2025</a:t>
            </a:r>
            <a:endParaRPr lang="en-US" sz="1400" dirty="0"/>
          </a:p>
        </p:txBody>
      </p:sp>
      <p:sp>
        <p:nvSpPr>
          <p:cNvPr id="13" name="ABF Expo círculo"/>
          <p:cNvSpPr/>
          <p:nvPr/>
        </p:nvSpPr>
        <p:spPr>
          <a:xfrm>
            <a:off x="429768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4" name="ABF Expo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990" y="3943350"/>
            <a:ext cx="388620" cy="388620"/>
          </a:xfrm>
          <a:prstGeom prst="rect">
            <a:avLst/>
          </a:prstGeom>
        </p:spPr>
      </p:pic>
      <p:sp>
        <p:nvSpPr>
          <p:cNvPr id="15" name="ABF Expo título"/>
          <p:cNvSpPr txBox="1"/>
          <p:nvPr/>
        </p:nvSpPr>
        <p:spPr>
          <a:xfrm>
            <a:off x="525780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ABF Expo</a:t>
            </a:r>
            <a:endParaRPr lang="en-US" sz="1700" dirty="0"/>
          </a:p>
        </p:txBody>
      </p:sp>
      <p:sp>
        <p:nvSpPr>
          <p:cNvPr id="16" name="ABF Expo texto"/>
          <p:cNvSpPr txBox="1"/>
          <p:nvPr/>
        </p:nvSpPr>
        <p:spPr>
          <a:xfrm>
            <a:off x="525780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Parceira oficial da maior feira de franquias do país</a:t>
            </a:r>
            <a:endParaRPr lang="en-US" sz="1400" dirty="0"/>
          </a:p>
        </p:txBody>
      </p:sp>
      <p:sp>
        <p:nvSpPr>
          <p:cNvPr id="17" name="NRF 2026, Nova York círculo"/>
          <p:cNvSpPr/>
          <p:nvPr/>
        </p:nvSpPr>
        <p:spPr>
          <a:xfrm>
            <a:off x="8046720" y="3749040"/>
            <a:ext cx="777240" cy="77724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18" name="NRF 2026, Nova York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1030" y="3943350"/>
            <a:ext cx="388620" cy="388620"/>
          </a:xfrm>
          <a:prstGeom prst="rect">
            <a:avLst/>
          </a:prstGeom>
        </p:spPr>
      </p:pic>
      <p:sp>
        <p:nvSpPr>
          <p:cNvPr id="19" name="NRF 2026, Nova York título"/>
          <p:cNvSpPr txBox="1"/>
          <p:nvPr/>
        </p:nvSpPr>
        <p:spPr>
          <a:xfrm>
            <a:off x="9006840" y="37490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NRF 2026, Nova York</a:t>
            </a:r>
            <a:endParaRPr lang="en-US" sz="1700" dirty="0"/>
          </a:p>
        </p:txBody>
      </p:sp>
      <p:sp>
        <p:nvSpPr>
          <p:cNvPr id="20" name="NRF 2026, Nova York texto"/>
          <p:cNvSpPr txBox="1"/>
          <p:nvPr/>
        </p:nvSpPr>
        <p:spPr>
          <a:xfrm>
            <a:off x="9006840" y="42062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Estande próprio na maior feira de varejo do mundo</a:t>
            </a:r>
            <a:endParaRPr lang="en-US" sz="1400" dirty="0"/>
          </a:p>
        </p:txBody>
      </p:sp>
      <p:sp>
        <p:nvSpPr>
          <p:cNvPr id="21" name="Instrução logos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385"/>
                </a:solidFill>
              </a:rPr>
              <a:t>Substitua ou complete com logos de clientes do segmento Saúde (Hospitais, Clínicas e Laboratórios).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Por que digitalizar o seu espaço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011680"/>
            <a:ext cx="8229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Acolher o paciente com informação clara, reduzir a ansiedade da espera e mostrar a tecnologia que existe por trás do cuidado.</a:t>
            </a:r>
            <a:endParaRPr lang="en-US" sz="3200" dirty="0"/>
          </a:p>
        </p:txBody>
      </p:sp>
      <p:sp>
        <p:nvSpPr>
          <p:cNvPr id="4" name="Propósito círculo"/>
          <p:cNvSpPr/>
          <p:nvPr/>
        </p:nvSpPr>
        <p:spPr>
          <a:xfrm>
            <a:off x="9692640" y="2103120"/>
            <a:ext cx="1737360" cy="173736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Propósit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6980" y="2537460"/>
            <a:ext cx="86868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Imagine o seu espaço</a:t>
            </a:r>
            <a:endParaRPr lang="en-US" sz="3200" dirty="0"/>
          </a:p>
        </p:txBody>
      </p:sp>
      <p:sp>
        <p:nvSpPr>
          <p:cNvPr id="3" name="História"/>
          <p:cNvSpPr txBox="1"/>
          <p:nvPr/>
        </p:nvSpPr>
        <p:spPr>
          <a:xfrm>
            <a:off x="54864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Recepção de laboratório: chamada por senha clara, tempo estimado, conteúdo de prevenção e a apresentação dos novos exames. A mesma espera, outra experiência.</a:t>
            </a:r>
            <a:endParaRPr lang="en-US" sz="1800" dirty="0"/>
          </a:p>
        </p:txBody>
      </p:sp>
      <p:sp>
        <p:nvSpPr>
          <p:cNvPr id="4" name="Frase de efeito"/>
          <p:cNvSpPr txBox="1"/>
          <p:nvPr/>
        </p:nvSpPr>
        <p:spPr>
          <a:xfrm>
            <a:off x="54864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chemeClr val="accent1"/>
                </a:solidFill>
              </a:rPr>
              <a:t>Tecnologia que cuida começa na recepção.</a:t>
            </a:r>
            <a:endParaRPr lang="en-US" sz="2000" dirty="0"/>
          </a:p>
        </p:txBody>
      </p:sp>
      <p:sp>
        <p:nvSpPr>
          <p:cNvPr id="5" name="Área da simulação"/>
          <p:cNvSpPr/>
          <p:nvPr/>
        </p:nvSpPr>
        <p:spPr>
          <a:xfrm>
            <a:off x="5943600" y="1600200"/>
            <a:ext cx="5669280" cy="4343400"/>
          </a:xfrm>
          <a:prstGeom prst="roundRect">
            <a:avLst>
              <a:gd name="adj" fmla="val 2526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6" name="Simulação círculo"/>
          <p:cNvSpPr/>
          <p:nvPr/>
        </p:nvSpPr>
        <p:spPr>
          <a:xfrm>
            <a:off x="8366760" y="274320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7" name="Simulação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0" y="2948940"/>
            <a:ext cx="411480" cy="411480"/>
          </a:xfrm>
          <a:prstGeom prst="rect">
            <a:avLst/>
          </a:prstGeom>
        </p:spPr>
      </p:pic>
      <p:sp>
        <p:nvSpPr>
          <p:cNvPr id="8" name="Instrução simulação"/>
          <p:cNvSpPr txBox="1"/>
          <p:nvPr/>
        </p:nvSpPr>
        <p:spPr>
          <a:xfrm>
            <a:off x="6217920" y="37490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Simulação do painel no espaço do cliente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(insira aqui o mockup antes da reunião)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Três ganhos para o seu negócio</a:t>
            </a:r>
            <a:endParaRPr lang="en-US" sz="3200" dirty="0"/>
          </a:p>
        </p:txBody>
      </p:sp>
      <p:sp>
        <p:nvSpPr>
          <p:cNvPr id="3" name="Ganho Mais receita"/>
          <p:cNvSpPr/>
          <p:nvPr/>
        </p:nvSpPr>
        <p:spPr>
          <a:xfrm>
            <a:off x="54864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Mais receita círculo"/>
          <p:cNvSpPr/>
          <p:nvPr/>
        </p:nvSpPr>
        <p:spPr>
          <a:xfrm>
            <a:off x="868680" y="1920240"/>
            <a:ext cx="868680" cy="868680"/>
          </a:xfrm>
          <a:prstGeom prst="ellipse">
            <a:avLst/>
          </a:prstGeom>
          <a:solidFill>
            <a:srgbClr val="E0218A"/>
          </a:solidFill>
          <a:ln/>
        </p:spPr>
      </p:sp>
      <p:pic>
        <p:nvPicPr>
          <p:cNvPr id="5" name="Mais receita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137410"/>
            <a:ext cx="434340" cy="434340"/>
          </a:xfrm>
          <a:prstGeom prst="rect">
            <a:avLst/>
          </a:prstGeom>
        </p:spPr>
      </p:pic>
      <p:sp>
        <p:nvSpPr>
          <p:cNvPr id="6" name="Mais receita título"/>
          <p:cNvSpPr txBox="1"/>
          <p:nvPr/>
        </p:nvSpPr>
        <p:spPr>
          <a:xfrm>
            <a:off x="86868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receita</a:t>
            </a:r>
            <a:endParaRPr lang="en-US" sz="2100" dirty="0"/>
          </a:p>
        </p:txBody>
      </p:sp>
      <p:sp>
        <p:nvSpPr>
          <p:cNvPr id="7" name="Mais receita texto"/>
          <p:cNvSpPr txBox="1"/>
          <p:nvPr/>
        </p:nvSpPr>
        <p:spPr>
          <a:xfrm>
            <a:off x="86868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Divulgação de serviços e check-ups (cross-sell), patrocínio de indústria farmacêutica/saúde quando permitido.</a:t>
            </a:r>
            <a:endParaRPr lang="en-US" sz="1500" dirty="0"/>
          </a:p>
        </p:txBody>
      </p:sp>
      <p:sp>
        <p:nvSpPr>
          <p:cNvPr id="8" name="Ganho Mais experiência"/>
          <p:cNvSpPr/>
          <p:nvPr/>
        </p:nvSpPr>
        <p:spPr>
          <a:xfrm>
            <a:off x="429768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Mais experiência círculo"/>
          <p:cNvSpPr/>
          <p:nvPr/>
        </p:nvSpPr>
        <p:spPr>
          <a:xfrm>
            <a:off x="4617720" y="1920240"/>
            <a:ext cx="868680" cy="868680"/>
          </a:xfrm>
          <a:prstGeom prst="ellipse">
            <a:avLst/>
          </a:prstGeom>
          <a:solidFill>
            <a:srgbClr val="4F6BFF"/>
          </a:solidFill>
          <a:ln/>
        </p:spPr>
      </p:sp>
      <p:pic>
        <p:nvPicPr>
          <p:cNvPr id="10" name="Mais experiência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890" y="2137410"/>
            <a:ext cx="434340" cy="434340"/>
          </a:xfrm>
          <a:prstGeom prst="rect">
            <a:avLst/>
          </a:prstGeom>
        </p:spPr>
      </p:pic>
      <p:sp>
        <p:nvSpPr>
          <p:cNvPr id="11" name="Mais experiência título"/>
          <p:cNvSpPr txBox="1"/>
          <p:nvPr/>
        </p:nvSpPr>
        <p:spPr>
          <a:xfrm>
            <a:off x="461772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Mais experiência</a:t>
            </a:r>
            <a:endParaRPr lang="en-US" sz="2100" dirty="0"/>
          </a:p>
        </p:txBody>
      </p:sp>
      <p:sp>
        <p:nvSpPr>
          <p:cNvPr id="12" name="Mais experiência texto"/>
          <p:cNvSpPr txBox="1"/>
          <p:nvPr/>
        </p:nvSpPr>
        <p:spPr>
          <a:xfrm>
            <a:off x="461772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Ambiente acolhedor e moderno, comunicação de prevenção, sinalização clara.</a:t>
            </a:r>
            <a:endParaRPr lang="en-US" sz="1500" dirty="0"/>
          </a:p>
        </p:txBody>
      </p:sp>
      <p:sp>
        <p:nvSpPr>
          <p:cNvPr id="13" name="Ganho Menos custo"/>
          <p:cNvSpPr/>
          <p:nvPr/>
        </p:nvSpPr>
        <p:spPr>
          <a:xfrm>
            <a:off x="8046720" y="160020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Menos custo círculo"/>
          <p:cNvSpPr/>
          <p:nvPr/>
        </p:nvSpPr>
        <p:spPr>
          <a:xfrm>
            <a:off x="8366760" y="1920240"/>
            <a:ext cx="868680" cy="8686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Menos custo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930" y="2137410"/>
            <a:ext cx="434340" cy="434340"/>
          </a:xfrm>
          <a:prstGeom prst="rect">
            <a:avLst/>
          </a:prstGeom>
        </p:spPr>
      </p:pic>
      <p:sp>
        <p:nvSpPr>
          <p:cNvPr id="16" name="Menos custo título"/>
          <p:cNvSpPr txBox="1"/>
          <p:nvPr/>
        </p:nvSpPr>
        <p:spPr>
          <a:xfrm>
            <a:off x="83667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Menos custo</a:t>
            </a:r>
            <a:endParaRPr lang="en-US" sz="2100" dirty="0"/>
          </a:p>
        </p:txBody>
      </p:sp>
      <p:sp>
        <p:nvSpPr>
          <p:cNvPr id="17" name="Menos custo texto"/>
          <p:cNvSpPr txBox="1"/>
          <p:nvPr/>
        </p:nvSpPr>
        <p:spPr>
          <a:xfrm>
            <a:off x="8366760" y="352044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Chamada de pacientes e wayfinding integrados, atualização remota em todas as unidades.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solução para o seu espaço</a:t>
            </a:r>
            <a:endParaRPr lang="en-US" sz="3200" dirty="0"/>
          </a:p>
        </p:txBody>
      </p:sp>
      <p:sp>
        <p:nvSpPr>
          <p:cNvPr id="3" name="Título solução"/>
          <p:cNvSpPr txBox="1"/>
          <p:nvPr/>
        </p:nvSpPr>
        <p:spPr>
          <a:xfrm>
            <a:off x="548640" y="1554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O que propomos</a:t>
            </a:r>
            <a:endParaRPr lang="en-US" sz="2000" dirty="0"/>
          </a:p>
        </p:txBody>
      </p:sp>
      <p:sp>
        <p:nvSpPr>
          <p:cNvPr id="4" name="Item 1 círculo"/>
          <p:cNvSpPr/>
          <p:nvPr/>
        </p:nvSpPr>
        <p:spPr>
          <a:xfrm>
            <a:off x="548640" y="210312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5" name="Item 1 í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2217420"/>
            <a:ext cx="228600" cy="228600"/>
          </a:xfrm>
          <a:prstGeom prst="rect">
            <a:avLst/>
          </a:prstGeom>
        </p:spPr>
      </p:pic>
      <p:sp>
        <p:nvSpPr>
          <p:cNvPr id="6" name="Solução 1"/>
          <p:cNvSpPr txBox="1"/>
          <p:nvPr/>
        </p:nvSpPr>
        <p:spPr>
          <a:xfrm>
            <a:off x="1188720" y="2057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de recepção e chamada</a:t>
            </a:r>
            <a:endParaRPr lang="en-US" sz="1500" dirty="0"/>
          </a:p>
        </p:txBody>
      </p:sp>
      <p:sp>
        <p:nvSpPr>
          <p:cNvPr id="7" name="Item 2 círculo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8" name="Item 2 í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" y="2994660"/>
            <a:ext cx="228600" cy="228600"/>
          </a:xfrm>
          <a:prstGeom prst="rect">
            <a:avLst/>
          </a:prstGeom>
        </p:spPr>
      </p:pic>
      <p:sp>
        <p:nvSpPr>
          <p:cNvPr id="9" name="Solução 2"/>
          <p:cNvSpPr txBox="1"/>
          <p:nvPr/>
        </p:nvSpPr>
        <p:spPr>
          <a:xfrm>
            <a:off x="1188720" y="2834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Totens de wayfinding</a:t>
            </a:r>
            <a:endParaRPr lang="en-US" sz="1500" dirty="0"/>
          </a:p>
        </p:txBody>
      </p:sp>
      <p:sp>
        <p:nvSpPr>
          <p:cNvPr id="10" name="Item 3 círculo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1" name="Item 3 í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3771900"/>
            <a:ext cx="228600" cy="228600"/>
          </a:xfrm>
          <a:prstGeom prst="rect">
            <a:avLst/>
          </a:prstGeom>
        </p:spPr>
      </p:pic>
      <p:sp>
        <p:nvSpPr>
          <p:cNvPr id="12" name="Solução 3"/>
          <p:cNvSpPr txBox="1"/>
          <p:nvPr/>
        </p:nvSpPr>
        <p:spPr>
          <a:xfrm>
            <a:off x="1188720" y="3611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Fachada</a:t>
            </a:r>
            <a:endParaRPr lang="en-US" sz="1500" dirty="0"/>
          </a:p>
        </p:txBody>
      </p:sp>
      <p:sp>
        <p:nvSpPr>
          <p:cNvPr id="13" name="Item 4 círculo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2B1A63"/>
          </a:solidFill>
          <a:ln/>
        </p:spPr>
      </p:sp>
      <p:pic>
        <p:nvPicPr>
          <p:cNvPr id="14" name="Item 4 í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4549140"/>
            <a:ext cx="228600" cy="228600"/>
          </a:xfrm>
          <a:prstGeom prst="rect">
            <a:avLst/>
          </a:prstGeom>
        </p:spPr>
      </p:pic>
      <p:sp>
        <p:nvSpPr>
          <p:cNvPr id="15" name="Solução 4"/>
          <p:cNvSpPr txBox="1"/>
          <p:nvPr/>
        </p:nvSpPr>
        <p:spPr>
          <a:xfrm>
            <a:off x="1188720" y="4389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Painéis em auditório para congressos</a:t>
            </a:r>
            <a:endParaRPr lang="en-US" sz="1500" dirty="0"/>
          </a:p>
        </p:txBody>
      </p:sp>
      <p:sp>
        <p:nvSpPr>
          <p:cNvPr id="16" name="Card indicadores"/>
          <p:cNvSpPr/>
          <p:nvPr/>
        </p:nvSpPr>
        <p:spPr>
          <a:xfrm>
            <a:off x="6583680" y="1554480"/>
            <a:ext cx="502920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/>
        </p:spPr>
      </p:sp>
      <p:sp>
        <p:nvSpPr>
          <p:cNvPr id="17" name="Título indicadores"/>
          <p:cNvSpPr txBox="1"/>
          <p:nvPr/>
        </p:nvSpPr>
        <p:spPr>
          <a:xfrm>
            <a:off x="6949440" y="1828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 que você vai medir</a:t>
            </a:r>
            <a:endParaRPr lang="en-US" sz="2000" dirty="0"/>
          </a:p>
        </p:txBody>
      </p:sp>
      <p:sp>
        <p:nvSpPr>
          <p:cNvPr id="18" name="Indicadores"/>
          <p:cNvSpPr txBox="1"/>
          <p:nvPr/>
        </p:nvSpPr>
        <p:spPr>
          <a:xfrm>
            <a:off x="6949440" y="242316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NPS da recepção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Percepção de tempo de espera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Vendas de check-ups divulgados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Projeto em destaque</a:t>
            </a:r>
            <a:endParaRPr lang="en-US" sz="3200" dirty="0"/>
          </a:p>
        </p:txBody>
      </p:sp>
      <p:sp>
        <p:nvSpPr>
          <p:cNvPr id="3" name="Card Boulevard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Boulevard título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Boulevard.Live</a:t>
            </a:r>
            <a:endParaRPr lang="en-US" sz="1800" dirty="0"/>
          </a:p>
        </p:txBody>
      </p:sp>
      <p:sp>
        <p:nvSpPr>
          <p:cNvPr id="5" name="Boulevard número"/>
          <p:cNvSpPr txBox="1"/>
          <p:nvPr/>
        </p:nvSpPr>
        <p:spPr>
          <a:xfrm>
            <a:off x="914400" y="24231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1.125 m²</a:t>
            </a:r>
            <a:endParaRPr lang="en-US" sz="6000" dirty="0"/>
          </a:p>
        </p:txBody>
      </p:sp>
      <p:sp>
        <p:nvSpPr>
          <p:cNvPr id="6" name="Boulevard texto"/>
          <p:cNvSpPr txBox="1"/>
          <p:nvPr/>
        </p:nvSpPr>
        <p:spPr>
          <a:xfrm>
            <a:off x="914400" y="370332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maior painel de LED da América Latina, em Brasília. Inspirado na Times Square e instalado no ponto de maior fluxo de pessoas e veículos da cidade.</a:t>
            </a:r>
            <a:endParaRPr lang="en-US" sz="1600" dirty="0"/>
          </a:p>
        </p:txBody>
      </p:sp>
      <p:sp>
        <p:nvSpPr>
          <p:cNvPr id="7" name="Área case do segmento"/>
          <p:cNvSpPr/>
          <p:nvPr/>
        </p:nvSpPr>
        <p:spPr>
          <a:xfrm>
            <a:off x="6309360" y="1600200"/>
            <a:ext cx="530352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9050">
            <a:solidFill>
              <a:srgbClr val="8B5CF6"/>
            </a:solidFill>
            <a:prstDash val="dash"/>
          </a:ln>
        </p:spPr>
      </p:sp>
      <p:sp>
        <p:nvSpPr>
          <p:cNvPr id="8" name="Case título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Case do seu segmento</a:t>
            </a:r>
            <a:endParaRPr lang="en-US" sz="1800" dirty="0"/>
          </a:p>
        </p:txBody>
      </p:sp>
      <p:sp>
        <p:nvSpPr>
          <p:cNvPr id="9" name="Case conteúdo"/>
          <p:cNvSpPr txBox="1"/>
          <p:nvPr/>
        </p:nvSpPr>
        <p:spPr>
          <a:xfrm>
            <a:off x="6675120" y="251460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[Nome do cliente do segmento]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[Desafio em uma frase]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[O que a LedWave entregou]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[Resultado]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3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463040"/>
            <a:ext cx="6949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Tecnologia que cuida começa na recepção.</a:t>
            </a:r>
            <a:endParaRPr lang="en-US" sz="3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4114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9D2F0"/>
                </a:solidFill>
              </a:rPr>
              <a:t>Vamos transformar a espera do seu paciente em cuidado?</a:t>
            </a:r>
            <a:endParaRPr lang="en-US" sz="2000" dirty="0"/>
          </a:p>
        </p:txBody>
      </p:sp>
      <p:sp>
        <p:nvSpPr>
          <p:cNvPr id="4" name="Card próximo passo"/>
          <p:cNvSpPr/>
          <p:nvPr/>
        </p:nvSpPr>
        <p:spPr>
          <a:xfrm>
            <a:off x="8046720" y="2103120"/>
            <a:ext cx="3566160" cy="2971800"/>
          </a:xfrm>
          <a:prstGeom prst="roundRect">
            <a:avLst>
              <a:gd name="adj" fmla="val 3692"/>
            </a:avLst>
          </a:prstGeom>
          <a:solidFill>
            <a:schemeClr val="accent1"/>
          </a:solidFill>
          <a:ln/>
        </p:spPr>
      </p:sp>
      <p:sp>
        <p:nvSpPr>
          <p:cNvPr id="5" name="Próximo passo título"/>
          <p:cNvSpPr txBox="1"/>
          <p:nvPr/>
        </p:nvSpPr>
        <p:spPr>
          <a:xfrm>
            <a:off x="83667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Próximo passo</a:t>
            </a:r>
            <a:endParaRPr lang="en-US" sz="1800" dirty="0"/>
          </a:p>
        </p:txBody>
      </p:sp>
      <p:sp>
        <p:nvSpPr>
          <p:cNvPr id="6" name="Próximo passo texto"/>
          <p:cNvSpPr txBox="1"/>
          <p:nvPr/>
        </p:nvSpPr>
        <p:spPr>
          <a:xfrm>
            <a:off x="8366760" y="2834640"/>
            <a:ext cx="2926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Diagnóstico de jornada do paciente na unidade principal.</a:t>
            </a:r>
            <a:endParaRPr lang="en-US" sz="1500" dirty="0"/>
          </a:p>
        </p:txBody>
      </p:sp>
      <p:sp>
        <p:nvSpPr>
          <p:cNvPr id="7" name="Contato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AED8"/>
                </a:solidFill>
              </a:rPr>
              <a:t>[Nome do executivo]  ·  [Telefone / WhatsApp]  ·  [E-mail]  ·  ledwave.com.br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dWave">
  <a:themeElements>
    <a:clrScheme name="LedWave">
      <a:dk1>
        <a:srgbClr val="140C2E"/>
      </a:dk1>
      <a:lt1>
        <a:srgbClr val="FFFFFF"/>
      </a:lt1>
      <a:dk2>
        <a:srgbClr val="2B1A63"/>
      </a:dk2>
      <a:lt2>
        <a:srgbClr val="F3F0FA"/>
      </a:lt2>
      <a:accent1>
        <a:srgbClr val="E0218A"/>
      </a:accent1>
      <a:accent2>
        <a:srgbClr val="4F6BFF"/>
      </a:accent2>
      <a:accent3>
        <a:srgbClr val="8B5CF6"/>
      </a:accent3>
      <a:accent4>
        <a:srgbClr val="22C3A6"/>
      </a:accent4>
      <a:accent5>
        <a:srgbClr val="FFB020"/>
      </a:accent5>
      <a:accent6>
        <a:srgbClr val="6B6385"/>
      </a:accent6>
      <a:hlink>
        <a:srgbClr val="4F6BFF"/>
      </a:hlink>
      <a:folHlink>
        <a:srgbClr val="8B5CF6"/>
      </a:folHlink>
    </a:clrScheme>
    <a:fontScheme name="LedWav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LedWave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LedWave | Saúde (Hospitais, Clínicas e Laboratórios)</dc:title>
  <dc:subject>PptxGenJS Presentation</dc:subject>
  <dc:creator>LedWave</dc:creator>
  <cp:lastModifiedBy>LedWave</cp:lastModifiedBy>
  <cp:revision>1</cp:revision>
  <dcterms:created xsi:type="dcterms:W3CDTF">2026-10-19T15:30:33Z</dcterms:created>
  <dcterms:modified xsi:type="dcterms:W3CDTF">2026-10-19T15:30:33Z</dcterms:modified>
</cp:coreProperties>
</file>