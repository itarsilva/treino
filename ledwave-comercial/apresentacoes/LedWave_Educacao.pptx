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8c17a83-f1e0-c48b-771f-d1d981a07a92}">
          <p14:sldIdLst>
            <p14:sldId id="256"/>
            <p14:sldId id="257"/>
          </p14:sldIdLst>
        </p14:section>
        <p14:section name="O seu cenário" id="{c4020bbf-96f0-38a4-146e-d7bcef12a075}">
          <p14:sldIdLst>
            <p14:sldId id="258"/>
          </p14:sldIdLst>
        </p14:section>
        <p14:section name="LedWave" id="{dd1f7bd4-afcc-a4c5-7292-1c59e00eb9c9}">
          <p14:sldIdLst>
            <p14:sldId id="259"/>
            <p14:sldId id="260"/>
            <p14:sldId id="261"/>
            <p14:sldId id="262"/>
            <p14:sldId id="263"/>
          </p14:sldIdLst>
        </p14:section>
        <p14:section name="Por que digitalizar" id="{125e6c80-4efb-6a1b-988e-627433299004}">
          <p14:sldIdLst>
            <p14:sldId id="264"/>
            <p14:sldId id="265"/>
          </p14:sldIdLst>
        </p14:section>
        <p14:section name="Ganhos e solução" id="{42249c9d-ae5b-8214-04eb-ea1a7645f040}">
          <p14:sldIdLst>
            <p14:sldId id="266"/>
            <p14:sldId id="267"/>
            <p14:sldId id="268"/>
          </p14:sldIdLst>
        </p14:section>
        <p14:section name="Próximo passo" id="{8f171bac-0485-8d74-72c5-9ff2339e0af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Mantenedor, Diretor Geral, Diretor de Marketing/Captação, Coordenador de 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"Quantos alunos e unidades, quantas visitas de captação por ano, existe auditório?"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Quantos alunos e unidades, quantas visitas de captação por ano, existe auditório?
Problema: Qual a conversão de visita em matrícula? A infraestrutura é citada pelos pais como critério?
Implicação: Quanto vale cada matrícula perdida ao longo dos anos de curso? Quanto gastam em locação para formaturas e eventos?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Educação (Escolas, Faculdades e Universidades)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[Diferenciais · ~1 min] Não leia os oito. Escolha os 2 ou 3 que respondem ao propósito de compra do cliente (Insumo de trabalho, Experiência, Status) e conte cada um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Cases do segmento (em destaque): Museu do Amanhã. Conte o de maior afinidade em uma frase.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
Propósitos de compra mais comuns neste nicho: Insumo de trabalho, Experiência, Status. Confirme qual pesa mais para este cliente e apague 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"Escola que mostra o futuro forma para o futuro."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Orçamento de escola é apertado.
Resposta: Por isso olhamos para o retorno: uma matrícula a mais por turma já paga parte do investimento, e o auditório pode gerar receita com locação.
Objeção (comercial): Momento financeiro
Resposta: Podemos começar por um piloto ou pela locação, que vira despesa mensal em vez de investimento, e crescer por fases.
Objeção (comercial): Forma de pagamento
Resposta: Temos opções: à vista, parcelado, financiamento e locação. Montamos a que cabe no seu fluxo de caixa.
Objeção (comercial): Fobia digital
Resposta: Atualizar a tela é tão simples quanto postar no Instagram. Treinamos a sua equipe, e a LedWave pode cuidar do conteúdo para você.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Se o auditório e o pátio mostrassem inovação na visita dos pais, como ficaria a captação?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Educação (Escolas, Faculdades e Universidades)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Educação (Escolas, Faculdades e Universidades)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Escola que mostra o futuro forma para o futuro.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Na visita de um pai à sua escola, o que mostra a ele que o filho vai estudar no futuro e não no passado?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Concorrência forte na captação de alunos, pais que comparam infraestrutura e comunicação com alunos que não chega.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família escolhe a escola em uma visita. Infraestrutura que parece antiga perde matrícula.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a LedWave</a:t>
            </a:r>
            <a:endParaRPr lang="en-US" sz="3200" dirty="0"/>
          </a:p>
        </p:txBody>
      </p:sp>
      <p:sp>
        <p:nvSpPr>
          <p:cNvPr id="3" name="Diferencial Solução 360°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olução 360° 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Solução 360°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6" name="Solução 360° título"/>
          <p:cNvSpPr txBox="1"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Solução 360°</a:t>
            </a:r>
            <a:endParaRPr lang="en-US" sz="1600" dirty="0"/>
          </a:p>
        </p:txBody>
      </p:sp>
      <p:sp>
        <p:nvSpPr>
          <p:cNvPr id="7" name="Solução 360° texto"/>
          <p:cNvSpPr txBox="1"/>
          <p:nvPr/>
        </p:nvSpPr>
        <p:spPr>
          <a:xfrm>
            <a:off x="822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projeto ao conteúdo, um só parceiro</a:t>
            </a:r>
            <a:endParaRPr lang="en-US" sz="1400" dirty="0"/>
          </a:p>
        </p:txBody>
      </p:sp>
      <p:sp>
        <p:nvSpPr>
          <p:cNvPr id="8" name="Diferencial Fábrica própria"/>
          <p:cNvSpPr/>
          <p:nvPr/>
        </p:nvSpPr>
        <p:spPr>
          <a:xfrm>
            <a:off x="3364992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Fábrica própria círculo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Fábrica própr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34540"/>
            <a:ext cx="320040" cy="320040"/>
          </a:xfrm>
          <a:prstGeom prst="rect">
            <a:avLst/>
          </a:prstGeom>
        </p:spPr>
      </p:pic>
      <p:sp>
        <p:nvSpPr>
          <p:cNvPr id="11" name="Fábrica própria título"/>
          <p:cNvSpPr txBox="1"/>
          <p:nvPr/>
        </p:nvSpPr>
        <p:spPr>
          <a:xfrm>
            <a:off x="3639312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própria</a:t>
            </a:r>
            <a:endParaRPr lang="en-US" sz="1600" dirty="0"/>
          </a:p>
        </p:txBody>
      </p:sp>
      <p:sp>
        <p:nvSpPr>
          <p:cNvPr id="12" name="Fábrica própria texto"/>
          <p:cNvSpPr txBox="1"/>
          <p:nvPr/>
        </p:nvSpPr>
        <p:spPr>
          <a:xfrm>
            <a:off x="3639312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no Brasil, em Goiânia</a:t>
            </a:r>
            <a:endParaRPr lang="en-US" sz="1400" dirty="0"/>
          </a:p>
        </p:txBody>
      </p:sp>
      <p:sp>
        <p:nvSpPr>
          <p:cNvPr id="13" name="Diferencial Venda ou locação"/>
          <p:cNvSpPr/>
          <p:nvPr/>
        </p:nvSpPr>
        <p:spPr>
          <a:xfrm>
            <a:off x="618134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Venda ou locação círculo"/>
          <p:cNvSpPr/>
          <p:nvPr/>
        </p:nvSpPr>
        <p:spPr>
          <a:xfrm>
            <a:off x="6455664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5" name="Venda ou locaçã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34540"/>
            <a:ext cx="320040" cy="320040"/>
          </a:xfrm>
          <a:prstGeom prst="rect">
            <a:avLst/>
          </a:prstGeom>
        </p:spPr>
      </p:pic>
      <p:sp>
        <p:nvSpPr>
          <p:cNvPr id="16" name="Venda ou locação título"/>
          <p:cNvSpPr txBox="1"/>
          <p:nvPr/>
        </p:nvSpPr>
        <p:spPr>
          <a:xfrm>
            <a:off x="6455664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Venda ou locação</a:t>
            </a:r>
            <a:endParaRPr lang="en-US" sz="1600" dirty="0"/>
          </a:p>
        </p:txBody>
      </p:sp>
      <p:sp>
        <p:nvSpPr>
          <p:cNvPr id="17" name="Venda ou locação texto"/>
          <p:cNvSpPr txBox="1"/>
          <p:nvPr/>
        </p:nvSpPr>
        <p:spPr>
          <a:xfrm>
            <a:off x="645566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modelo comercial que cabe no seu negócio</a:t>
            </a:r>
            <a:endParaRPr lang="en-US" sz="1400" dirty="0"/>
          </a:p>
        </p:txBody>
      </p:sp>
      <p:sp>
        <p:nvSpPr>
          <p:cNvPr id="18" name="Diferencial Estoque próprio"/>
          <p:cNvSpPr/>
          <p:nvPr/>
        </p:nvSpPr>
        <p:spPr>
          <a:xfrm>
            <a:off x="89976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Estoque próprio círculo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20" name="Estoque própri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034540"/>
            <a:ext cx="320040" cy="320040"/>
          </a:xfrm>
          <a:prstGeom prst="rect">
            <a:avLst/>
          </a:prstGeom>
        </p:spPr>
      </p:pic>
      <p:sp>
        <p:nvSpPr>
          <p:cNvPr id="21" name="Estoque próprio título"/>
          <p:cNvSpPr txBox="1"/>
          <p:nvPr/>
        </p:nvSpPr>
        <p:spPr>
          <a:xfrm>
            <a:off x="9272016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 próprio</a:t>
            </a:r>
            <a:endParaRPr lang="en-US" sz="1600" dirty="0"/>
          </a:p>
        </p:txBody>
      </p:sp>
      <p:sp>
        <p:nvSpPr>
          <p:cNvPr id="22" name="Estoque próprio texto"/>
          <p:cNvSpPr txBox="1"/>
          <p:nvPr/>
        </p:nvSpPr>
        <p:spPr>
          <a:xfrm>
            <a:off x="9272016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espera entre a assinatura e a tela acesa</a:t>
            </a:r>
            <a:endParaRPr lang="en-US" sz="1400" dirty="0"/>
          </a:p>
        </p:txBody>
      </p:sp>
      <p:sp>
        <p:nvSpPr>
          <p:cNvPr id="23" name="Diferencial Atendimento nacional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Atendimento nacional círcul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5" name="Atendimento naciona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6" name="Atendimento nacional título"/>
          <p:cNvSpPr txBox="1"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nacional</a:t>
            </a:r>
            <a:endParaRPr lang="en-US" sz="1600" dirty="0"/>
          </a:p>
        </p:txBody>
      </p:sp>
      <p:sp>
        <p:nvSpPr>
          <p:cNvPr id="27" name="Atendimento nacional texto"/>
          <p:cNvSpPr txBox="1"/>
          <p:nvPr/>
        </p:nvSpPr>
        <p:spPr>
          <a:xfrm>
            <a:off x="822960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Goiânia, São Paulo, Brasília e Orlando (EUA)</a:t>
            </a:r>
            <a:endParaRPr lang="en-US" sz="1400" dirty="0"/>
          </a:p>
        </p:txBody>
      </p:sp>
      <p:sp>
        <p:nvSpPr>
          <p:cNvPr id="28" name="Diferencial Sob medida"/>
          <p:cNvSpPr/>
          <p:nvPr/>
        </p:nvSpPr>
        <p:spPr>
          <a:xfrm>
            <a:off x="3364992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Sob medida círculo"/>
          <p:cNvSpPr/>
          <p:nvPr/>
        </p:nvSpPr>
        <p:spPr>
          <a:xfrm>
            <a:off x="3639312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30" name="Sob medida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274820"/>
            <a:ext cx="320040" cy="320040"/>
          </a:xfrm>
          <a:prstGeom prst="rect">
            <a:avLst/>
          </a:prstGeom>
        </p:spPr>
      </p:pic>
      <p:sp>
        <p:nvSpPr>
          <p:cNvPr id="31" name="Sob medida título"/>
          <p:cNvSpPr txBox="1"/>
          <p:nvPr/>
        </p:nvSpPr>
        <p:spPr>
          <a:xfrm>
            <a:off x="3639312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medida</a:t>
            </a:r>
            <a:endParaRPr lang="en-US" sz="1600" dirty="0"/>
          </a:p>
        </p:txBody>
      </p:sp>
      <p:sp>
        <p:nvSpPr>
          <p:cNvPr id="32" name="Sob medida texto"/>
          <p:cNvSpPr txBox="1"/>
          <p:nvPr/>
        </p:nvSpPr>
        <p:spPr>
          <a:xfrm>
            <a:off x="3639312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Formato e resolução para o seu espaço</a:t>
            </a:r>
            <a:endParaRPr lang="en-US" sz="1400" dirty="0"/>
          </a:p>
        </p:txBody>
      </p:sp>
      <p:sp>
        <p:nvSpPr>
          <p:cNvPr id="33" name="Diferencial Software de gestão"/>
          <p:cNvSpPr/>
          <p:nvPr/>
        </p:nvSpPr>
        <p:spPr>
          <a:xfrm>
            <a:off x="6181344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4" name="Software de gestão círculo"/>
          <p:cNvSpPr/>
          <p:nvPr/>
        </p:nvSpPr>
        <p:spPr>
          <a:xfrm>
            <a:off x="6455664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35" name="Software d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274820"/>
            <a:ext cx="320040" cy="320040"/>
          </a:xfrm>
          <a:prstGeom prst="rect">
            <a:avLst/>
          </a:prstGeom>
        </p:spPr>
      </p:pic>
      <p:sp>
        <p:nvSpPr>
          <p:cNvPr id="36" name="Software de gestão título"/>
          <p:cNvSpPr txBox="1"/>
          <p:nvPr/>
        </p:nvSpPr>
        <p:spPr>
          <a:xfrm>
            <a:off x="6455664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de gestão</a:t>
            </a:r>
            <a:endParaRPr lang="en-US" sz="1600" dirty="0"/>
          </a:p>
        </p:txBody>
      </p:sp>
      <p:sp>
        <p:nvSpPr>
          <p:cNvPr id="37" name="Software de gestão texto"/>
          <p:cNvSpPr txBox="1"/>
          <p:nvPr/>
        </p:nvSpPr>
        <p:spPr>
          <a:xfrm>
            <a:off x="6455664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Conteúdo e venda programática de mídia</a:t>
            </a:r>
            <a:endParaRPr lang="en-US" sz="1400" dirty="0"/>
          </a:p>
        </p:txBody>
      </p:sp>
      <p:sp>
        <p:nvSpPr>
          <p:cNvPr id="38" name="Diferencial Garantia e suporte"/>
          <p:cNvSpPr/>
          <p:nvPr/>
        </p:nvSpPr>
        <p:spPr>
          <a:xfrm>
            <a:off x="8997696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Garantia e suporte círculo"/>
          <p:cNvSpPr/>
          <p:nvPr/>
        </p:nvSpPr>
        <p:spPr>
          <a:xfrm>
            <a:off x="9272016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40" name="Garantia e suporte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4274820"/>
            <a:ext cx="320040" cy="320040"/>
          </a:xfrm>
          <a:prstGeom prst="rect">
            <a:avLst/>
          </a:prstGeom>
        </p:spPr>
      </p:pic>
      <p:sp>
        <p:nvSpPr>
          <p:cNvPr id="41" name="Garantia e suporte título"/>
          <p:cNvSpPr txBox="1"/>
          <p:nvPr/>
        </p:nvSpPr>
        <p:spPr>
          <a:xfrm>
            <a:off x="9272016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Garantia e suporte</a:t>
            </a:r>
            <a:endParaRPr lang="en-US" sz="1600" dirty="0"/>
          </a:p>
        </p:txBody>
      </p:sp>
      <p:sp>
        <p:nvSpPr>
          <p:cNvPr id="42" name="Garantia e suporte texto"/>
          <p:cNvSpPr txBox="1"/>
          <p:nvPr/>
        </p:nvSpPr>
        <p:spPr>
          <a:xfrm>
            <a:off x="9272016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Equipe técnica própria para a tela não apagar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Museu do Amanhã"/>
          <p:cNvSpPr/>
          <p:nvPr/>
        </p:nvSpPr>
        <p:spPr>
          <a:xfrm>
            <a:off x="54864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Museu do Amanhã</a:t>
            </a:r>
            <a:endParaRPr lang="en-US" sz="2200" dirty="0"/>
          </a:p>
        </p:txBody>
      </p:sp>
      <p:sp>
        <p:nvSpPr>
          <p:cNvPr id="5" name="Marca Nordestão"/>
          <p:cNvSpPr/>
          <p:nvPr/>
        </p:nvSpPr>
        <p:spPr>
          <a:xfrm>
            <a:off x="42976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Nordestão</a:t>
            </a:r>
            <a:endParaRPr lang="en-US" sz="2200" dirty="0"/>
          </a:p>
        </p:txBody>
      </p:sp>
      <p:sp>
        <p:nvSpPr>
          <p:cNvPr id="7" name="Marca Rosewood"/>
          <p:cNvSpPr/>
          <p:nvPr/>
        </p:nvSpPr>
        <p:spPr>
          <a:xfrm>
            <a:off x="804672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Rosewood</a:t>
            </a:r>
            <a:endParaRPr lang="en-US" sz="2200" dirty="0"/>
          </a:p>
        </p:txBody>
      </p:sp>
      <p:sp>
        <p:nvSpPr>
          <p:cNvPr id="9" name="Marca Beto Carrero World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Marca nome 4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Beto Carrero World</a:t>
            </a:r>
            <a:endParaRPr lang="en-US" sz="2200" dirty="0"/>
          </a:p>
        </p:txBody>
      </p:sp>
      <p:sp>
        <p:nvSpPr>
          <p:cNvPr id="11" name="Marca Animalia"/>
          <p:cNvSpPr/>
          <p:nvPr/>
        </p:nvSpPr>
        <p:spPr>
          <a:xfrm>
            <a:off x="429768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Marca nome 5"/>
          <p:cNvSpPr txBox="1"/>
          <p:nvPr/>
        </p:nvSpPr>
        <p:spPr>
          <a:xfrm>
            <a:off x="429768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Animalia</a:t>
            </a:r>
            <a:endParaRPr lang="en-US" sz="2200" dirty="0"/>
          </a:p>
        </p:txBody>
      </p:sp>
      <p:sp>
        <p:nvSpPr>
          <p:cNvPr id="13" name="Marca Volkswagen"/>
          <p:cNvSpPr/>
          <p:nvPr/>
        </p:nvSpPr>
        <p:spPr>
          <a:xfrm>
            <a:off x="804672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Marca nome 6"/>
          <p:cNvSpPr txBox="1"/>
          <p:nvPr/>
        </p:nvSpPr>
        <p:spPr>
          <a:xfrm>
            <a:off x="80467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Volkswagen</a:t>
            </a:r>
            <a:endParaRPr lang="en-US" sz="2200" dirty="0"/>
          </a:p>
        </p:txBody>
      </p:sp>
      <p:sp>
        <p:nvSpPr>
          <p:cNvPr id="15" name="Ranking Exame círculo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6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263390"/>
            <a:ext cx="388620" cy="388620"/>
          </a:xfrm>
          <a:prstGeom prst="rect">
            <a:avLst/>
          </a:prstGeom>
        </p:spPr>
      </p:pic>
      <p:sp>
        <p:nvSpPr>
          <p:cNvPr id="17" name="Ranking Exame título"/>
          <p:cNvSpPr txBox="1"/>
          <p:nvPr/>
        </p:nvSpPr>
        <p:spPr>
          <a:xfrm>
            <a:off x="150876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8" name="Ranking Exame texto"/>
          <p:cNvSpPr txBox="1"/>
          <p:nvPr/>
        </p:nvSpPr>
        <p:spPr>
          <a:xfrm>
            <a:off x="150876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9" name="ABF Expo círculo"/>
          <p:cNvSpPr/>
          <p:nvPr/>
        </p:nvSpPr>
        <p:spPr>
          <a:xfrm>
            <a:off x="429768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0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263390"/>
            <a:ext cx="388620" cy="388620"/>
          </a:xfrm>
          <a:prstGeom prst="rect">
            <a:avLst/>
          </a:prstGeom>
        </p:spPr>
      </p:pic>
      <p:sp>
        <p:nvSpPr>
          <p:cNvPr id="21" name="ABF Expo título"/>
          <p:cNvSpPr txBox="1"/>
          <p:nvPr/>
        </p:nvSpPr>
        <p:spPr>
          <a:xfrm>
            <a:off x="52578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22" name="ABF Expo texto"/>
          <p:cNvSpPr txBox="1"/>
          <p:nvPr/>
        </p:nvSpPr>
        <p:spPr>
          <a:xfrm>
            <a:off x="525780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23" name="NRF 2026, Nova York círculo"/>
          <p:cNvSpPr/>
          <p:nvPr/>
        </p:nvSpPr>
        <p:spPr>
          <a:xfrm>
            <a:off x="804672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263390"/>
            <a:ext cx="388620" cy="388620"/>
          </a:xfrm>
          <a:prstGeom prst="rect">
            <a:avLst/>
          </a:prstGeom>
        </p:spPr>
      </p:pic>
      <p:sp>
        <p:nvSpPr>
          <p:cNvPr id="25" name="NRF 2026, Nova York título"/>
          <p:cNvSpPr txBox="1"/>
          <p:nvPr/>
        </p:nvSpPr>
        <p:spPr>
          <a:xfrm>
            <a:off x="90068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6" name="NRF 2026, Nova York texto"/>
          <p:cNvSpPr txBox="1"/>
          <p:nvPr/>
        </p:nvSpPr>
        <p:spPr>
          <a:xfrm>
            <a:off x="900684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7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Troque os nomes pelos logos oficiais dos clientes antes de enviar o arquivo.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Mostrar na prática que a instituição prepara para o futuro e informa a comunidade escolar com eficiência.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  <p:sp>
        <p:nvSpPr>
          <p:cNvPr id="6" name="Propósito de compra 1"/>
          <p:cNvSpPr/>
          <p:nvPr/>
        </p:nvSpPr>
        <p:spPr>
          <a:xfrm>
            <a:off x="82296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7" name="Propósito de compra texto 1"/>
          <p:cNvSpPr txBox="1"/>
          <p:nvPr/>
        </p:nvSpPr>
        <p:spPr>
          <a:xfrm>
            <a:off x="82296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Insumo de trabalho</a:t>
            </a:r>
            <a:endParaRPr lang="en-US" sz="1400" dirty="0"/>
          </a:p>
        </p:txBody>
      </p:sp>
      <p:sp>
        <p:nvSpPr>
          <p:cNvPr id="8" name="Propósito de compra 2"/>
          <p:cNvSpPr/>
          <p:nvPr/>
        </p:nvSpPr>
        <p:spPr>
          <a:xfrm>
            <a:off x="347472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9" name="Propósito de compra texto 2"/>
          <p:cNvSpPr txBox="1"/>
          <p:nvPr/>
        </p:nvSpPr>
        <p:spPr>
          <a:xfrm>
            <a:off x="34747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Experiência</a:t>
            </a:r>
            <a:endParaRPr lang="en-US" sz="1400" dirty="0"/>
          </a:p>
        </p:txBody>
      </p:sp>
      <p:sp>
        <p:nvSpPr>
          <p:cNvPr id="10" name="Propósito de compra 3"/>
          <p:cNvSpPr/>
          <p:nvPr/>
        </p:nvSpPr>
        <p:spPr>
          <a:xfrm>
            <a:off x="612648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11" name="Propósito de compra texto 3"/>
          <p:cNvSpPr txBox="1"/>
          <p:nvPr/>
        </p:nvSpPr>
        <p:spPr>
          <a:xfrm>
            <a:off x="612648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Status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Auditório com painel de LED: formatura, feira de ciências, palestra e transmissão para a família que mora em outra cidade. Um investimento, dezenas de momentos que a família não esquece.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Escola que mostra o futuro forma para o futuro.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Captação e retenção de alunos, eventos e formaturas com estrutura própria, locação do auditório para terceiros.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Ambiente moderno, ensino com conteúdo visual de impacto, eventos memoráveis.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Comunicação de avisos, horários e campanhas em todo o campus; substitui murais.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Painel de auditório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LED de fachada e pátio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Totens informativos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para ginásio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Conversão de visitas em matrícula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Uso do auditório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Alcance de comunicados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Case: Museu do Amanhã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Escola que mostra o futuro forma para o futuro.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Vamos fazer a próxima visita de pais terminar em matrícula?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Visita técnica ao auditório/pátio + simulação de payback por matrícula.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Educação (Escolas, Faculdades e Universidades)</dc:title>
  <dc:subject>PptxGenJS Presentation</dc:subject>
  <dc:creator>LedWave</dc:creator>
  <cp:lastModifiedBy>LedWave</cp:lastModifiedBy>
  <cp:revision>1</cp:revision>
  <dcterms:created xsi:type="dcterms:W3CDTF">2026-10-19T17:15:11Z</dcterms:created>
  <dcterms:modified xsi:type="dcterms:W3CDTF">2026-10-19T17:15:11Z</dcterms:modified>
</cp:coreProperties>
</file>