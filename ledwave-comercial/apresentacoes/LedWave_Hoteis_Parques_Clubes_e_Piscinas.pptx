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dec829fa-da35-1abb-98a2-d56ee75abd23}">
          <p14:sldIdLst>
            <p14:sldId id="256"/>
            <p14:sldId id="257"/>
          </p14:sldIdLst>
        </p14:section>
        <p14:section name="O seu cenário" id="{f0744365-0459-551b-9b0a-ea7fb3d40a80}">
          <p14:sldIdLst>
            <p14:sldId id="258"/>
          </p14:sldIdLst>
        </p14:section>
        <p14:section name="LedWave" id="{3642d704-8c2b-4fe3-1579-20888acc2cf3}">
          <p14:sldIdLst>
            <p14:sldId id="259"/>
            <p14:sldId id="260"/>
            <p14:sldId id="261"/>
            <p14:sldId id="262"/>
            <p14:sldId id="263"/>
          </p14:sldIdLst>
        </p14:section>
        <p14:section name="Por que digitalizar" id="{f9144713-56dc-388f-e7c4-ac50675c4840}">
          <p14:sldIdLst>
            <p14:sldId id="264"/>
            <p14:sldId id="265"/>
          </p14:sldIdLst>
        </p14:section>
        <p14:section name="Ganhos e solução" id="{9216de43-6d5b-3285-8609-6ef230f755a5}">
          <p14:sldIdLst>
            <p14:sldId id="266"/>
            <p14:sldId id="267"/>
            <p14:sldId id="268"/>
          </p14:sldIdLst>
        </p14:section>
        <p14:section name="Próximo passo" id="{38a3ea4b-a42d-7936-6fb6-70871cbbbd0b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[Abertura · ~1 min] Cumprimente, combine o objetivo e o tempo da reunião (15 min) e peça permissão: "Posso começar com uma pergunta?"
Decisor típico: Gerente Geral, Diretor Comercial/Eventos, Presidente de clube, Diretor de Lazer.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[Gancho · ~1 min] Leia a pergunta, olhe nos olhos e espere 3 segundos. Deixe o cliente responder e anote as palavras dele.
Se ele responder, aprofunde com: "Quantos eventos por mês, quais espaços, quanto gastam ou repassam em locação de telão?"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[Dor · ~2 min] Não leia o slide. Pergunte antes de mostrar:
Situação: Quantos eventos por mês, quais espaços, quanto gastam ou repassam em locação de telão?
Problema: Já perderam eventos para concorrentes com melhor estrutura? A área de lazer tem programação noturna?
Implicação: Quanto somam as locações no ano? Quanto vale um evento corporativo perdido?
Use os números que o cliente der no slide de fechamento.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[LedWave · ~1,5 min] O cliente é o herói; a LedWave é o guia que já fez isso antes. Conte a origem em 20 segundos e siga.
Frase-ponte: "E é por isso que estamos aqui."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[Números · ~1 min] Escolha os 2 números que mais conversam com Hotéis, Parques, Clubes e Piscinas e fale só deles. Ex.: para mídia e grandes formatos, o Boulevard.Live; para redes, as 4 bases e a fábrica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completa · ~1 min] Mensagem central: "Não vendemos painel. Entregamos o resultado que o painel gera."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[Diferenciais · ~1 min] Não leia os oito. Escolha os 2 ou 3 que respondem ao propósito de compra do cliente (Entretenimento, Experiência, Status) e conte cada um em uma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social · ~1 min] Cases do segmento (em destaque): Beto Carrero World, Rosewood, Animalia. Conte o de maior afinidade em uma frase. Apague a linha de instrução antes de enviar 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[Propósito · ~1 min] Fale devagar. Este é o porquê da conversa. Pausa de 3 segundos no final.
Propósitos de compra mais comuns neste nicho: Entretenimento, Experiência, Status. Confirme qual pesa mais para este cliente e apague os outros.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[História · ~1,5 min] Conte a história como cena, no presente. Se tiver o mockup do espaço do cliente, este é o momento de mostrar: antes e depois.
Frase de efeito: "Espaço sem experiência é só metro quadrado."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[Ganhos · ~2,5 min] Um ganho por vez. Para cada um, conecte com o que o cliente disse na descoberta: "Você comentou que... é aqui que isso muda."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· ~1,5 min] Mostre só o que faz sentido para o espaço do cliente; apague o resto.
Objeção provável: Já alugamos telão quando há evento.
Resposta: Somando as locações de um ano, o painel próprio costuma se pagar rápido, e ainda vira diferencial de venda do seu espaço. Vamos fazer essa conta com os seus números?
Objeção (comercial): Consumo de energia
Resposta: O LED é eficiente, e o projeto inclui ajuste automático de brilho e programação de horário. Calculamos o consumo real do seu painel na proposta.
Objeção (comercial): Manutenção
Resposta: Temos equipe técnica e estoque de peças próprios, e oferecemos contrato de manutenção preventiva.
Objeção (comercial): Momento financeiro
Resposta: Podemos começar por um piloto ou pela locação, que vira despesa mensal em vez de investimento, e crescer por fases.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· ~1 min] Preencha o case do segmento com um cliente real antes da reunião. Sem case do segmento, apague o card da direita e fale só do Boulevard.Live.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[Fechamento · ~1,5 min] Termine no ponto alto: repita a frase de efeito e proponha o próximo passo com duas opções de data ("quinta ou sexta?"). Nunca termine com "alguma dúvida?".
Pergunta de necessidade: Uma estrutura fixa que vira diferencial de venda e gera novos produtos de lazer faria sentido no plano do ano?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2743200" cy="939769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cap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914400"/>
            <a:ext cx="3904488" cy="45720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66751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977640"/>
            <a:ext cx="66751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2194560" cy="751815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faix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60" y="5943600"/>
            <a:ext cx="2322576" cy="54864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114800"/>
            <a:ext cx="69494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que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1645920" cy="563862"/>
          </a:xfrm>
          <a:prstGeom prst="rect">
            <a:avLst/>
          </a:prstGeom>
        </p:spPr>
      </p:pic>
      <p:pic>
        <p:nvPicPr>
          <p:cNvPr id="3" name="Image 1" descr="/tmp/claude-0/-home-user-Treino/88533c10-46fb-551a-b2bc-454e1913f5b1/scratchpad/build/assets/pixels-faix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5897880"/>
            <a:ext cx="2514600" cy="59436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Treino/88533c10-46fb-551a-b2bc-454e1913f5b1/scratchpad/build/assets/logo-led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272784"/>
            <a:ext cx="960120" cy="32891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91640" y="63276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A7A"/>
                </a:solidFill>
              </a:rPr>
              <a:t>Hotéis, Parques, Clubes e Piscinas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5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5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6675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Hotéis, Parques, Clubes e Piscinas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977640"/>
            <a:ext cx="6675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Espaço sem experiência é só metro quadrado.</a:t>
            </a:r>
            <a:endParaRPr lang="en-US" sz="2000" dirty="0"/>
          </a:p>
        </p:txBody>
      </p:sp>
      <p:sp>
        <p:nvSpPr>
          <p:cNvPr id="4" name="Cliente e data"/>
          <p:cNvSpPr txBox="1"/>
          <p:nvPr/>
        </p:nvSpPr>
        <p:spPr>
          <a:xfrm>
            <a:off x="548640" y="6035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</a:rPr>
              <a:t>Proposta para [Nome do cliente]  ·  [Data]</a:t>
            </a:r>
            <a:endParaRPr lang="en-US" sz="1400" dirty="0"/>
          </a:p>
        </p:txBody>
      </p:sp>
      <p:sp>
        <p:nvSpPr>
          <p:cNvPr id="5" name="Ícone do nicho círculo"/>
          <p:cNvSpPr/>
          <p:nvPr/>
        </p:nvSpPr>
        <p:spPr>
          <a:xfrm>
            <a:off x="7360920" y="4160520"/>
            <a:ext cx="1645920" cy="164592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6" name="Ícone do nich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4572000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Uma pergunta para começar</a:t>
            </a:r>
            <a:endParaRPr lang="en-US" sz="18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Quando uma empresa escolhe onde fazer a convenção anual, o que faz ela escolher o seu espaço e não o do concorrente?</a:t>
            </a:r>
            <a:endParaRPr lang="en-US" sz="3200" dirty="0"/>
          </a:p>
        </p:txBody>
      </p:sp>
      <p:sp>
        <p:nvSpPr>
          <p:cNvPr id="4" name="Pergunta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Pergun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desafio de hoje</a:t>
            </a:r>
            <a:endParaRPr lang="en-US" sz="3200" dirty="0"/>
          </a:p>
        </p:txBody>
      </p:sp>
      <p:sp>
        <p:nvSpPr>
          <p:cNvPr id="3" name="Card Como é hoje"/>
          <p:cNvSpPr/>
          <p:nvPr/>
        </p:nvSpPr>
        <p:spPr>
          <a:xfrm>
            <a:off x="54864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Como é hoje círculo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5" name="Como é hoj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25980"/>
            <a:ext cx="411480" cy="411480"/>
          </a:xfrm>
          <a:prstGeom prst="rect">
            <a:avLst/>
          </a:prstGeom>
        </p:spPr>
      </p:pic>
      <p:sp>
        <p:nvSpPr>
          <p:cNvPr id="6" name="Como é hoje título"/>
          <p:cNvSpPr txBox="1"/>
          <p:nvPr/>
        </p:nvSpPr>
        <p:spPr>
          <a:xfrm>
            <a:off x="91440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Como é hoje</a:t>
            </a:r>
            <a:endParaRPr lang="en-US" sz="2200" dirty="0"/>
          </a:p>
        </p:txBody>
      </p:sp>
      <p:sp>
        <p:nvSpPr>
          <p:cNvPr id="7" name="Como é hoje texto"/>
          <p:cNvSpPr txBox="1"/>
          <p:nvPr/>
        </p:nvSpPr>
        <p:spPr>
          <a:xfrm>
            <a:off x="91440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Disputa por eventos corporativos e sociais, áreas de lazer sem experiência diferenciada e comunicação com hóspedes/associados dispersa.</a:t>
            </a:r>
            <a:endParaRPr lang="en-US" sz="1700" dirty="0"/>
          </a:p>
        </p:txBody>
      </p:sp>
      <p:sp>
        <p:nvSpPr>
          <p:cNvPr id="8" name="Card O custo de esperar"/>
          <p:cNvSpPr/>
          <p:nvPr/>
        </p:nvSpPr>
        <p:spPr>
          <a:xfrm>
            <a:off x="621792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9" name="O custo de esperar círculo"/>
          <p:cNvSpPr/>
          <p:nvPr/>
        </p:nvSpPr>
        <p:spPr>
          <a:xfrm>
            <a:off x="6583680" y="1920240"/>
            <a:ext cx="822960" cy="8229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10" name="O custo de esperar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420" y="2125980"/>
            <a:ext cx="411480" cy="411480"/>
          </a:xfrm>
          <a:prstGeom prst="rect">
            <a:avLst/>
          </a:prstGeom>
        </p:spPr>
      </p:pic>
      <p:sp>
        <p:nvSpPr>
          <p:cNvPr id="11" name="O custo de esperar título"/>
          <p:cNvSpPr txBox="1"/>
          <p:nvPr/>
        </p:nvSpPr>
        <p:spPr>
          <a:xfrm>
            <a:off x="658368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 custo de esperar</a:t>
            </a:r>
            <a:endParaRPr lang="en-US" sz="2200" dirty="0"/>
          </a:p>
        </p:txBody>
      </p:sp>
      <p:sp>
        <p:nvSpPr>
          <p:cNvPr id="12" name="O custo de esperar texto"/>
          <p:cNvSpPr txBox="1"/>
          <p:nvPr/>
        </p:nvSpPr>
        <p:spPr>
          <a:xfrm>
            <a:off x="658368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evento corporativo vai para o concorrente que tem estrutura pronta; o associado/hóspede não percebe o valor do que paga.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é a LedWave</a:t>
            </a:r>
            <a:endParaRPr lang="en-US" sz="3200" dirty="0"/>
          </a:p>
        </p:txBody>
      </p:sp>
      <p:sp>
        <p:nvSpPr>
          <p:cNvPr id="3" name="História LedWave"/>
          <p:cNvSpPr txBox="1"/>
          <p:nvPr/>
        </p:nvSpPr>
        <p:spPr>
          <a:xfrm>
            <a:off x="548640" y="16459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De uma ideia em Xangai à liderança no Brasil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Uma viagem a Xangai mostrou ao nosso fundador, Tiago Brito, como as grandes capitais usam o LED para encantar pessoas. Com R$ 12 mil, essa ideia virou fábrica em Goiânia.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Hoje fabricamos, instalamos e operamos painéis de LED para marcas de todo o país, com unidades no Brasil e nos Estados Unidos.</a:t>
            </a:r>
            <a:endParaRPr lang="en-US" sz="1600" dirty="0"/>
          </a:p>
        </p:txBody>
      </p:sp>
      <p:sp>
        <p:nvSpPr>
          <p:cNvPr id="4" name="Linha do tempo"/>
          <p:cNvSpPr/>
          <p:nvPr/>
        </p:nvSpPr>
        <p:spPr>
          <a:xfrm>
            <a:off x="6903720" y="1920240"/>
            <a:ext cx="0" cy="3657600"/>
          </a:xfrm>
          <a:prstGeom prst="line">
            <a:avLst/>
          </a:prstGeom>
          <a:noFill/>
          <a:ln w="38100">
            <a:solidFill>
              <a:srgbClr val="F2F3F7"/>
            </a:solidFill>
            <a:prstDash val="solid"/>
          </a:ln>
        </p:spPr>
      </p:sp>
      <p:sp>
        <p:nvSpPr>
          <p:cNvPr id="5" name="Marco 1"/>
          <p:cNvSpPr/>
          <p:nvPr/>
        </p:nvSpPr>
        <p:spPr>
          <a:xfrm>
            <a:off x="6739128" y="1810512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Marco ano 1"/>
          <p:cNvSpPr txBox="1"/>
          <p:nvPr/>
        </p:nvSpPr>
        <p:spPr>
          <a:xfrm>
            <a:off x="72694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2010/11</a:t>
            </a:r>
            <a:endParaRPr lang="en-US" sz="1800" dirty="0"/>
          </a:p>
        </p:txBody>
      </p:sp>
      <p:sp>
        <p:nvSpPr>
          <p:cNvPr id="7" name="Marco texto 1"/>
          <p:cNvSpPr txBox="1"/>
          <p:nvPr/>
        </p:nvSpPr>
        <p:spPr>
          <a:xfrm>
            <a:off x="7269480" y="20756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Fundação em Goiânia, com fábrica própria</a:t>
            </a:r>
            <a:endParaRPr lang="en-US" sz="1400" dirty="0"/>
          </a:p>
        </p:txBody>
      </p:sp>
      <p:sp>
        <p:nvSpPr>
          <p:cNvPr id="8" name="Marco 2"/>
          <p:cNvSpPr/>
          <p:nvPr/>
        </p:nvSpPr>
        <p:spPr>
          <a:xfrm>
            <a:off x="6739128" y="2889504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Marco ano 2"/>
          <p:cNvSpPr txBox="1"/>
          <p:nvPr/>
        </p:nvSpPr>
        <p:spPr>
          <a:xfrm>
            <a:off x="7269480" y="2770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 anos</a:t>
            </a:r>
            <a:endParaRPr lang="en-US" sz="1800" dirty="0"/>
          </a:p>
        </p:txBody>
      </p:sp>
      <p:sp>
        <p:nvSpPr>
          <p:cNvPr id="10" name="Marco texto 2"/>
          <p:cNvSpPr txBox="1"/>
          <p:nvPr/>
        </p:nvSpPr>
        <p:spPr>
          <a:xfrm>
            <a:off x="7269480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Seguidos no ranking Exame Negócios em Expansão</a:t>
            </a:r>
            <a:endParaRPr lang="en-US" sz="1400" dirty="0"/>
          </a:p>
        </p:txBody>
      </p:sp>
      <p:sp>
        <p:nvSpPr>
          <p:cNvPr id="11" name="Marco 3"/>
          <p:cNvSpPr/>
          <p:nvPr/>
        </p:nvSpPr>
        <p:spPr>
          <a:xfrm>
            <a:off x="6739128" y="3968496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Marco ano 3"/>
          <p:cNvSpPr txBox="1"/>
          <p:nvPr/>
        </p:nvSpPr>
        <p:spPr>
          <a:xfrm>
            <a:off x="7269480" y="38496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2025</a:t>
            </a:r>
            <a:endParaRPr lang="en-US" sz="1800" dirty="0"/>
          </a:p>
        </p:txBody>
      </p:sp>
      <p:sp>
        <p:nvSpPr>
          <p:cNvPr id="13" name="Marco texto 3"/>
          <p:cNvSpPr txBox="1"/>
          <p:nvPr/>
        </p:nvSpPr>
        <p:spPr>
          <a:xfrm>
            <a:off x="7269480" y="42336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1ª colocada do segmento de painéis de LED no ranking</a:t>
            </a:r>
            <a:endParaRPr lang="en-US" sz="1400" dirty="0"/>
          </a:p>
        </p:txBody>
      </p:sp>
      <p:sp>
        <p:nvSpPr>
          <p:cNvPr id="14" name="Marco 4"/>
          <p:cNvSpPr/>
          <p:nvPr/>
        </p:nvSpPr>
        <p:spPr>
          <a:xfrm>
            <a:off x="6739128" y="5047488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Marco ano 4"/>
          <p:cNvSpPr txBox="1"/>
          <p:nvPr/>
        </p:nvSpPr>
        <p:spPr>
          <a:xfrm>
            <a:off x="7269480" y="49286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2026</a:t>
            </a:r>
            <a:endParaRPr lang="en-US" sz="1800" dirty="0"/>
          </a:p>
        </p:txBody>
      </p:sp>
      <p:sp>
        <p:nvSpPr>
          <p:cNvPr id="16" name="Marco texto 4"/>
          <p:cNvSpPr txBox="1"/>
          <p:nvPr/>
        </p:nvSpPr>
        <p:spPr>
          <a:xfrm>
            <a:off x="7269480" y="531266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Única empresa brasileira de LED com estande próprio na NRF, em Nova York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LedWave em números</a:t>
            </a:r>
            <a:endParaRPr lang="en-US" sz="3200" dirty="0"/>
          </a:p>
        </p:txBody>
      </p:sp>
      <p:sp>
        <p:nvSpPr>
          <p:cNvPr id="3" name="Número 1"/>
          <p:cNvSpPr/>
          <p:nvPr/>
        </p:nvSpPr>
        <p:spPr>
          <a:xfrm>
            <a:off x="548640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Número valor 1"/>
          <p:cNvSpPr txBox="1"/>
          <p:nvPr/>
        </p:nvSpPr>
        <p:spPr>
          <a:xfrm>
            <a:off x="82296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1.125 m²</a:t>
            </a:r>
            <a:endParaRPr lang="en-US" sz="4000" dirty="0"/>
          </a:p>
        </p:txBody>
      </p:sp>
      <p:sp>
        <p:nvSpPr>
          <p:cNvPr id="5" name="Número legenda 1"/>
          <p:cNvSpPr txBox="1"/>
          <p:nvPr/>
        </p:nvSpPr>
        <p:spPr>
          <a:xfrm>
            <a:off x="822960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 maior painel de LED da América Latina (Boulevard.Live, Brasília)</a:t>
            </a:r>
            <a:endParaRPr lang="en-US" sz="1500" dirty="0"/>
          </a:p>
        </p:txBody>
      </p:sp>
      <p:sp>
        <p:nvSpPr>
          <p:cNvPr id="6" name="Número 2"/>
          <p:cNvSpPr/>
          <p:nvPr/>
        </p:nvSpPr>
        <p:spPr>
          <a:xfrm>
            <a:off x="3364992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Número valor 2"/>
          <p:cNvSpPr txBox="1"/>
          <p:nvPr/>
        </p:nvSpPr>
        <p:spPr>
          <a:xfrm>
            <a:off x="3639312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Nº 1</a:t>
            </a:r>
            <a:endParaRPr lang="en-US" sz="4000" dirty="0"/>
          </a:p>
        </p:txBody>
      </p:sp>
      <p:sp>
        <p:nvSpPr>
          <p:cNvPr id="8" name="Número legenda 2"/>
          <p:cNvSpPr txBox="1"/>
          <p:nvPr/>
        </p:nvSpPr>
        <p:spPr>
          <a:xfrm>
            <a:off x="3639312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segmento de painéis de LED no ranking Exame Negócios em Expansão 2025</a:t>
            </a:r>
            <a:endParaRPr lang="en-US" sz="1500" dirty="0"/>
          </a:p>
        </p:txBody>
      </p:sp>
      <p:sp>
        <p:nvSpPr>
          <p:cNvPr id="9" name="Número 3"/>
          <p:cNvSpPr/>
          <p:nvPr/>
        </p:nvSpPr>
        <p:spPr>
          <a:xfrm>
            <a:off x="6181344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0" name="Número valor 3"/>
          <p:cNvSpPr txBox="1"/>
          <p:nvPr/>
        </p:nvSpPr>
        <p:spPr>
          <a:xfrm>
            <a:off x="6455664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 anos</a:t>
            </a:r>
            <a:endParaRPr lang="en-US" sz="4000" dirty="0"/>
          </a:p>
        </p:txBody>
      </p:sp>
      <p:sp>
        <p:nvSpPr>
          <p:cNvPr id="11" name="Número legenda 3"/>
          <p:cNvSpPr txBox="1"/>
          <p:nvPr/>
        </p:nvSpPr>
        <p:spPr>
          <a:xfrm>
            <a:off x="6455664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seguidos entre as empresas que mais crescem no Brasil (Exame)</a:t>
            </a:r>
            <a:endParaRPr lang="en-US" sz="1500" dirty="0"/>
          </a:p>
        </p:txBody>
      </p:sp>
      <p:sp>
        <p:nvSpPr>
          <p:cNvPr id="12" name="Número 4"/>
          <p:cNvSpPr/>
          <p:nvPr/>
        </p:nvSpPr>
        <p:spPr>
          <a:xfrm>
            <a:off x="8997696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Número valor 4"/>
          <p:cNvSpPr txBox="1"/>
          <p:nvPr/>
        </p:nvSpPr>
        <p:spPr>
          <a:xfrm>
            <a:off x="9272016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 bases</a:t>
            </a:r>
            <a:endParaRPr lang="en-US" sz="4000" dirty="0"/>
          </a:p>
        </p:txBody>
      </p:sp>
      <p:sp>
        <p:nvSpPr>
          <p:cNvPr id="14" name="Número legenda 4"/>
          <p:cNvSpPr txBox="1"/>
          <p:nvPr/>
        </p:nvSpPr>
        <p:spPr>
          <a:xfrm>
            <a:off x="9272016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Goiânia (sede e fábrica), São Paulo, Brasília e Orlando (EUA)</a:t>
            </a:r>
            <a:endParaRPr lang="en-US" sz="15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</a:rPr>
              <a:t>Ranking Exame Negócios em Expansão com dados auditados pela PwC.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Solução completa, do projeto ao resultado</a:t>
            </a:r>
            <a:endParaRPr lang="en-US" sz="3200" dirty="0"/>
          </a:p>
        </p:txBody>
      </p:sp>
      <p:sp>
        <p:nvSpPr>
          <p:cNvPr id="3" name="Diagnóstico e projeto círculo"/>
          <p:cNvSpPr/>
          <p:nvPr/>
        </p:nvSpPr>
        <p:spPr>
          <a:xfrm>
            <a:off x="1115568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4" name="Diagnóstico e proje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57400"/>
            <a:ext cx="457200" cy="457200"/>
          </a:xfrm>
          <a:prstGeom prst="rect">
            <a:avLst/>
          </a:prstGeom>
        </p:spPr>
      </p:pic>
      <p:pic>
        <p:nvPicPr>
          <p:cNvPr id="5" name="Se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130552"/>
            <a:ext cx="292608" cy="292608"/>
          </a:xfrm>
          <a:prstGeom prst="rect">
            <a:avLst/>
          </a:prstGeom>
        </p:spPr>
      </p:pic>
      <p:sp>
        <p:nvSpPr>
          <p:cNvPr id="6" name="Diagnóstico e projeto título"/>
          <p:cNvSpPr txBox="1"/>
          <p:nvPr/>
        </p:nvSpPr>
        <p:spPr>
          <a:xfrm>
            <a:off x="548640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Diagnóstico e projeto</a:t>
            </a:r>
            <a:endParaRPr lang="en-US" sz="1700" dirty="0"/>
          </a:p>
        </p:txBody>
      </p:sp>
      <p:sp>
        <p:nvSpPr>
          <p:cNvPr id="7" name="Diagnóstico e projeto texto"/>
          <p:cNvSpPr txBox="1"/>
          <p:nvPr/>
        </p:nvSpPr>
        <p:spPr>
          <a:xfrm>
            <a:off x="548640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Estudo do seu espaço, do público e do objetivo</a:t>
            </a:r>
            <a:endParaRPr lang="en-US" sz="1400" dirty="0"/>
          </a:p>
        </p:txBody>
      </p:sp>
      <p:sp>
        <p:nvSpPr>
          <p:cNvPr id="8" name="Fabricação própria círculo"/>
          <p:cNvSpPr/>
          <p:nvPr/>
        </p:nvSpPr>
        <p:spPr>
          <a:xfrm>
            <a:off x="3383280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9" name="Fabricação própri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57400"/>
            <a:ext cx="457200" cy="457200"/>
          </a:xfrm>
          <a:prstGeom prst="rect">
            <a:avLst/>
          </a:prstGeom>
        </p:spPr>
      </p:pic>
      <p:pic>
        <p:nvPicPr>
          <p:cNvPr id="10" name="Set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130552"/>
            <a:ext cx="292608" cy="292608"/>
          </a:xfrm>
          <a:prstGeom prst="rect">
            <a:avLst/>
          </a:prstGeom>
        </p:spPr>
      </p:pic>
      <p:sp>
        <p:nvSpPr>
          <p:cNvPr id="11" name="Fabricação própria título"/>
          <p:cNvSpPr txBox="1"/>
          <p:nvPr/>
        </p:nvSpPr>
        <p:spPr>
          <a:xfrm>
            <a:off x="2816352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Fabricação própria</a:t>
            </a:r>
            <a:endParaRPr lang="en-US" sz="1700" dirty="0"/>
          </a:p>
        </p:txBody>
      </p:sp>
      <p:sp>
        <p:nvSpPr>
          <p:cNvPr id="12" name="Fabricação própria texto"/>
          <p:cNvSpPr txBox="1"/>
          <p:nvPr/>
        </p:nvSpPr>
        <p:spPr>
          <a:xfrm>
            <a:off x="2816352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em Goiânia</a:t>
            </a:r>
            <a:endParaRPr lang="en-US" sz="1400" dirty="0"/>
          </a:p>
        </p:txBody>
      </p:sp>
      <p:sp>
        <p:nvSpPr>
          <p:cNvPr id="13" name="Instalação círculo"/>
          <p:cNvSpPr/>
          <p:nvPr/>
        </p:nvSpPr>
        <p:spPr>
          <a:xfrm>
            <a:off x="5650992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4" name="Instalação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2057400"/>
            <a:ext cx="457200" cy="457200"/>
          </a:xfrm>
          <a:prstGeom prst="rect">
            <a:avLst/>
          </a:prstGeom>
        </p:spPr>
      </p:pic>
      <p:pic>
        <p:nvPicPr>
          <p:cNvPr id="15" name="Set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8584" y="2130552"/>
            <a:ext cx="292608" cy="292608"/>
          </a:xfrm>
          <a:prstGeom prst="rect">
            <a:avLst/>
          </a:prstGeom>
        </p:spPr>
      </p:pic>
      <p:sp>
        <p:nvSpPr>
          <p:cNvPr id="16" name="Instalação título"/>
          <p:cNvSpPr txBox="1"/>
          <p:nvPr/>
        </p:nvSpPr>
        <p:spPr>
          <a:xfrm>
            <a:off x="5084064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Instalação</a:t>
            </a:r>
            <a:endParaRPr lang="en-US" sz="1700" dirty="0"/>
          </a:p>
        </p:txBody>
      </p:sp>
      <p:sp>
        <p:nvSpPr>
          <p:cNvPr id="17" name="Instalação texto"/>
          <p:cNvSpPr txBox="1"/>
          <p:nvPr/>
        </p:nvSpPr>
        <p:spPr>
          <a:xfrm>
            <a:off x="5084064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Estrutura, energia e entrega com equipe técnica</a:t>
            </a:r>
            <a:endParaRPr lang="en-US" sz="1400" dirty="0"/>
          </a:p>
        </p:txBody>
      </p:sp>
      <p:sp>
        <p:nvSpPr>
          <p:cNvPr id="18" name="Conteúdo e gestão círculo"/>
          <p:cNvSpPr/>
          <p:nvPr/>
        </p:nvSpPr>
        <p:spPr>
          <a:xfrm>
            <a:off x="7918704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9" name="Conteúdo 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7304" y="2057400"/>
            <a:ext cx="457200" cy="457200"/>
          </a:xfrm>
          <a:prstGeom prst="rect">
            <a:avLst/>
          </a:prstGeom>
        </p:spPr>
      </p:pic>
      <p:pic>
        <p:nvPicPr>
          <p:cNvPr id="20" name="Seta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296" y="2130552"/>
            <a:ext cx="292608" cy="292608"/>
          </a:xfrm>
          <a:prstGeom prst="rect">
            <a:avLst/>
          </a:prstGeom>
        </p:spPr>
      </p:pic>
      <p:sp>
        <p:nvSpPr>
          <p:cNvPr id="21" name="Conteúdo e gestão título"/>
          <p:cNvSpPr txBox="1"/>
          <p:nvPr/>
        </p:nvSpPr>
        <p:spPr>
          <a:xfrm>
            <a:off x="7351776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Conteúdo e gestão</a:t>
            </a:r>
            <a:endParaRPr lang="en-US" sz="1700" dirty="0"/>
          </a:p>
        </p:txBody>
      </p:sp>
      <p:sp>
        <p:nvSpPr>
          <p:cNvPr id="22" name="Conteúdo e gestão texto"/>
          <p:cNvSpPr txBox="1"/>
          <p:nvPr/>
        </p:nvSpPr>
        <p:spPr>
          <a:xfrm>
            <a:off x="7351776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Telas atualizadas do celular ou do computador</a:t>
            </a:r>
            <a:endParaRPr lang="en-US" sz="1400" dirty="0"/>
          </a:p>
        </p:txBody>
      </p:sp>
      <p:sp>
        <p:nvSpPr>
          <p:cNvPr id="23" name="Suporte círculo"/>
          <p:cNvSpPr/>
          <p:nvPr/>
        </p:nvSpPr>
        <p:spPr>
          <a:xfrm>
            <a:off x="10186416" y="1828800"/>
            <a:ext cx="914400" cy="9144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4" name="Suporte ícon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15016" y="2057400"/>
            <a:ext cx="457200" cy="457200"/>
          </a:xfrm>
          <a:prstGeom prst="rect">
            <a:avLst/>
          </a:prstGeom>
        </p:spPr>
      </p:pic>
      <p:sp>
        <p:nvSpPr>
          <p:cNvPr id="25" name="Suporte título"/>
          <p:cNvSpPr txBox="1"/>
          <p:nvPr/>
        </p:nvSpPr>
        <p:spPr>
          <a:xfrm>
            <a:off x="9619488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Suporte</a:t>
            </a:r>
            <a:endParaRPr lang="en-US" sz="1700" dirty="0"/>
          </a:p>
        </p:txBody>
      </p:sp>
      <p:sp>
        <p:nvSpPr>
          <p:cNvPr id="26" name="Suporte texto"/>
          <p:cNvSpPr txBox="1"/>
          <p:nvPr/>
        </p:nvSpPr>
        <p:spPr>
          <a:xfrm>
            <a:off x="9619488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Assistência técnica para a tela não apagar</a:t>
            </a:r>
            <a:endParaRPr lang="en-US" sz="1400" dirty="0"/>
          </a:p>
        </p:txBody>
      </p:sp>
      <p:sp>
        <p:nvSpPr>
          <p:cNvPr id="27" name="Faixa venda e locação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8" name="Venda ou locação"/>
          <p:cNvSpPr txBox="1"/>
          <p:nvPr/>
        </p:nvSpPr>
        <p:spPr>
          <a:xfrm>
            <a:off x="868680" y="50749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Venda ou locação: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modelo se adapta ao seu uso, do evento de um dia à operação permanente.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Por que a LedWave</a:t>
            </a:r>
            <a:endParaRPr lang="en-US" sz="3200" dirty="0"/>
          </a:p>
        </p:txBody>
      </p:sp>
      <p:sp>
        <p:nvSpPr>
          <p:cNvPr id="3" name="Diferencial Solução 360°"/>
          <p:cNvSpPr/>
          <p:nvPr/>
        </p:nvSpPr>
        <p:spPr>
          <a:xfrm>
            <a:off x="548640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4" name="Solução 360° círculo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5" name="Solução 360°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034540"/>
            <a:ext cx="320040" cy="320040"/>
          </a:xfrm>
          <a:prstGeom prst="rect">
            <a:avLst/>
          </a:prstGeom>
        </p:spPr>
      </p:pic>
      <p:sp>
        <p:nvSpPr>
          <p:cNvPr id="6" name="Solução 360° título"/>
          <p:cNvSpPr txBox="1"/>
          <p:nvPr/>
        </p:nvSpPr>
        <p:spPr>
          <a:xfrm>
            <a:off x="822960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Solução 360°</a:t>
            </a:r>
            <a:endParaRPr lang="en-US" sz="1600" dirty="0"/>
          </a:p>
        </p:txBody>
      </p:sp>
      <p:sp>
        <p:nvSpPr>
          <p:cNvPr id="7" name="Solução 360° texto"/>
          <p:cNvSpPr txBox="1"/>
          <p:nvPr/>
        </p:nvSpPr>
        <p:spPr>
          <a:xfrm>
            <a:off x="822960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 projeto ao conteúdo, um só parceiro</a:t>
            </a:r>
            <a:endParaRPr lang="en-US" sz="1400" dirty="0"/>
          </a:p>
        </p:txBody>
      </p:sp>
      <p:sp>
        <p:nvSpPr>
          <p:cNvPr id="8" name="Diferencial Fábrica própria"/>
          <p:cNvSpPr/>
          <p:nvPr/>
        </p:nvSpPr>
        <p:spPr>
          <a:xfrm>
            <a:off x="3364992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9" name="Fábrica própria círculo"/>
          <p:cNvSpPr/>
          <p:nvPr/>
        </p:nvSpPr>
        <p:spPr>
          <a:xfrm>
            <a:off x="3639312" y="187452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10" name="Fábrica própr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9332" y="2034540"/>
            <a:ext cx="320040" cy="320040"/>
          </a:xfrm>
          <a:prstGeom prst="rect">
            <a:avLst/>
          </a:prstGeom>
        </p:spPr>
      </p:pic>
      <p:sp>
        <p:nvSpPr>
          <p:cNvPr id="11" name="Fábrica própria título"/>
          <p:cNvSpPr txBox="1"/>
          <p:nvPr/>
        </p:nvSpPr>
        <p:spPr>
          <a:xfrm>
            <a:off x="3639312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Fábrica própria</a:t>
            </a:r>
            <a:endParaRPr lang="en-US" sz="1600" dirty="0"/>
          </a:p>
        </p:txBody>
      </p:sp>
      <p:sp>
        <p:nvSpPr>
          <p:cNvPr id="12" name="Fábrica própria texto"/>
          <p:cNvSpPr txBox="1"/>
          <p:nvPr/>
        </p:nvSpPr>
        <p:spPr>
          <a:xfrm>
            <a:off x="3639312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no Brasil, em Goiânia</a:t>
            </a:r>
            <a:endParaRPr lang="en-US" sz="1400" dirty="0"/>
          </a:p>
        </p:txBody>
      </p:sp>
      <p:sp>
        <p:nvSpPr>
          <p:cNvPr id="13" name="Diferencial Venda ou locação"/>
          <p:cNvSpPr/>
          <p:nvPr/>
        </p:nvSpPr>
        <p:spPr>
          <a:xfrm>
            <a:off x="6181344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4" name="Venda ou locação círculo"/>
          <p:cNvSpPr/>
          <p:nvPr/>
        </p:nvSpPr>
        <p:spPr>
          <a:xfrm>
            <a:off x="6455664" y="187452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5" name="Venda ou locaçã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684" y="2034540"/>
            <a:ext cx="320040" cy="320040"/>
          </a:xfrm>
          <a:prstGeom prst="rect">
            <a:avLst/>
          </a:prstGeom>
        </p:spPr>
      </p:pic>
      <p:sp>
        <p:nvSpPr>
          <p:cNvPr id="16" name="Venda ou locação título"/>
          <p:cNvSpPr txBox="1"/>
          <p:nvPr/>
        </p:nvSpPr>
        <p:spPr>
          <a:xfrm>
            <a:off x="6455664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Venda ou locação</a:t>
            </a:r>
            <a:endParaRPr lang="en-US" sz="1600" dirty="0"/>
          </a:p>
        </p:txBody>
      </p:sp>
      <p:sp>
        <p:nvSpPr>
          <p:cNvPr id="17" name="Venda ou locação texto"/>
          <p:cNvSpPr txBox="1"/>
          <p:nvPr/>
        </p:nvSpPr>
        <p:spPr>
          <a:xfrm>
            <a:off x="6455664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 modelo comercial que cabe no seu negócio</a:t>
            </a:r>
            <a:endParaRPr lang="en-US" sz="1400" dirty="0"/>
          </a:p>
        </p:txBody>
      </p:sp>
      <p:sp>
        <p:nvSpPr>
          <p:cNvPr id="18" name="Diferencial Estoque próprio"/>
          <p:cNvSpPr/>
          <p:nvPr/>
        </p:nvSpPr>
        <p:spPr>
          <a:xfrm>
            <a:off x="8997696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9" name="Estoque próprio círculo"/>
          <p:cNvSpPr/>
          <p:nvPr/>
        </p:nvSpPr>
        <p:spPr>
          <a:xfrm>
            <a:off x="9272016" y="187452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20" name="Estoque próprio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036" y="2034540"/>
            <a:ext cx="320040" cy="320040"/>
          </a:xfrm>
          <a:prstGeom prst="rect">
            <a:avLst/>
          </a:prstGeom>
        </p:spPr>
      </p:pic>
      <p:sp>
        <p:nvSpPr>
          <p:cNvPr id="21" name="Estoque próprio título"/>
          <p:cNvSpPr txBox="1"/>
          <p:nvPr/>
        </p:nvSpPr>
        <p:spPr>
          <a:xfrm>
            <a:off x="9272016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Estoque próprio</a:t>
            </a:r>
            <a:endParaRPr lang="en-US" sz="1600" dirty="0"/>
          </a:p>
        </p:txBody>
      </p:sp>
      <p:sp>
        <p:nvSpPr>
          <p:cNvPr id="22" name="Estoque próprio texto"/>
          <p:cNvSpPr txBox="1"/>
          <p:nvPr/>
        </p:nvSpPr>
        <p:spPr>
          <a:xfrm>
            <a:off x="9272016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Menos espera entre a assinatura e a tela acesa</a:t>
            </a:r>
            <a:endParaRPr lang="en-US" sz="1400" dirty="0"/>
          </a:p>
        </p:txBody>
      </p:sp>
      <p:sp>
        <p:nvSpPr>
          <p:cNvPr id="23" name="Diferencial Atendimento nacional"/>
          <p:cNvSpPr/>
          <p:nvPr/>
        </p:nvSpPr>
        <p:spPr>
          <a:xfrm>
            <a:off x="548640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4" name="Atendimento nacional círculo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5" name="Atendimento nacional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" y="4274820"/>
            <a:ext cx="320040" cy="320040"/>
          </a:xfrm>
          <a:prstGeom prst="rect">
            <a:avLst/>
          </a:prstGeom>
        </p:spPr>
      </p:pic>
      <p:sp>
        <p:nvSpPr>
          <p:cNvPr id="26" name="Atendimento nacional título"/>
          <p:cNvSpPr txBox="1"/>
          <p:nvPr/>
        </p:nvSpPr>
        <p:spPr>
          <a:xfrm>
            <a:off x="822960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Atendimento nacional</a:t>
            </a:r>
            <a:endParaRPr lang="en-US" sz="1600" dirty="0"/>
          </a:p>
        </p:txBody>
      </p:sp>
      <p:sp>
        <p:nvSpPr>
          <p:cNvPr id="27" name="Atendimento nacional texto"/>
          <p:cNvSpPr txBox="1"/>
          <p:nvPr/>
        </p:nvSpPr>
        <p:spPr>
          <a:xfrm>
            <a:off x="822960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Goiânia, São Paulo, Brasília e Orlando (EUA)</a:t>
            </a:r>
            <a:endParaRPr lang="en-US" sz="1400" dirty="0"/>
          </a:p>
        </p:txBody>
      </p:sp>
      <p:sp>
        <p:nvSpPr>
          <p:cNvPr id="28" name="Diferencial Sob medida"/>
          <p:cNvSpPr/>
          <p:nvPr/>
        </p:nvSpPr>
        <p:spPr>
          <a:xfrm>
            <a:off x="3364992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9" name="Sob medida círculo"/>
          <p:cNvSpPr/>
          <p:nvPr/>
        </p:nvSpPr>
        <p:spPr>
          <a:xfrm>
            <a:off x="3639312" y="411480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30" name="Sob medida í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9332" y="4274820"/>
            <a:ext cx="320040" cy="320040"/>
          </a:xfrm>
          <a:prstGeom prst="rect">
            <a:avLst/>
          </a:prstGeom>
        </p:spPr>
      </p:pic>
      <p:sp>
        <p:nvSpPr>
          <p:cNvPr id="31" name="Sob medida título"/>
          <p:cNvSpPr txBox="1"/>
          <p:nvPr/>
        </p:nvSpPr>
        <p:spPr>
          <a:xfrm>
            <a:off x="3639312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Sob medida</a:t>
            </a:r>
            <a:endParaRPr lang="en-US" sz="1600" dirty="0"/>
          </a:p>
        </p:txBody>
      </p:sp>
      <p:sp>
        <p:nvSpPr>
          <p:cNvPr id="32" name="Sob medida texto"/>
          <p:cNvSpPr txBox="1"/>
          <p:nvPr/>
        </p:nvSpPr>
        <p:spPr>
          <a:xfrm>
            <a:off x="3639312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Formato e resolução para o seu espaço</a:t>
            </a:r>
            <a:endParaRPr lang="en-US" sz="1400" dirty="0"/>
          </a:p>
        </p:txBody>
      </p:sp>
      <p:sp>
        <p:nvSpPr>
          <p:cNvPr id="33" name="Diferencial Software de gestão"/>
          <p:cNvSpPr/>
          <p:nvPr/>
        </p:nvSpPr>
        <p:spPr>
          <a:xfrm>
            <a:off x="6181344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4" name="Software de gestão círculo"/>
          <p:cNvSpPr/>
          <p:nvPr/>
        </p:nvSpPr>
        <p:spPr>
          <a:xfrm>
            <a:off x="6455664" y="4114800"/>
            <a:ext cx="640080" cy="64008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35" name="Software d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5684" y="4274820"/>
            <a:ext cx="320040" cy="320040"/>
          </a:xfrm>
          <a:prstGeom prst="rect">
            <a:avLst/>
          </a:prstGeom>
        </p:spPr>
      </p:pic>
      <p:sp>
        <p:nvSpPr>
          <p:cNvPr id="36" name="Software de gestão título"/>
          <p:cNvSpPr txBox="1"/>
          <p:nvPr/>
        </p:nvSpPr>
        <p:spPr>
          <a:xfrm>
            <a:off x="6455664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Software de gestão</a:t>
            </a:r>
            <a:endParaRPr lang="en-US" sz="1600" dirty="0"/>
          </a:p>
        </p:txBody>
      </p:sp>
      <p:sp>
        <p:nvSpPr>
          <p:cNvPr id="37" name="Software de gestão texto"/>
          <p:cNvSpPr txBox="1"/>
          <p:nvPr/>
        </p:nvSpPr>
        <p:spPr>
          <a:xfrm>
            <a:off x="6455664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Conteúdo e venda programática de mídia</a:t>
            </a:r>
            <a:endParaRPr lang="en-US" sz="1400" dirty="0"/>
          </a:p>
        </p:txBody>
      </p:sp>
      <p:sp>
        <p:nvSpPr>
          <p:cNvPr id="38" name="Diferencial Garantia e suporte"/>
          <p:cNvSpPr/>
          <p:nvPr/>
        </p:nvSpPr>
        <p:spPr>
          <a:xfrm>
            <a:off x="8997696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9" name="Garantia e suporte círculo"/>
          <p:cNvSpPr/>
          <p:nvPr/>
        </p:nvSpPr>
        <p:spPr>
          <a:xfrm>
            <a:off x="9272016" y="4114800"/>
            <a:ext cx="640080" cy="6400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40" name="Garantia e suporte ícone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32036" y="4274820"/>
            <a:ext cx="320040" cy="320040"/>
          </a:xfrm>
          <a:prstGeom prst="rect">
            <a:avLst/>
          </a:prstGeom>
        </p:spPr>
      </p:pic>
      <p:sp>
        <p:nvSpPr>
          <p:cNvPr id="41" name="Garantia e suporte título"/>
          <p:cNvSpPr txBox="1"/>
          <p:nvPr/>
        </p:nvSpPr>
        <p:spPr>
          <a:xfrm>
            <a:off x="9272016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Garantia e suporte</a:t>
            </a:r>
            <a:endParaRPr lang="en-US" sz="1600" dirty="0"/>
          </a:p>
        </p:txBody>
      </p:sp>
      <p:sp>
        <p:nvSpPr>
          <p:cNvPr id="42" name="Garantia e suporte texto"/>
          <p:cNvSpPr txBox="1"/>
          <p:nvPr/>
        </p:nvSpPr>
        <p:spPr>
          <a:xfrm>
            <a:off x="9272016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Equipe técnica própria para a tela não apagar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confia na LedWave</a:t>
            </a:r>
            <a:endParaRPr lang="en-US" sz="3200" dirty="0"/>
          </a:p>
        </p:txBody>
      </p:sp>
      <p:sp>
        <p:nvSpPr>
          <p:cNvPr id="3" name="Marca Beto Carrero World"/>
          <p:cNvSpPr/>
          <p:nvPr/>
        </p:nvSpPr>
        <p:spPr>
          <a:xfrm>
            <a:off x="54864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accent1"/>
          </a:solidFill>
          <a:ln/>
        </p:spPr>
      </p:sp>
      <p:sp>
        <p:nvSpPr>
          <p:cNvPr id="4" name="Marca nome 1"/>
          <p:cNvSpPr txBox="1"/>
          <p:nvPr/>
        </p:nvSpPr>
        <p:spPr>
          <a:xfrm>
            <a:off x="54864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Beto Carrero World</a:t>
            </a:r>
            <a:endParaRPr lang="en-US" sz="2200" dirty="0"/>
          </a:p>
        </p:txBody>
      </p:sp>
      <p:sp>
        <p:nvSpPr>
          <p:cNvPr id="5" name="Marca Rosewood"/>
          <p:cNvSpPr/>
          <p:nvPr/>
        </p:nvSpPr>
        <p:spPr>
          <a:xfrm>
            <a:off x="429768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accent1"/>
          </a:solidFill>
          <a:ln/>
        </p:spPr>
      </p:sp>
      <p:sp>
        <p:nvSpPr>
          <p:cNvPr id="6" name="Marca nome 2"/>
          <p:cNvSpPr txBox="1"/>
          <p:nvPr/>
        </p:nvSpPr>
        <p:spPr>
          <a:xfrm>
            <a:off x="429768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Rosewood</a:t>
            </a:r>
            <a:endParaRPr lang="en-US" sz="2200" dirty="0"/>
          </a:p>
        </p:txBody>
      </p:sp>
      <p:sp>
        <p:nvSpPr>
          <p:cNvPr id="7" name="Marca Animalia"/>
          <p:cNvSpPr/>
          <p:nvPr/>
        </p:nvSpPr>
        <p:spPr>
          <a:xfrm>
            <a:off x="804672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accent1"/>
          </a:solidFill>
          <a:ln/>
        </p:spPr>
      </p:sp>
      <p:sp>
        <p:nvSpPr>
          <p:cNvPr id="8" name="Marca nome 3"/>
          <p:cNvSpPr txBox="1"/>
          <p:nvPr/>
        </p:nvSpPr>
        <p:spPr>
          <a:xfrm>
            <a:off x="804672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Animalia</a:t>
            </a:r>
            <a:endParaRPr lang="en-US" sz="2200" dirty="0"/>
          </a:p>
        </p:txBody>
      </p:sp>
      <p:sp>
        <p:nvSpPr>
          <p:cNvPr id="9" name="Marca Nordestão"/>
          <p:cNvSpPr/>
          <p:nvPr/>
        </p:nvSpPr>
        <p:spPr>
          <a:xfrm>
            <a:off x="54864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0" name="Marca nome 4"/>
          <p:cNvSpPr txBox="1"/>
          <p:nvPr/>
        </p:nvSpPr>
        <p:spPr>
          <a:xfrm>
            <a:off x="54864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Nordestão</a:t>
            </a:r>
            <a:endParaRPr lang="en-US" sz="2200" dirty="0"/>
          </a:p>
        </p:txBody>
      </p:sp>
      <p:sp>
        <p:nvSpPr>
          <p:cNvPr id="11" name="Marca Museu do Amanhã"/>
          <p:cNvSpPr/>
          <p:nvPr/>
        </p:nvSpPr>
        <p:spPr>
          <a:xfrm>
            <a:off x="429768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2" name="Marca nome 5"/>
          <p:cNvSpPr txBox="1"/>
          <p:nvPr/>
        </p:nvSpPr>
        <p:spPr>
          <a:xfrm>
            <a:off x="429768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Museu do Amanhã</a:t>
            </a:r>
            <a:endParaRPr lang="en-US" sz="2200" dirty="0"/>
          </a:p>
        </p:txBody>
      </p:sp>
      <p:sp>
        <p:nvSpPr>
          <p:cNvPr id="13" name="Marca Volkswagen"/>
          <p:cNvSpPr/>
          <p:nvPr/>
        </p:nvSpPr>
        <p:spPr>
          <a:xfrm>
            <a:off x="804672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4" name="Marca nome 6"/>
          <p:cNvSpPr txBox="1"/>
          <p:nvPr/>
        </p:nvSpPr>
        <p:spPr>
          <a:xfrm>
            <a:off x="804672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Volkswagen</a:t>
            </a:r>
            <a:endParaRPr lang="en-US" sz="2200" dirty="0"/>
          </a:p>
        </p:txBody>
      </p:sp>
      <p:sp>
        <p:nvSpPr>
          <p:cNvPr id="15" name="Ranking Exame círculo"/>
          <p:cNvSpPr/>
          <p:nvPr/>
        </p:nvSpPr>
        <p:spPr>
          <a:xfrm>
            <a:off x="54864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6" name="Ranking Exam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4263390"/>
            <a:ext cx="388620" cy="388620"/>
          </a:xfrm>
          <a:prstGeom prst="rect">
            <a:avLst/>
          </a:prstGeom>
        </p:spPr>
      </p:pic>
      <p:sp>
        <p:nvSpPr>
          <p:cNvPr id="17" name="Ranking Exame título"/>
          <p:cNvSpPr txBox="1"/>
          <p:nvPr/>
        </p:nvSpPr>
        <p:spPr>
          <a:xfrm>
            <a:off x="150876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Ranking Exame</a:t>
            </a:r>
            <a:endParaRPr lang="en-US" sz="1700" dirty="0"/>
          </a:p>
        </p:txBody>
      </p:sp>
      <p:sp>
        <p:nvSpPr>
          <p:cNvPr id="18" name="Ranking Exame texto"/>
          <p:cNvSpPr txBox="1"/>
          <p:nvPr/>
        </p:nvSpPr>
        <p:spPr>
          <a:xfrm>
            <a:off x="150876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 anos seguidos, nº 1 do segmento em 2025</a:t>
            </a:r>
            <a:endParaRPr lang="en-US" sz="1400" dirty="0"/>
          </a:p>
        </p:txBody>
      </p:sp>
      <p:sp>
        <p:nvSpPr>
          <p:cNvPr id="19" name="ABF Expo círculo"/>
          <p:cNvSpPr/>
          <p:nvPr/>
        </p:nvSpPr>
        <p:spPr>
          <a:xfrm>
            <a:off x="429768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0" name="ABF Expo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1990" y="4263390"/>
            <a:ext cx="388620" cy="388620"/>
          </a:xfrm>
          <a:prstGeom prst="rect">
            <a:avLst/>
          </a:prstGeom>
        </p:spPr>
      </p:pic>
      <p:sp>
        <p:nvSpPr>
          <p:cNvPr id="21" name="ABF Expo título"/>
          <p:cNvSpPr txBox="1"/>
          <p:nvPr/>
        </p:nvSpPr>
        <p:spPr>
          <a:xfrm>
            <a:off x="525780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ABF Expo</a:t>
            </a:r>
            <a:endParaRPr lang="en-US" sz="1700" dirty="0"/>
          </a:p>
        </p:txBody>
      </p:sp>
      <p:sp>
        <p:nvSpPr>
          <p:cNvPr id="22" name="ABF Expo texto"/>
          <p:cNvSpPr txBox="1"/>
          <p:nvPr/>
        </p:nvSpPr>
        <p:spPr>
          <a:xfrm>
            <a:off x="525780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Parceira oficial da maior feira de franquias do país</a:t>
            </a:r>
            <a:endParaRPr lang="en-US" sz="1400" dirty="0"/>
          </a:p>
        </p:txBody>
      </p:sp>
      <p:sp>
        <p:nvSpPr>
          <p:cNvPr id="23" name="NRF 2026, Nova York círculo"/>
          <p:cNvSpPr/>
          <p:nvPr/>
        </p:nvSpPr>
        <p:spPr>
          <a:xfrm>
            <a:off x="8046720" y="4069080"/>
            <a:ext cx="777240" cy="77724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24" name="NRF 2026, Nova York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030" y="4263390"/>
            <a:ext cx="388620" cy="388620"/>
          </a:xfrm>
          <a:prstGeom prst="rect">
            <a:avLst/>
          </a:prstGeom>
        </p:spPr>
      </p:pic>
      <p:sp>
        <p:nvSpPr>
          <p:cNvPr id="25" name="NRF 2026, Nova York título"/>
          <p:cNvSpPr txBox="1"/>
          <p:nvPr/>
        </p:nvSpPr>
        <p:spPr>
          <a:xfrm>
            <a:off x="900684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NRF 2026, Nova York</a:t>
            </a:r>
            <a:endParaRPr lang="en-US" sz="1700" dirty="0"/>
          </a:p>
        </p:txBody>
      </p:sp>
      <p:sp>
        <p:nvSpPr>
          <p:cNvPr id="26" name="NRF 2026, Nova York texto"/>
          <p:cNvSpPr txBox="1"/>
          <p:nvPr/>
        </p:nvSpPr>
        <p:spPr>
          <a:xfrm>
            <a:off x="900684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Estande próprio na maior feira de varejo do mundo</a:t>
            </a:r>
            <a:endParaRPr lang="en-US" sz="1400" dirty="0"/>
          </a:p>
        </p:txBody>
      </p:sp>
      <p:sp>
        <p:nvSpPr>
          <p:cNvPr id="27" name="Instrução logos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7A7A7A"/>
                </a:solidFill>
              </a:rPr>
              <a:t>Troque os nomes pelos logos oficiais dos clientes antes de enviar o arquivo.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Por que digitalizar o seu espaço</a:t>
            </a:r>
            <a:endParaRPr lang="en-US" sz="18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Transformar espaços em experiências: eventos mais fortes, lazer memorável e comunicação que encanta.</a:t>
            </a:r>
            <a:endParaRPr lang="en-US" sz="3200" dirty="0"/>
          </a:p>
        </p:txBody>
      </p:sp>
      <p:sp>
        <p:nvSpPr>
          <p:cNvPr id="4" name="Propósito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Propósi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  <p:sp>
        <p:nvSpPr>
          <p:cNvPr id="6" name="Propósito de compra 1"/>
          <p:cNvSpPr/>
          <p:nvPr/>
        </p:nvSpPr>
        <p:spPr>
          <a:xfrm>
            <a:off x="82296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7" name="Propósito de compra texto 1"/>
          <p:cNvSpPr txBox="1"/>
          <p:nvPr/>
        </p:nvSpPr>
        <p:spPr>
          <a:xfrm>
            <a:off x="82296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Entretenimento</a:t>
            </a:r>
            <a:endParaRPr lang="en-US" sz="1400" dirty="0"/>
          </a:p>
        </p:txBody>
      </p:sp>
      <p:sp>
        <p:nvSpPr>
          <p:cNvPr id="8" name="Propósito de compra 2"/>
          <p:cNvSpPr/>
          <p:nvPr/>
        </p:nvSpPr>
        <p:spPr>
          <a:xfrm>
            <a:off x="347472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9" name="Propósito de compra texto 2"/>
          <p:cNvSpPr txBox="1"/>
          <p:nvPr/>
        </p:nvSpPr>
        <p:spPr>
          <a:xfrm>
            <a:off x="347472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Experiência</a:t>
            </a:r>
            <a:endParaRPr lang="en-US" sz="1400" dirty="0"/>
          </a:p>
        </p:txBody>
      </p:sp>
      <p:sp>
        <p:nvSpPr>
          <p:cNvPr id="10" name="Propósito de compra 3"/>
          <p:cNvSpPr/>
          <p:nvPr/>
        </p:nvSpPr>
        <p:spPr>
          <a:xfrm>
            <a:off x="612648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11FF"/>
            </a:solidFill>
            <a:prstDash val="solid"/>
          </a:ln>
        </p:spPr>
      </p:sp>
      <p:sp>
        <p:nvSpPr>
          <p:cNvPr id="11" name="Propósito de compra texto 3"/>
          <p:cNvSpPr txBox="1"/>
          <p:nvPr/>
        </p:nvSpPr>
        <p:spPr>
          <a:xfrm>
            <a:off x="612648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Status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Imagine o seu espaço</a:t>
            </a:r>
            <a:endParaRPr lang="en-US" sz="3200" dirty="0"/>
          </a:p>
        </p:txBody>
      </p:sp>
      <p:sp>
        <p:nvSpPr>
          <p:cNvPr id="3" name="História"/>
          <p:cNvSpPr txBox="1"/>
          <p:nvPr/>
        </p:nvSpPr>
        <p:spPr>
          <a:xfrm>
            <a:off x="548640" y="16916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Piscina com painel à noite: cinema ao ar livre, jogo da Seleção, festa temática. O mesmo espaço vira três produtos diferentes na mesma semana.</a:t>
            </a:r>
            <a:endParaRPr lang="en-US" sz="1800" dirty="0"/>
          </a:p>
        </p:txBody>
      </p:sp>
      <p:sp>
        <p:nvSpPr>
          <p:cNvPr id="4" name="Frase de efeito"/>
          <p:cNvSpPr txBox="1"/>
          <p:nvPr/>
        </p:nvSpPr>
        <p:spPr>
          <a:xfrm>
            <a:off x="54864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Espaço sem experiência é só metro quadrado.</a:t>
            </a:r>
            <a:endParaRPr lang="en-US" sz="2000" dirty="0"/>
          </a:p>
        </p:txBody>
      </p:sp>
      <p:sp>
        <p:nvSpPr>
          <p:cNvPr id="5" name="Área da simulação"/>
          <p:cNvSpPr/>
          <p:nvPr/>
        </p:nvSpPr>
        <p:spPr>
          <a:xfrm>
            <a:off x="5943600" y="1600200"/>
            <a:ext cx="566928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 w="19050">
            <a:solidFill>
              <a:srgbClr val="658DFF"/>
            </a:solidFill>
            <a:prstDash val="dash"/>
          </a:ln>
        </p:spPr>
      </p:sp>
      <p:sp>
        <p:nvSpPr>
          <p:cNvPr id="6" name="Simulação círculo"/>
          <p:cNvSpPr/>
          <p:nvPr/>
        </p:nvSpPr>
        <p:spPr>
          <a:xfrm>
            <a:off x="8366760" y="2743200"/>
            <a:ext cx="822960" cy="82296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7" name="Simulaçã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0" y="2948940"/>
            <a:ext cx="411480" cy="411480"/>
          </a:xfrm>
          <a:prstGeom prst="rect">
            <a:avLst/>
          </a:prstGeom>
        </p:spPr>
      </p:pic>
      <p:sp>
        <p:nvSpPr>
          <p:cNvPr id="8" name="Instrução simulação"/>
          <p:cNvSpPr txBox="1"/>
          <p:nvPr/>
        </p:nvSpPr>
        <p:spPr>
          <a:xfrm>
            <a:off x="6217920" y="37490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Simulação do painel no espaço do cliente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(insira aqui o mockup antes da reunião)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Três ganhos para o seu negócio</a:t>
            </a:r>
            <a:endParaRPr lang="en-US" sz="3200" dirty="0"/>
          </a:p>
        </p:txBody>
      </p:sp>
      <p:sp>
        <p:nvSpPr>
          <p:cNvPr id="3" name="Ganho Mais receita"/>
          <p:cNvSpPr/>
          <p:nvPr/>
        </p:nvSpPr>
        <p:spPr>
          <a:xfrm>
            <a:off x="54864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Mais receita círculo"/>
          <p:cNvSpPr/>
          <p:nvPr/>
        </p:nvSpPr>
        <p:spPr>
          <a:xfrm>
            <a:off x="868680" y="1920240"/>
            <a:ext cx="868680" cy="868680"/>
          </a:xfrm>
          <a:prstGeom prst="ellipse">
            <a:avLst/>
          </a:prstGeom>
          <a:solidFill>
            <a:srgbClr val="E011FF"/>
          </a:solidFill>
          <a:ln/>
        </p:spPr>
      </p:sp>
      <p:pic>
        <p:nvPicPr>
          <p:cNvPr id="5" name="Mais recei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37410"/>
            <a:ext cx="434340" cy="434340"/>
          </a:xfrm>
          <a:prstGeom prst="rect">
            <a:avLst/>
          </a:prstGeom>
        </p:spPr>
      </p:pic>
      <p:sp>
        <p:nvSpPr>
          <p:cNvPr id="6" name="Mais receita título"/>
          <p:cNvSpPr txBox="1"/>
          <p:nvPr/>
        </p:nvSpPr>
        <p:spPr>
          <a:xfrm>
            <a:off x="86868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receita</a:t>
            </a:r>
            <a:endParaRPr lang="en-US" sz="2100" dirty="0"/>
          </a:p>
        </p:txBody>
      </p:sp>
      <p:sp>
        <p:nvSpPr>
          <p:cNvPr id="7" name="Mais receita texto"/>
          <p:cNvSpPr txBox="1"/>
          <p:nvPr/>
        </p:nvSpPr>
        <p:spPr>
          <a:xfrm>
            <a:off x="86868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Locação de salões com estrutura de LED inclusa (valor agregado ao pacote), eventos temáticos que geram receita extra, patrocínio.</a:t>
            </a:r>
            <a:endParaRPr lang="en-US" sz="1500" dirty="0"/>
          </a:p>
        </p:txBody>
      </p:sp>
      <p:sp>
        <p:nvSpPr>
          <p:cNvPr id="8" name="Ganho Mais experiência"/>
          <p:cNvSpPr/>
          <p:nvPr/>
        </p:nvSpPr>
        <p:spPr>
          <a:xfrm>
            <a:off x="429768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Mais experiência círculo"/>
          <p:cNvSpPr/>
          <p:nvPr/>
        </p:nvSpPr>
        <p:spPr>
          <a:xfrm>
            <a:off x="4617720" y="1920240"/>
            <a:ext cx="868680" cy="868680"/>
          </a:xfrm>
          <a:prstGeom prst="ellipse">
            <a:avLst/>
          </a:prstGeom>
          <a:solidFill>
            <a:srgbClr val="8A5CF6"/>
          </a:solidFill>
          <a:ln/>
        </p:spPr>
      </p:sp>
      <p:pic>
        <p:nvPicPr>
          <p:cNvPr id="10" name="Mais experiênc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890" y="2137410"/>
            <a:ext cx="434340" cy="434340"/>
          </a:xfrm>
          <a:prstGeom prst="rect">
            <a:avLst/>
          </a:prstGeom>
        </p:spPr>
      </p:pic>
      <p:sp>
        <p:nvSpPr>
          <p:cNvPr id="11" name="Mais experiência título"/>
          <p:cNvSpPr txBox="1"/>
          <p:nvPr/>
        </p:nvSpPr>
        <p:spPr>
          <a:xfrm>
            <a:off x="461772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experiência</a:t>
            </a:r>
            <a:endParaRPr lang="en-US" sz="2100" dirty="0"/>
          </a:p>
        </p:txBody>
      </p:sp>
      <p:sp>
        <p:nvSpPr>
          <p:cNvPr id="12" name="Mais experiência texto"/>
          <p:cNvSpPr txBox="1"/>
          <p:nvPr/>
        </p:nvSpPr>
        <p:spPr>
          <a:xfrm>
            <a:off x="461772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Experiências únicas na área de lazer, wayfinding e boas-vindas personalizadas.</a:t>
            </a:r>
            <a:endParaRPr lang="en-US" sz="1500" dirty="0"/>
          </a:p>
        </p:txBody>
      </p:sp>
      <p:sp>
        <p:nvSpPr>
          <p:cNvPr id="13" name="Ganho Menos custo"/>
          <p:cNvSpPr/>
          <p:nvPr/>
        </p:nvSpPr>
        <p:spPr>
          <a:xfrm>
            <a:off x="804672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Menos custo círculo"/>
          <p:cNvSpPr/>
          <p:nvPr/>
        </p:nvSpPr>
        <p:spPr>
          <a:xfrm>
            <a:off x="8366760" y="1920240"/>
            <a:ext cx="868680" cy="868680"/>
          </a:xfrm>
          <a:prstGeom prst="ellipse">
            <a:avLst/>
          </a:prstGeom>
          <a:solidFill>
            <a:srgbClr val="658DFF"/>
          </a:solidFill>
          <a:ln/>
        </p:spPr>
      </p:sp>
      <p:pic>
        <p:nvPicPr>
          <p:cNvPr id="15" name="Menos cust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3930" y="2137410"/>
            <a:ext cx="434340" cy="434340"/>
          </a:xfrm>
          <a:prstGeom prst="rect">
            <a:avLst/>
          </a:prstGeom>
        </p:spPr>
      </p:pic>
      <p:sp>
        <p:nvSpPr>
          <p:cNvPr id="16" name="Menos custo título"/>
          <p:cNvSpPr txBox="1"/>
          <p:nvPr/>
        </p:nvSpPr>
        <p:spPr>
          <a:xfrm>
            <a:off x="836676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Menos custo</a:t>
            </a:r>
            <a:endParaRPr lang="en-US" sz="2100" dirty="0"/>
          </a:p>
        </p:txBody>
      </p:sp>
      <p:sp>
        <p:nvSpPr>
          <p:cNvPr id="17" name="Menos custo texto"/>
          <p:cNvSpPr txBox="1"/>
          <p:nvPr/>
        </p:nvSpPr>
        <p:spPr>
          <a:xfrm>
            <a:off x="836676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Estrutura fixa elimina locação a cada evento; painéis outdoor resistentes para áreas abertas.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solução para o seu espaço</a:t>
            </a:r>
            <a:endParaRPr lang="en-US" sz="3200" dirty="0"/>
          </a:p>
        </p:txBody>
      </p:sp>
      <p:sp>
        <p:nvSpPr>
          <p:cNvPr id="3" name="Título soluçã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que propomos</a:t>
            </a:r>
            <a:endParaRPr lang="en-US" sz="2000" dirty="0"/>
          </a:p>
        </p:txBody>
      </p:sp>
      <p:sp>
        <p:nvSpPr>
          <p:cNvPr id="4" name="Item 1 círculo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5" name="Item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2217420"/>
            <a:ext cx="228600" cy="228600"/>
          </a:xfrm>
          <a:prstGeom prst="rect">
            <a:avLst/>
          </a:prstGeom>
        </p:spPr>
      </p:pic>
      <p:sp>
        <p:nvSpPr>
          <p:cNvPr id="6" name="Solução 1"/>
          <p:cNvSpPr txBox="1"/>
          <p:nvPr/>
        </p:nvSpPr>
        <p:spPr>
          <a:xfrm>
            <a:off x="1188720" y="2057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Painéis fixos para salões de eventos</a:t>
            </a:r>
            <a:endParaRPr lang="en-US" sz="1500" dirty="0"/>
          </a:p>
        </p:txBody>
      </p:sp>
      <p:sp>
        <p:nvSpPr>
          <p:cNvPr id="7" name="Item 2 círculo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8" name="Item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2994660"/>
            <a:ext cx="228600" cy="228600"/>
          </a:xfrm>
          <a:prstGeom prst="rect">
            <a:avLst/>
          </a:prstGeom>
        </p:spPr>
      </p:pic>
      <p:sp>
        <p:nvSpPr>
          <p:cNvPr id="9" name="Solução 2"/>
          <p:cNvSpPr txBox="1"/>
          <p:nvPr/>
        </p:nvSpPr>
        <p:spPr>
          <a:xfrm>
            <a:off x="1188720" y="2834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LED outdoor para piscinas e áreas abertas</a:t>
            </a:r>
            <a:endParaRPr lang="en-US" sz="1500" dirty="0"/>
          </a:p>
        </p:txBody>
      </p:sp>
      <p:sp>
        <p:nvSpPr>
          <p:cNvPr id="10" name="Item 3 círculo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1" name="Item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3771900"/>
            <a:ext cx="228600" cy="228600"/>
          </a:xfrm>
          <a:prstGeom prst="rect">
            <a:avLst/>
          </a:prstGeom>
        </p:spPr>
      </p:pic>
      <p:sp>
        <p:nvSpPr>
          <p:cNvPr id="12" name="Solução 3"/>
          <p:cNvSpPr txBox="1"/>
          <p:nvPr/>
        </p:nvSpPr>
        <p:spPr>
          <a:xfrm>
            <a:off x="1188720" y="3611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Totens de comunicação</a:t>
            </a:r>
            <a:endParaRPr lang="en-US" sz="1500" dirty="0"/>
          </a:p>
        </p:txBody>
      </p:sp>
      <p:sp>
        <p:nvSpPr>
          <p:cNvPr id="13" name="Item 4 círculo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rgbClr val="5F5F5F"/>
          </a:solidFill>
          <a:ln/>
        </p:spPr>
      </p:sp>
      <p:pic>
        <p:nvPicPr>
          <p:cNvPr id="14" name="Item 4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" y="4549140"/>
            <a:ext cx="228600" cy="228600"/>
          </a:xfrm>
          <a:prstGeom prst="rect">
            <a:avLst/>
          </a:prstGeom>
        </p:spPr>
      </p:pic>
      <p:sp>
        <p:nvSpPr>
          <p:cNvPr id="15" name="Solução 4"/>
          <p:cNvSpPr txBox="1"/>
          <p:nvPr/>
        </p:nvSpPr>
        <p:spPr>
          <a:xfrm>
            <a:off x="1188720" y="43891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Telões para jogos</a:t>
            </a:r>
            <a:endParaRPr lang="en-US" sz="1500" dirty="0"/>
          </a:p>
        </p:txBody>
      </p:sp>
      <p:sp>
        <p:nvSpPr>
          <p:cNvPr id="16" name="Card indicadores"/>
          <p:cNvSpPr/>
          <p:nvPr/>
        </p:nvSpPr>
        <p:spPr>
          <a:xfrm>
            <a:off x="6583680" y="1554480"/>
            <a:ext cx="502920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/>
        </p:spPr>
      </p:sp>
      <p:sp>
        <p:nvSpPr>
          <p:cNvPr id="17" name="Título indicadores"/>
          <p:cNvSpPr txBox="1"/>
          <p:nvPr/>
        </p:nvSpPr>
        <p:spPr>
          <a:xfrm>
            <a:off x="6949440" y="1828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 que você vai medir</a:t>
            </a:r>
            <a:endParaRPr lang="en-US" sz="2000" dirty="0"/>
          </a:p>
        </p:txBody>
      </p:sp>
      <p:sp>
        <p:nvSpPr>
          <p:cNvPr id="18" name="Indicadores"/>
          <p:cNvSpPr txBox="1"/>
          <p:nvPr/>
        </p:nvSpPr>
        <p:spPr>
          <a:xfrm>
            <a:off x="6949440" y="242316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Taxa de ocupação de salões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Receita por evento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Satisfação de hóspedes/associados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Economia com locação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Projeto em destaque</a:t>
            </a:r>
            <a:endParaRPr lang="en-US" sz="3200" dirty="0"/>
          </a:p>
        </p:txBody>
      </p:sp>
      <p:sp>
        <p:nvSpPr>
          <p:cNvPr id="3" name="Card Boulevard"/>
          <p:cNvSpPr/>
          <p:nvPr/>
        </p:nvSpPr>
        <p:spPr>
          <a:xfrm>
            <a:off x="548640" y="1600200"/>
            <a:ext cx="5486400" cy="438912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4" name="Boulevard título"/>
          <p:cNvSpPr txBox="1"/>
          <p:nvPr/>
        </p:nvSpPr>
        <p:spPr>
          <a:xfrm>
            <a:off x="91440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Boulevard.Live</a:t>
            </a:r>
            <a:endParaRPr lang="en-US" sz="1800" dirty="0"/>
          </a:p>
        </p:txBody>
      </p:sp>
      <p:sp>
        <p:nvSpPr>
          <p:cNvPr id="5" name="Boulevard número"/>
          <p:cNvSpPr txBox="1"/>
          <p:nvPr/>
        </p:nvSpPr>
        <p:spPr>
          <a:xfrm>
            <a:off x="914400" y="2423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1.125 m²</a:t>
            </a:r>
            <a:endParaRPr lang="en-US" sz="6000" dirty="0"/>
          </a:p>
        </p:txBody>
      </p:sp>
      <p:sp>
        <p:nvSpPr>
          <p:cNvPr id="6" name="Boulevard texto"/>
          <p:cNvSpPr txBox="1"/>
          <p:nvPr/>
        </p:nvSpPr>
        <p:spPr>
          <a:xfrm>
            <a:off x="91440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maior painel de LED da América Latina, em Brasília. Inspirado na Times Square e instalado no ponto de maior fluxo de pessoas e veículos da cidade.</a:t>
            </a:r>
            <a:endParaRPr lang="en-US" sz="1600" dirty="0"/>
          </a:p>
        </p:txBody>
      </p:sp>
      <p:sp>
        <p:nvSpPr>
          <p:cNvPr id="7" name="Área case do segmento"/>
          <p:cNvSpPr/>
          <p:nvPr/>
        </p:nvSpPr>
        <p:spPr>
          <a:xfrm>
            <a:off x="6309360" y="1600200"/>
            <a:ext cx="530352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9050">
            <a:solidFill>
              <a:srgbClr val="658DFF"/>
            </a:solidFill>
            <a:prstDash val="dash"/>
          </a:ln>
        </p:spPr>
      </p:sp>
      <p:sp>
        <p:nvSpPr>
          <p:cNvPr id="8" name="Case título"/>
          <p:cNvSpPr txBox="1"/>
          <p:nvPr/>
        </p:nvSpPr>
        <p:spPr>
          <a:xfrm>
            <a:off x="667512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Case: Beto Carrero World</a:t>
            </a:r>
            <a:endParaRPr lang="en-US" sz="1800" dirty="0"/>
          </a:p>
        </p:txBody>
      </p:sp>
      <p:sp>
        <p:nvSpPr>
          <p:cNvPr id="9" name="Case conteúdo"/>
          <p:cNvSpPr txBox="1"/>
          <p:nvPr/>
        </p:nvSpPr>
        <p:spPr>
          <a:xfrm>
            <a:off x="6675120" y="251460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[Desafio em uma frase]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[O que a LedWave entregou]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[Resultado]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Espaço sem experiência é só metro quadrado.</a:t>
            </a:r>
            <a:endParaRPr lang="en-US" sz="3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411480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Vamos transformar o seu espaço no lugar que todo mundo quer reservar?</a:t>
            </a:r>
            <a:endParaRPr lang="en-US" sz="2000" dirty="0"/>
          </a:p>
        </p:txBody>
      </p:sp>
      <p:sp>
        <p:nvSpPr>
          <p:cNvPr id="4" name="Card próximo passo"/>
          <p:cNvSpPr/>
          <p:nvPr/>
        </p:nvSpPr>
        <p:spPr>
          <a:xfrm>
            <a:off x="8046720" y="2103120"/>
            <a:ext cx="3566160" cy="2971800"/>
          </a:xfrm>
          <a:prstGeom prst="roundRect">
            <a:avLst>
              <a:gd name="adj" fmla="val 3692"/>
            </a:avLst>
          </a:prstGeom>
          <a:solidFill>
            <a:schemeClr val="tx2"/>
          </a:solidFill>
          <a:ln/>
        </p:spPr>
      </p:sp>
      <p:sp>
        <p:nvSpPr>
          <p:cNvPr id="5" name="Próximo passo título"/>
          <p:cNvSpPr txBox="1"/>
          <p:nvPr/>
        </p:nvSpPr>
        <p:spPr>
          <a:xfrm>
            <a:off x="8366760" y="2377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Próximo passo</a:t>
            </a:r>
            <a:endParaRPr lang="en-US" sz="1800" dirty="0"/>
          </a:p>
        </p:txBody>
      </p:sp>
      <p:sp>
        <p:nvSpPr>
          <p:cNvPr id="6" name="Próximo passo texto"/>
          <p:cNvSpPr txBox="1"/>
          <p:nvPr/>
        </p:nvSpPr>
        <p:spPr>
          <a:xfrm>
            <a:off x="8366760" y="28346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Levantamento de eventos dos últimos 12 meses para cálculo de compra x locação.</a:t>
            </a:r>
            <a:endParaRPr lang="en-US" sz="1500" dirty="0"/>
          </a:p>
        </p:txBody>
      </p:sp>
      <p:sp>
        <p:nvSpPr>
          <p:cNvPr id="7" name="Contato"/>
          <p:cNvSpPr txBox="1"/>
          <p:nvPr/>
        </p:nvSpPr>
        <p:spPr>
          <a:xfrm>
            <a:off x="548640" y="6035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</a:rPr>
              <a:t>[Nome do executivo]  ·  [Telefone / WhatsApp]  ·  [E-mail]  ·  ledwave.com.br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dWave">
  <a:themeElements>
    <a:clrScheme name="LedWave">
      <a:dk1>
        <a:srgbClr val="3D3D3D"/>
      </a:dk1>
      <a:lt1>
        <a:srgbClr val="FFFFFF"/>
      </a:lt1>
      <a:dk2>
        <a:srgbClr val="5F5F5F"/>
      </a:dk2>
      <a:lt2>
        <a:srgbClr val="F2F3F7"/>
      </a:lt2>
      <a:accent1>
        <a:srgbClr val="E011FF"/>
      </a:accent1>
      <a:accent2>
        <a:srgbClr val="12D9FF"/>
      </a:accent2>
      <a:accent3>
        <a:srgbClr val="658DFF"/>
      </a:accent3>
      <a:accent4>
        <a:srgbClr val="8A5CF6"/>
      </a:accent4>
      <a:accent5>
        <a:srgbClr val="3EB1FE"/>
      </a:accent5>
      <a:accent6>
        <a:srgbClr val="7A7A7A"/>
      </a:accent6>
      <a:hlink>
        <a:srgbClr val="658DFF"/>
      </a:hlink>
      <a:folHlink>
        <a:srgbClr val="8A5CF6"/>
      </a:folHlink>
    </a:clrScheme>
    <a:fontScheme name="LedWav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LedWave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LedWave | Hotéis, Parques, Clubes e Piscinas</dc:title>
  <dc:subject>PptxGenJS Presentation</dc:subject>
  <dc:creator>LedWave</dc:creator>
  <cp:lastModifiedBy>LedWave</cp:lastModifiedBy>
  <cp:revision>1</cp:revision>
  <dcterms:created xsi:type="dcterms:W3CDTF">2026-10-19T18:43:13Z</dcterms:created>
  <dcterms:modified xsi:type="dcterms:W3CDTF">2026-10-19T18:43:13Z</dcterms:modified>
</cp:coreProperties>
</file>