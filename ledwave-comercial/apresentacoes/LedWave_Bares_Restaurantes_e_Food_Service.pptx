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39b1d85-8d50-52b0-1df3-778419e5d10f}">
          <p14:sldIdLst>
            <p14:sldId id="256"/>
            <p14:sldId id="257"/>
          </p14:sldIdLst>
        </p14:section>
        <p14:section name="O seu cenário" id="{8e27795e-55a7-0776-42f0-1d0e5ae290a4}">
          <p14:sldIdLst>
            <p14:sldId id="258"/>
          </p14:sldIdLst>
        </p14:section>
        <p14:section name="LedWave" id="{4dc16796-5942-462e-2e8c-f35e6e50a14d}">
          <p14:sldIdLst>
            <p14:sldId id="259"/>
            <p14:sldId id="260"/>
            <p14:sldId id="261"/>
            <p14:sldId id="262"/>
          </p14:sldIdLst>
        </p14:section>
        <p14:section name="Por que digitalizar" id="{7641f47c-964c-0a92-a233-742c8754b858}">
          <p14:sldIdLst>
            <p14:sldId id="263"/>
            <p14:sldId id="264"/>
          </p14:sldIdLst>
        </p14:section>
        <p14:section name="Ganhos e solução" id="{818c0fa1-f927-edb6-5fac-5ebad1be4ed6}">
          <p14:sldIdLst>
            <p14:sldId id="265"/>
            <p14:sldId id="266"/>
            <p14:sldId id="267"/>
          </p14:sldIdLst>
        </p14:section>
        <p14:section name="Próximo passo" id="{35e701a8-f680-6078-eb7d-7d3bca9d419b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[Abertura · ~1 min] Cumprimente, combine o objetivo e o tempo da reunião (15 min) e peça permissão: "Posso começar com uma pergunta?"
Decisor típico: Proprietário, sócio-operador, Diretor de Marketing de rede de alimentação.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[Gancho · ~1 min] Leia a pergunta, olhe nos olhos e espere 3 segundos. Deixe o cliente responder e anote as palavras dele.
Se ele responder, aprofunde com: "Quantas casas, quais turnos, transmitem jogos/eventos? Como é o cardápio hoje?"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[Dor · ~2 min] Não leia o slide. Pergunte antes de mostrar:
Situação: Quantas casas, quais turnos, transmitem jogos/eventos? Como é o cardápio hoje?
Problema: Quantas vezes por ano reimprimem o cardápio? Os pratos de maior margem estão em destaque?
Implicação: Quanto deixam de ganhar quando o cliente pede o item de menor margem por falta de destaque? Quanto custam as reimpressões?
Use os números que o cliente der no slide de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[LedWave · ~1,5 min] O cliente é o herói; a LedWave é o guia que já fez isso antes. Conte a origem em 20 segundos e siga.
Frase-ponte: "E é por isso que estamos aqui."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[Números · ~1 min] Escolha os 2 números que mais conversam com Bares, Restaurantes e Food Service e fale só deles. Ex.: para mídia e grandes formatos, o Boulevard.Live; para redes, as 4 bases e a fábrica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completa · ~1 min] Mensagem central: "Não vendemos painel. Entregamos o resultado que o painel gera."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social · ~1 min] Se houver cliente do mesmo segmento, troque um dos nomes por ele e conte o resultado em uma frase. Apague a linha de instrução antes de enviar 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[Propósito · ~1 min] Fale devagar. Este é o porquê da conversa. Pausa de 3 segundos no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[História · ~1,5 min] Conte a história como cena, no presente. Se tiver o mockup do espaço do cliente, este é o momento de mostrar: antes e depois.
Frase de efeito: "Prato que não é visto não é pedido."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[Ganhos · ~2,5 min] Um ganho por vez. Para cada um, conecte com o que o cliente disse na descoberta: "Você comentou que... é aqui que isso muda."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· ~1,5 min] Mostre só o que faz sentido para o espaço do cliente; apague o resto.
Objeção provável: Meu restaurante é pequeno para isso.
Resposta: O painel é dimensionado para o seu espaço. Começamos pelo menu board ou pela fachada, onde o retorno é mais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· ~1 min] Preencha o case do segmento com um cliente real antes da reunião. Sem case do segmento, apague o card da direita e fale só do Boulevard.Live.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[Fechamento · ~1,5 min] Termine no ponto alto: repita a frase de efeito e proponha o próximo passo com duas opções de data ("quinta ou sexta?"). Nunca termine com "alguma dúvida?".
Pergunta de necessidade: Se o cardápio mudasse sozinho por turno e destacasse o que dá mais lucro, quanto isso mudaria no ticket médio?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2B1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85"/>
                </a:solidFill>
              </a:rPr>
              <a:t>LedWave  ·  Bares, Restaurantes e Food Service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Bares, Restaurantes e Food Service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Prato que não é visto não é pedido.</a:t>
            </a:r>
            <a:endParaRPr lang="en-US" sz="2000" dirty="0"/>
          </a:p>
        </p:txBody>
      </p:sp>
      <p:sp>
        <p:nvSpPr>
          <p:cNvPr id="4" name="Cliente e data"/>
          <p:cNvSpPr txBox="1"/>
          <p:nvPr/>
        </p:nvSpPr>
        <p:spPr>
          <a:xfrm>
            <a:off x="54864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Proposta para [Nome do cliente]  ·  [Data]</a:t>
            </a:r>
            <a:endParaRPr lang="en-US" sz="1400" dirty="0"/>
          </a:p>
        </p:txBody>
      </p:sp>
      <p:sp>
        <p:nvSpPr>
          <p:cNvPr id="5" name="Ícone do nicho círculo"/>
          <p:cNvSpPr/>
          <p:nvPr/>
        </p:nvSpPr>
        <p:spPr>
          <a:xfrm>
            <a:off x="8412480" y="1737360"/>
            <a:ext cx="3017520" cy="301752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6" name="Ícone do nich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6860" y="249174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Uma pergunta para começar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Qual é o prato com a melhor margem da sua casa? E ele é o que mais aparece para o cliente?</a:t>
            </a:r>
            <a:endParaRPr lang="en-US" sz="3200" dirty="0"/>
          </a:p>
        </p:txBody>
      </p:sp>
      <p:sp>
        <p:nvSpPr>
          <p:cNvPr id="4" name="Pergunta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ergun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desafio de hoje</a:t>
            </a:r>
            <a:endParaRPr lang="en-US" sz="3200" dirty="0"/>
          </a:p>
        </p:txBody>
      </p:sp>
      <p:sp>
        <p:nvSpPr>
          <p:cNvPr id="3" name="Card Como é hoje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Como é hoje círculo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5" name="Como é hoj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Como é hoje título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Como é hoje</a:t>
            </a:r>
            <a:endParaRPr lang="en-US" sz="2200" dirty="0"/>
          </a:p>
        </p:txBody>
      </p:sp>
      <p:sp>
        <p:nvSpPr>
          <p:cNvPr id="7" name="Como é hoje texto"/>
          <p:cNvSpPr txBox="1"/>
          <p:nvPr/>
        </p:nvSpPr>
        <p:spPr>
          <a:xfrm>
            <a:off x="91440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Cardápio impresso desatualizado, preços que mudam com o custo dos insumos e pouca visibilidade dos pratos de maior margem.</a:t>
            </a:r>
            <a:endParaRPr lang="en-US" sz="1700" dirty="0"/>
          </a:p>
        </p:txBody>
      </p:sp>
      <p:sp>
        <p:nvSpPr>
          <p:cNvPr id="8" name="Card O custo de esperar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9" name="O custo de esperar círculo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O custo de esperar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125980"/>
            <a:ext cx="411480" cy="411480"/>
          </a:xfrm>
          <a:prstGeom prst="rect">
            <a:avLst/>
          </a:prstGeom>
        </p:spPr>
      </p:pic>
      <p:sp>
        <p:nvSpPr>
          <p:cNvPr id="11" name="O custo de esperar título"/>
          <p:cNvSpPr txBox="1"/>
          <p:nvPr/>
        </p:nvSpPr>
        <p:spPr>
          <a:xfrm>
            <a:off x="658368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 custo de esperar</a:t>
            </a:r>
            <a:endParaRPr lang="en-US" sz="2200" dirty="0"/>
          </a:p>
        </p:txBody>
      </p:sp>
      <p:sp>
        <p:nvSpPr>
          <p:cNvPr id="12" name="O custo de esperar texto"/>
          <p:cNvSpPr txBox="1"/>
          <p:nvPr/>
        </p:nvSpPr>
        <p:spPr>
          <a:xfrm>
            <a:off x="658368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Cada reimpressão de cardápio é custo; cada cliente que pede o prato de menor margem por falta de destaque é lucro perdido.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é a LedWave</a:t>
            </a:r>
            <a:endParaRPr lang="en-US" sz="3200" dirty="0"/>
          </a:p>
        </p:txBody>
      </p:sp>
      <p:sp>
        <p:nvSpPr>
          <p:cNvPr id="3" name="História LedWave"/>
          <p:cNvSpPr txBox="1"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 uma ideia em Xangai à liderança no Brasil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Uma viagem a Xangai mostrou ao nosso fundador, Tiago Brito, como as grandes capitais usam o LED para encantar pessoas. Com R$ 12 mil, essa ideia virou fábrica em Goiânia.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Hoje fabricamos, instalamos e operamos painéis de LED para marcas de todo o país, com unidades no Brasil e nos Estados Unidos.</a:t>
            </a:r>
            <a:endParaRPr lang="en-US" sz="1600" dirty="0"/>
          </a:p>
        </p:txBody>
      </p:sp>
      <p:sp>
        <p:nvSpPr>
          <p:cNvPr id="4" name="Linha do tempo"/>
          <p:cNvSpPr/>
          <p:nvPr/>
        </p:nvSpPr>
        <p:spPr>
          <a:xfrm>
            <a:off x="6903720" y="1920240"/>
            <a:ext cx="0" cy="3657600"/>
          </a:xfrm>
          <a:prstGeom prst="line">
            <a:avLst/>
          </a:prstGeom>
          <a:noFill/>
          <a:ln w="38100">
            <a:solidFill>
              <a:srgbClr val="F3F0FA"/>
            </a:solidFill>
            <a:prstDash val="solid"/>
          </a:ln>
        </p:spPr>
      </p:sp>
      <p:sp>
        <p:nvSpPr>
          <p:cNvPr id="5" name="Marco 1"/>
          <p:cNvSpPr/>
          <p:nvPr/>
        </p:nvSpPr>
        <p:spPr>
          <a:xfrm>
            <a:off x="6739128" y="1810512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Marco ano 1"/>
          <p:cNvSpPr txBox="1"/>
          <p:nvPr/>
        </p:nvSpPr>
        <p:spPr>
          <a:xfrm>
            <a:off x="72694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2010/11</a:t>
            </a:r>
            <a:endParaRPr lang="en-US" sz="1800" dirty="0"/>
          </a:p>
        </p:txBody>
      </p:sp>
      <p:sp>
        <p:nvSpPr>
          <p:cNvPr id="7" name="Marco texto 1"/>
          <p:cNvSpPr txBox="1"/>
          <p:nvPr/>
        </p:nvSpPr>
        <p:spPr>
          <a:xfrm>
            <a:off x="7269480" y="2075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Fundação em Goiânia, com fábrica própria</a:t>
            </a:r>
            <a:endParaRPr lang="en-US" sz="1400" dirty="0"/>
          </a:p>
        </p:txBody>
      </p:sp>
      <p:sp>
        <p:nvSpPr>
          <p:cNvPr id="8" name="Marco 2"/>
          <p:cNvSpPr/>
          <p:nvPr/>
        </p:nvSpPr>
        <p:spPr>
          <a:xfrm>
            <a:off x="6739128" y="2889504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Marco ano 2"/>
          <p:cNvSpPr txBox="1"/>
          <p:nvPr/>
        </p:nvSpPr>
        <p:spPr>
          <a:xfrm>
            <a:off x="726948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anos</a:t>
            </a:r>
            <a:endParaRPr lang="en-US" sz="1800" dirty="0"/>
          </a:p>
        </p:txBody>
      </p:sp>
      <p:sp>
        <p:nvSpPr>
          <p:cNvPr id="10" name="Marco texto 2"/>
          <p:cNvSpPr txBox="1"/>
          <p:nvPr/>
        </p:nvSpPr>
        <p:spPr>
          <a:xfrm>
            <a:off x="72694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Seguidos no ranking Exame Negócios em Expansão</a:t>
            </a:r>
            <a:endParaRPr lang="en-US" sz="1400" dirty="0"/>
          </a:p>
        </p:txBody>
      </p:sp>
      <p:sp>
        <p:nvSpPr>
          <p:cNvPr id="11" name="Marco 3"/>
          <p:cNvSpPr/>
          <p:nvPr/>
        </p:nvSpPr>
        <p:spPr>
          <a:xfrm>
            <a:off x="6739128" y="3968496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Marco ano 3"/>
          <p:cNvSpPr txBox="1"/>
          <p:nvPr/>
        </p:nvSpPr>
        <p:spPr>
          <a:xfrm>
            <a:off x="7269480" y="3849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</a:t>
            </a:r>
            <a:endParaRPr lang="en-US" sz="1800" dirty="0"/>
          </a:p>
        </p:txBody>
      </p:sp>
      <p:sp>
        <p:nvSpPr>
          <p:cNvPr id="13" name="Marco texto 3"/>
          <p:cNvSpPr txBox="1"/>
          <p:nvPr/>
        </p:nvSpPr>
        <p:spPr>
          <a:xfrm>
            <a:off x="7269480" y="42336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1ª colocada do segmento de painéis de LED no ranking</a:t>
            </a:r>
            <a:endParaRPr lang="en-US" sz="1400" dirty="0"/>
          </a:p>
        </p:txBody>
      </p:sp>
      <p:sp>
        <p:nvSpPr>
          <p:cNvPr id="14" name="Marco 4"/>
          <p:cNvSpPr/>
          <p:nvPr/>
        </p:nvSpPr>
        <p:spPr>
          <a:xfrm>
            <a:off x="6739128" y="504748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Marco ano 4"/>
          <p:cNvSpPr txBox="1"/>
          <p:nvPr/>
        </p:nvSpPr>
        <p:spPr>
          <a:xfrm>
            <a:off x="7269480" y="4928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</a:t>
            </a:r>
            <a:endParaRPr lang="en-US" sz="1800" dirty="0"/>
          </a:p>
        </p:txBody>
      </p:sp>
      <p:sp>
        <p:nvSpPr>
          <p:cNvPr id="16" name="Marco texto 4"/>
          <p:cNvSpPr txBox="1"/>
          <p:nvPr/>
        </p:nvSpPr>
        <p:spPr>
          <a:xfrm>
            <a:off x="7269480" y="53126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 empresa brasileira de LED com estande próprio na NRF, em Nova York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LedWave em números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Número valor 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1.125 m²</a:t>
            </a:r>
            <a:endParaRPr lang="en-US" sz="4000" dirty="0"/>
          </a:p>
        </p:txBody>
      </p:sp>
      <p:sp>
        <p:nvSpPr>
          <p:cNvPr id="5" name="Número legenda 1"/>
          <p:cNvSpPr txBox="1"/>
          <p:nvPr/>
        </p:nvSpPr>
        <p:spPr>
          <a:xfrm>
            <a:off x="822960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maior painel de LED da América Latina (Boulevard.Live, Brasília)</a:t>
            </a:r>
            <a:endParaRPr lang="en-US" sz="1500" dirty="0"/>
          </a:p>
        </p:txBody>
      </p:sp>
      <p:sp>
        <p:nvSpPr>
          <p:cNvPr id="6" name="Número 2"/>
          <p:cNvSpPr/>
          <p:nvPr/>
        </p:nvSpPr>
        <p:spPr>
          <a:xfrm>
            <a:off x="3364992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Número valor 2"/>
          <p:cNvSpPr txBox="1"/>
          <p:nvPr/>
        </p:nvSpPr>
        <p:spPr>
          <a:xfrm>
            <a:off x="3639312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Nº 1</a:t>
            </a:r>
            <a:endParaRPr lang="en-US" sz="4000" dirty="0"/>
          </a:p>
        </p:txBody>
      </p:sp>
      <p:sp>
        <p:nvSpPr>
          <p:cNvPr id="8" name="Número legenda 2"/>
          <p:cNvSpPr txBox="1"/>
          <p:nvPr/>
        </p:nvSpPr>
        <p:spPr>
          <a:xfrm>
            <a:off x="3639312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segmento de painéis de LED no ranking Exame Negócios em Expansão 2025</a:t>
            </a:r>
            <a:endParaRPr lang="en-US" sz="1500" dirty="0"/>
          </a:p>
        </p:txBody>
      </p:sp>
      <p:sp>
        <p:nvSpPr>
          <p:cNvPr id="9" name="Número 3"/>
          <p:cNvSpPr/>
          <p:nvPr/>
        </p:nvSpPr>
        <p:spPr>
          <a:xfrm>
            <a:off x="6181344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Número valor 3"/>
          <p:cNvSpPr txBox="1"/>
          <p:nvPr/>
        </p:nvSpPr>
        <p:spPr>
          <a:xfrm>
            <a:off x="6455664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anos</a:t>
            </a:r>
            <a:endParaRPr lang="en-US" sz="4000" dirty="0"/>
          </a:p>
        </p:txBody>
      </p:sp>
      <p:sp>
        <p:nvSpPr>
          <p:cNvPr id="11" name="Número legenda 3"/>
          <p:cNvSpPr txBox="1"/>
          <p:nvPr/>
        </p:nvSpPr>
        <p:spPr>
          <a:xfrm>
            <a:off x="6455664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seguidos entre as empresas que mais crescem no Brasil (Exame)</a:t>
            </a:r>
            <a:endParaRPr lang="en-US" sz="1500" dirty="0"/>
          </a:p>
        </p:txBody>
      </p:sp>
      <p:sp>
        <p:nvSpPr>
          <p:cNvPr id="12" name="Número 4"/>
          <p:cNvSpPr/>
          <p:nvPr/>
        </p:nvSpPr>
        <p:spPr>
          <a:xfrm>
            <a:off x="8997696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Número valor 4"/>
          <p:cNvSpPr txBox="1"/>
          <p:nvPr/>
        </p:nvSpPr>
        <p:spPr>
          <a:xfrm>
            <a:off x="9272016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bases</a:t>
            </a:r>
            <a:endParaRPr lang="en-US" sz="4000" dirty="0"/>
          </a:p>
        </p:txBody>
      </p:sp>
      <p:sp>
        <p:nvSpPr>
          <p:cNvPr id="14" name="Número legenda 4"/>
          <p:cNvSpPr txBox="1"/>
          <p:nvPr/>
        </p:nvSpPr>
        <p:spPr>
          <a:xfrm>
            <a:off x="9272016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Goiânia (sede e fábrica), São Paulo, Brasília e Orlando (EUA)</a:t>
            </a:r>
            <a:endParaRPr lang="en-US" sz="15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85"/>
                </a:solidFill>
              </a:rPr>
              <a:t>Ranking Exame Negócios em Expansão com dados auditados pela PwC.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Solução completa, do projeto ao resultado</a:t>
            </a:r>
            <a:endParaRPr lang="en-US" sz="3200" dirty="0"/>
          </a:p>
        </p:txBody>
      </p:sp>
      <p:sp>
        <p:nvSpPr>
          <p:cNvPr id="3" name="Diagnóstico e projeto círculo"/>
          <p:cNvSpPr/>
          <p:nvPr/>
        </p:nvSpPr>
        <p:spPr>
          <a:xfrm>
            <a:off x="1115568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4" name="Diagnóstico e proje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57400"/>
            <a:ext cx="457200" cy="457200"/>
          </a:xfrm>
          <a:prstGeom prst="rect">
            <a:avLst/>
          </a:prstGeom>
        </p:spPr>
      </p:pic>
      <p:pic>
        <p:nvPicPr>
          <p:cNvPr id="5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130552"/>
            <a:ext cx="292608" cy="292608"/>
          </a:xfrm>
          <a:prstGeom prst="rect">
            <a:avLst/>
          </a:prstGeom>
        </p:spPr>
      </p:pic>
      <p:sp>
        <p:nvSpPr>
          <p:cNvPr id="6" name="Diagnóstico e projeto título"/>
          <p:cNvSpPr txBox="1"/>
          <p:nvPr/>
        </p:nvSpPr>
        <p:spPr>
          <a:xfrm>
            <a:off x="5486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Diagnóstico e projeto</a:t>
            </a:r>
            <a:endParaRPr lang="en-US" sz="1700" dirty="0"/>
          </a:p>
        </p:txBody>
      </p:sp>
      <p:sp>
        <p:nvSpPr>
          <p:cNvPr id="7" name="Diagnóstico e projeto texto"/>
          <p:cNvSpPr txBox="1"/>
          <p:nvPr/>
        </p:nvSpPr>
        <p:spPr>
          <a:xfrm>
            <a:off x="548640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Estudo do seu espaço, do público e do objetivo</a:t>
            </a:r>
            <a:endParaRPr lang="en-US" sz="1400" dirty="0"/>
          </a:p>
        </p:txBody>
      </p:sp>
      <p:sp>
        <p:nvSpPr>
          <p:cNvPr id="8" name="Fabricação própria círculo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9" name="Fabricação própri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57400"/>
            <a:ext cx="457200" cy="457200"/>
          </a:xfrm>
          <a:prstGeom prst="rect">
            <a:avLst/>
          </a:prstGeom>
        </p:spPr>
      </p:pic>
      <p:pic>
        <p:nvPicPr>
          <p:cNvPr id="10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292608" cy="292608"/>
          </a:xfrm>
          <a:prstGeom prst="rect">
            <a:avLst/>
          </a:prstGeom>
        </p:spPr>
      </p:pic>
      <p:sp>
        <p:nvSpPr>
          <p:cNvPr id="11" name="Fabricação própria título"/>
          <p:cNvSpPr txBox="1"/>
          <p:nvPr/>
        </p:nvSpPr>
        <p:spPr>
          <a:xfrm>
            <a:off x="2816352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Fabricação própria</a:t>
            </a:r>
            <a:endParaRPr lang="en-US" sz="1700" dirty="0"/>
          </a:p>
        </p:txBody>
      </p:sp>
      <p:sp>
        <p:nvSpPr>
          <p:cNvPr id="12" name="Fabricação própria texto"/>
          <p:cNvSpPr txBox="1"/>
          <p:nvPr/>
        </p:nvSpPr>
        <p:spPr>
          <a:xfrm>
            <a:off x="2816352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em Goiânia</a:t>
            </a:r>
            <a:endParaRPr lang="en-US" sz="1400" dirty="0"/>
          </a:p>
        </p:txBody>
      </p:sp>
      <p:sp>
        <p:nvSpPr>
          <p:cNvPr id="13" name="Instalação círculo"/>
          <p:cNvSpPr/>
          <p:nvPr/>
        </p:nvSpPr>
        <p:spPr>
          <a:xfrm>
            <a:off x="5650992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nstalaçã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057400"/>
            <a:ext cx="457200" cy="457200"/>
          </a:xfrm>
          <a:prstGeom prst="rect">
            <a:avLst/>
          </a:prstGeom>
        </p:spPr>
      </p:pic>
      <p:pic>
        <p:nvPicPr>
          <p:cNvPr id="15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2130552"/>
            <a:ext cx="292608" cy="292608"/>
          </a:xfrm>
          <a:prstGeom prst="rect">
            <a:avLst/>
          </a:prstGeom>
        </p:spPr>
      </p:pic>
      <p:sp>
        <p:nvSpPr>
          <p:cNvPr id="16" name="Instalação título"/>
          <p:cNvSpPr txBox="1"/>
          <p:nvPr/>
        </p:nvSpPr>
        <p:spPr>
          <a:xfrm>
            <a:off x="5084064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Instalação</a:t>
            </a:r>
            <a:endParaRPr lang="en-US" sz="1700" dirty="0"/>
          </a:p>
        </p:txBody>
      </p:sp>
      <p:sp>
        <p:nvSpPr>
          <p:cNvPr id="17" name="Instalação texto"/>
          <p:cNvSpPr txBox="1"/>
          <p:nvPr/>
        </p:nvSpPr>
        <p:spPr>
          <a:xfrm>
            <a:off x="5084064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Estrutura, energia e entrega com equipe técnica</a:t>
            </a:r>
            <a:endParaRPr lang="en-US" sz="1400" dirty="0"/>
          </a:p>
        </p:txBody>
      </p:sp>
      <p:sp>
        <p:nvSpPr>
          <p:cNvPr id="18" name="Conteúdo e gestão círculo"/>
          <p:cNvSpPr/>
          <p:nvPr/>
        </p:nvSpPr>
        <p:spPr>
          <a:xfrm>
            <a:off x="7918704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9" name="Conteúdo 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057400"/>
            <a:ext cx="457200" cy="457200"/>
          </a:xfrm>
          <a:prstGeom prst="rect">
            <a:avLst/>
          </a:prstGeom>
        </p:spPr>
      </p:pic>
      <p:pic>
        <p:nvPicPr>
          <p:cNvPr id="20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130552"/>
            <a:ext cx="292608" cy="292608"/>
          </a:xfrm>
          <a:prstGeom prst="rect">
            <a:avLst/>
          </a:prstGeom>
        </p:spPr>
      </p:pic>
      <p:sp>
        <p:nvSpPr>
          <p:cNvPr id="21" name="Conteúdo e gestão título"/>
          <p:cNvSpPr txBox="1"/>
          <p:nvPr/>
        </p:nvSpPr>
        <p:spPr>
          <a:xfrm>
            <a:off x="7351776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Conteúdo e gestão</a:t>
            </a:r>
            <a:endParaRPr lang="en-US" sz="1700" dirty="0"/>
          </a:p>
        </p:txBody>
      </p:sp>
      <p:sp>
        <p:nvSpPr>
          <p:cNvPr id="22" name="Conteúdo e gestão texto"/>
          <p:cNvSpPr txBox="1"/>
          <p:nvPr/>
        </p:nvSpPr>
        <p:spPr>
          <a:xfrm>
            <a:off x="7351776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Telas atualizadas do celular ou do computador</a:t>
            </a:r>
            <a:endParaRPr lang="en-US" sz="1400" dirty="0"/>
          </a:p>
        </p:txBody>
      </p:sp>
      <p:sp>
        <p:nvSpPr>
          <p:cNvPr id="23" name="Suporte círculo"/>
          <p:cNvSpPr/>
          <p:nvPr/>
        </p:nvSpPr>
        <p:spPr>
          <a:xfrm>
            <a:off x="10186416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Suporte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016" y="2057400"/>
            <a:ext cx="457200" cy="457200"/>
          </a:xfrm>
          <a:prstGeom prst="rect">
            <a:avLst/>
          </a:prstGeom>
        </p:spPr>
      </p:pic>
      <p:sp>
        <p:nvSpPr>
          <p:cNvPr id="25" name="Suporte título"/>
          <p:cNvSpPr txBox="1"/>
          <p:nvPr/>
        </p:nvSpPr>
        <p:spPr>
          <a:xfrm>
            <a:off x="9619488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Suporte</a:t>
            </a:r>
            <a:endParaRPr lang="en-US" sz="1700" dirty="0"/>
          </a:p>
        </p:txBody>
      </p:sp>
      <p:sp>
        <p:nvSpPr>
          <p:cNvPr id="26" name="Suporte texto"/>
          <p:cNvSpPr txBox="1"/>
          <p:nvPr/>
        </p:nvSpPr>
        <p:spPr>
          <a:xfrm>
            <a:off x="9619488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Assistência técnica para a tela não apagar</a:t>
            </a:r>
            <a:endParaRPr lang="en-US" sz="1400" dirty="0"/>
          </a:p>
        </p:txBody>
      </p:sp>
      <p:sp>
        <p:nvSpPr>
          <p:cNvPr id="27" name="Faixa venda e locação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8" name="Venda ou locação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Venda ou locação: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modelo se adapta ao seu uso, do evento de um dia à operação permanente.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confia na LedWave</a:t>
            </a:r>
            <a:endParaRPr lang="en-US" sz="3200" dirty="0"/>
          </a:p>
        </p:txBody>
      </p:sp>
      <p:sp>
        <p:nvSpPr>
          <p:cNvPr id="3" name="Marca Volkswagen"/>
          <p:cNvSpPr/>
          <p:nvPr/>
        </p:nvSpPr>
        <p:spPr>
          <a:xfrm>
            <a:off x="54864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" name="Marca nome 1"/>
          <p:cNvSpPr txBox="1"/>
          <p:nvPr/>
        </p:nvSpPr>
        <p:spPr>
          <a:xfrm>
            <a:off x="54864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Volkswagen</a:t>
            </a:r>
            <a:endParaRPr lang="en-US" sz="2800" dirty="0"/>
          </a:p>
        </p:txBody>
      </p:sp>
      <p:sp>
        <p:nvSpPr>
          <p:cNvPr id="5" name="Marca Globo"/>
          <p:cNvSpPr/>
          <p:nvPr/>
        </p:nvSpPr>
        <p:spPr>
          <a:xfrm>
            <a:off x="429768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Marca nome 2"/>
          <p:cNvSpPr txBox="1"/>
          <p:nvPr/>
        </p:nvSpPr>
        <p:spPr>
          <a:xfrm>
            <a:off x="429768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Globo</a:t>
            </a:r>
            <a:endParaRPr lang="en-US" sz="2800" dirty="0"/>
          </a:p>
        </p:txBody>
      </p:sp>
      <p:sp>
        <p:nvSpPr>
          <p:cNvPr id="7" name="Marca Riachuelo"/>
          <p:cNvSpPr/>
          <p:nvPr/>
        </p:nvSpPr>
        <p:spPr>
          <a:xfrm>
            <a:off x="804672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8" name="Marca nome 3"/>
          <p:cNvSpPr txBox="1"/>
          <p:nvPr/>
        </p:nvSpPr>
        <p:spPr>
          <a:xfrm>
            <a:off x="804672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Riachuelo</a:t>
            </a:r>
            <a:endParaRPr lang="en-US" sz="2800" dirty="0"/>
          </a:p>
        </p:txBody>
      </p:sp>
      <p:sp>
        <p:nvSpPr>
          <p:cNvPr id="9" name="Ranking Exame círculo"/>
          <p:cNvSpPr/>
          <p:nvPr/>
        </p:nvSpPr>
        <p:spPr>
          <a:xfrm>
            <a:off x="54864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Ranking Exam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3943350"/>
            <a:ext cx="388620" cy="388620"/>
          </a:xfrm>
          <a:prstGeom prst="rect">
            <a:avLst/>
          </a:prstGeom>
        </p:spPr>
      </p:pic>
      <p:sp>
        <p:nvSpPr>
          <p:cNvPr id="11" name="Ranking Exame título"/>
          <p:cNvSpPr txBox="1"/>
          <p:nvPr/>
        </p:nvSpPr>
        <p:spPr>
          <a:xfrm>
            <a:off x="150876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Ranking Exame</a:t>
            </a:r>
            <a:endParaRPr lang="en-US" sz="1700" dirty="0"/>
          </a:p>
        </p:txBody>
      </p:sp>
      <p:sp>
        <p:nvSpPr>
          <p:cNvPr id="12" name="Ranking Exame texto"/>
          <p:cNvSpPr txBox="1"/>
          <p:nvPr/>
        </p:nvSpPr>
        <p:spPr>
          <a:xfrm>
            <a:off x="150876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anos seguidos, nº 1 do segmento em 2025</a:t>
            </a:r>
            <a:endParaRPr lang="en-US" sz="1400" dirty="0"/>
          </a:p>
        </p:txBody>
      </p:sp>
      <p:sp>
        <p:nvSpPr>
          <p:cNvPr id="13" name="ABF Expo círculo"/>
          <p:cNvSpPr/>
          <p:nvPr/>
        </p:nvSpPr>
        <p:spPr>
          <a:xfrm>
            <a:off x="429768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4" name="ABF Exp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3943350"/>
            <a:ext cx="388620" cy="388620"/>
          </a:xfrm>
          <a:prstGeom prst="rect">
            <a:avLst/>
          </a:prstGeom>
        </p:spPr>
      </p:pic>
      <p:sp>
        <p:nvSpPr>
          <p:cNvPr id="15" name="ABF Expo título"/>
          <p:cNvSpPr txBox="1"/>
          <p:nvPr/>
        </p:nvSpPr>
        <p:spPr>
          <a:xfrm>
            <a:off x="525780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ABF Expo</a:t>
            </a:r>
            <a:endParaRPr lang="en-US" sz="1700" dirty="0"/>
          </a:p>
        </p:txBody>
      </p:sp>
      <p:sp>
        <p:nvSpPr>
          <p:cNvPr id="16" name="ABF Expo texto"/>
          <p:cNvSpPr txBox="1"/>
          <p:nvPr/>
        </p:nvSpPr>
        <p:spPr>
          <a:xfrm>
            <a:off x="525780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Parceira oficial da maior feira de franquias do país</a:t>
            </a:r>
            <a:endParaRPr lang="en-US" sz="1400" dirty="0"/>
          </a:p>
        </p:txBody>
      </p:sp>
      <p:sp>
        <p:nvSpPr>
          <p:cNvPr id="17" name="NRF 2026, Nova York círculo"/>
          <p:cNvSpPr/>
          <p:nvPr/>
        </p:nvSpPr>
        <p:spPr>
          <a:xfrm>
            <a:off x="804672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8" name="NRF 2026, Nova York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3943350"/>
            <a:ext cx="388620" cy="388620"/>
          </a:xfrm>
          <a:prstGeom prst="rect">
            <a:avLst/>
          </a:prstGeom>
        </p:spPr>
      </p:pic>
      <p:sp>
        <p:nvSpPr>
          <p:cNvPr id="19" name="NRF 2026, Nova York título"/>
          <p:cNvSpPr txBox="1"/>
          <p:nvPr/>
        </p:nvSpPr>
        <p:spPr>
          <a:xfrm>
            <a:off x="900684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NRF 2026, Nova York</a:t>
            </a:r>
            <a:endParaRPr lang="en-US" sz="1700" dirty="0"/>
          </a:p>
        </p:txBody>
      </p:sp>
      <p:sp>
        <p:nvSpPr>
          <p:cNvPr id="20" name="NRF 2026, Nova York texto"/>
          <p:cNvSpPr txBox="1"/>
          <p:nvPr/>
        </p:nvSpPr>
        <p:spPr>
          <a:xfrm>
            <a:off x="900684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Estande próprio na maior feira de varejo do mundo</a:t>
            </a:r>
            <a:endParaRPr lang="en-US" sz="1400" dirty="0"/>
          </a:p>
        </p:txBody>
      </p:sp>
      <p:sp>
        <p:nvSpPr>
          <p:cNvPr id="21" name="Instrução logos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85"/>
                </a:solidFill>
              </a:rPr>
              <a:t>Substitua ou complete com logos de clientes do segmento Bares, Restaurantes e Food Service.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Por que digitalizar o seu espaço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Fazer o cardápio vender: mostrar o prato certo, na hora certa, com a cara de dar água na boca.</a:t>
            </a:r>
            <a:endParaRPr lang="en-US" sz="3200" dirty="0"/>
          </a:p>
        </p:txBody>
      </p:sp>
      <p:sp>
        <p:nvSpPr>
          <p:cNvPr id="4" name="Propósito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ropós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Imagine o seu espaço</a:t>
            </a:r>
            <a:endParaRPr lang="en-US" sz="3200" dirty="0"/>
          </a:p>
        </p:txBody>
      </p:sp>
      <p:sp>
        <p:nvSpPr>
          <p:cNvPr id="3" name="História"/>
          <p:cNvSpPr txBox="1"/>
          <p:nvPr/>
        </p:nvSpPr>
        <p:spPr>
          <a:xfrm>
            <a:off x="548640" y="1691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Happy hour: às 17h o menu board muda sozinho para chopp e petiscos; no almoço, o executivo; à noite, o prato assinatura em vídeo. O cardápio trabalha por turno.</a:t>
            </a:r>
            <a:endParaRPr lang="en-US" sz="1800" dirty="0"/>
          </a:p>
        </p:txBody>
      </p:sp>
      <p:sp>
        <p:nvSpPr>
          <p:cNvPr id="4" name="Frase de efeito"/>
          <p:cNvSpPr txBox="1"/>
          <p:nvPr/>
        </p:nvSpPr>
        <p:spPr>
          <a:xfrm>
            <a:off x="5486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Prato que não é visto não é pedido.</a:t>
            </a:r>
            <a:endParaRPr lang="en-US" sz="2000" dirty="0"/>
          </a:p>
        </p:txBody>
      </p:sp>
      <p:sp>
        <p:nvSpPr>
          <p:cNvPr id="5" name="Área da simulação"/>
          <p:cNvSpPr/>
          <p:nvPr/>
        </p:nvSpPr>
        <p:spPr>
          <a:xfrm>
            <a:off x="5943600" y="1600200"/>
            <a:ext cx="56692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6" name="Simulação círculo"/>
          <p:cNvSpPr/>
          <p:nvPr/>
        </p:nvSpPr>
        <p:spPr>
          <a:xfrm>
            <a:off x="8366760" y="274320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Simul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2948940"/>
            <a:ext cx="411480" cy="411480"/>
          </a:xfrm>
          <a:prstGeom prst="rect">
            <a:avLst/>
          </a:prstGeom>
        </p:spPr>
      </p:pic>
      <p:sp>
        <p:nvSpPr>
          <p:cNvPr id="8" name="Instrução simulação"/>
          <p:cNvSpPr txBox="1"/>
          <p:nvPr/>
        </p:nvSpPr>
        <p:spPr>
          <a:xfrm>
            <a:off x="621792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Simulação do painel no espaço do cliente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(insira aqui o mockup antes da reunião)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ganhos para o seu negócio</a:t>
            </a:r>
            <a:endParaRPr lang="en-US" sz="3200" dirty="0"/>
          </a:p>
        </p:txBody>
      </p:sp>
      <p:sp>
        <p:nvSpPr>
          <p:cNvPr id="3" name="Ganho Mais receita"/>
          <p:cNvSpPr/>
          <p:nvPr/>
        </p:nvSpPr>
        <p:spPr>
          <a:xfrm>
            <a:off x="54864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Mais receita círculo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Mais recei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434340" cy="434340"/>
          </a:xfrm>
          <a:prstGeom prst="rect">
            <a:avLst/>
          </a:prstGeom>
        </p:spPr>
      </p:pic>
      <p:sp>
        <p:nvSpPr>
          <p:cNvPr id="6" name="Mais receita título"/>
          <p:cNvSpPr txBox="1"/>
          <p:nvPr/>
        </p:nvSpPr>
        <p:spPr>
          <a:xfrm>
            <a:off x="86868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receita</a:t>
            </a:r>
            <a:endParaRPr lang="en-US" sz="2100" dirty="0"/>
          </a:p>
        </p:txBody>
      </p:sp>
      <p:sp>
        <p:nvSpPr>
          <p:cNvPr id="7" name="Mais receita texto"/>
          <p:cNvSpPr txBox="1"/>
          <p:nvPr/>
        </p:nvSpPr>
        <p:spPr>
          <a:xfrm>
            <a:off x="86868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Destaque dos itens de maior margem, combos e upsell; transmissão de jogos e eventos que enchem a casa.</a:t>
            </a:r>
            <a:endParaRPr lang="en-US" sz="1500" dirty="0"/>
          </a:p>
        </p:txBody>
      </p:sp>
      <p:sp>
        <p:nvSpPr>
          <p:cNvPr id="8" name="Ganho Mais experiência"/>
          <p:cNvSpPr/>
          <p:nvPr/>
        </p:nvSpPr>
        <p:spPr>
          <a:xfrm>
            <a:off x="429768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Mais experiência círculo"/>
          <p:cNvSpPr/>
          <p:nvPr/>
        </p:nvSpPr>
        <p:spPr>
          <a:xfrm>
            <a:off x="4617720" y="1920240"/>
            <a:ext cx="868680" cy="86868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10" name="Mais experiênc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137410"/>
            <a:ext cx="434340" cy="434340"/>
          </a:xfrm>
          <a:prstGeom prst="rect">
            <a:avLst/>
          </a:prstGeom>
        </p:spPr>
      </p:pic>
      <p:sp>
        <p:nvSpPr>
          <p:cNvPr id="11" name="Mais experiência título"/>
          <p:cNvSpPr txBox="1"/>
          <p:nvPr/>
        </p:nvSpPr>
        <p:spPr>
          <a:xfrm>
            <a:off x="46177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experiência</a:t>
            </a:r>
            <a:endParaRPr lang="en-US" sz="2100" dirty="0"/>
          </a:p>
        </p:txBody>
      </p:sp>
      <p:sp>
        <p:nvSpPr>
          <p:cNvPr id="12" name="Mais experiência texto"/>
          <p:cNvSpPr txBox="1"/>
          <p:nvPr/>
        </p:nvSpPr>
        <p:spPr>
          <a:xfrm>
            <a:off x="461772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Ambiente moderno e instagramável; fachada que chama de longe.</a:t>
            </a:r>
            <a:endParaRPr lang="en-US" sz="1500" dirty="0"/>
          </a:p>
        </p:txBody>
      </p:sp>
      <p:sp>
        <p:nvSpPr>
          <p:cNvPr id="13" name="Ganho Menos custo"/>
          <p:cNvSpPr/>
          <p:nvPr/>
        </p:nvSpPr>
        <p:spPr>
          <a:xfrm>
            <a:off x="804672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Menos custo círculo"/>
          <p:cNvSpPr/>
          <p:nvPr/>
        </p:nvSpPr>
        <p:spPr>
          <a:xfrm>
            <a:off x="8366760" y="1920240"/>
            <a:ext cx="868680" cy="8686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Menos cust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137410"/>
            <a:ext cx="434340" cy="434340"/>
          </a:xfrm>
          <a:prstGeom prst="rect">
            <a:avLst/>
          </a:prstGeom>
        </p:spPr>
      </p:pic>
      <p:sp>
        <p:nvSpPr>
          <p:cNvPr id="16" name="Menos custo título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Menos custo</a:t>
            </a:r>
            <a:endParaRPr lang="en-US" sz="2100" dirty="0"/>
          </a:p>
        </p:txBody>
      </p:sp>
      <p:sp>
        <p:nvSpPr>
          <p:cNvPr id="17" name="Menos custo texto"/>
          <p:cNvSpPr txBox="1"/>
          <p:nvPr/>
        </p:nvSpPr>
        <p:spPr>
          <a:xfrm>
            <a:off x="836676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Preço atualizado em minutos, sem reimpressão; programação automática por horário.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solução para o seu espaço</a:t>
            </a:r>
            <a:endParaRPr lang="en-US" sz="3200" dirty="0"/>
          </a:p>
        </p:txBody>
      </p:sp>
      <p:sp>
        <p:nvSpPr>
          <p:cNvPr id="3" name="Título soluçã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que propomos</a:t>
            </a:r>
            <a:endParaRPr lang="en-US" sz="2000" dirty="0"/>
          </a:p>
        </p:txBody>
      </p:sp>
      <p:sp>
        <p:nvSpPr>
          <p:cNvPr id="4" name="Item 1 círculo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Item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217420"/>
            <a:ext cx="228600" cy="228600"/>
          </a:xfrm>
          <a:prstGeom prst="rect">
            <a:avLst/>
          </a:prstGeom>
        </p:spPr>
      </p:pic>
      <p:sp>
        <p:nvSpPr>
          <p:cNvPr id="6" name="Solução 1"/>
          <p:cNvSpPr txBox="1"/>
          <p:nvPr/>
        </p:nvSpPr>
        <p:spPr>
          <a:xfrm>
            <a:off x="1188720" y="2057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Menu boards em LED</a:t>
            </a:r>
            <a:endParaRPr lang="en-US" sz="1500" dirty="0"/>
          </a:p>
        </p:txBody>
      </p:sp>
      <p:sp>
        <p:nvSpPr>
          <p:cNvPr id="7" name="Item 2 círculo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8" name="Item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994660"/>
            <a:ext cx="228600" cy="228600"/>
          </a:xfrm>
          <a:prstGeom prst="rect">
            <a:avLst/>
          </a:prstGeom>
        </p:spPr>
      </p:pic>
      <p:sp>
        <p:nvSpPr>
          <p:cNvPr id="9" name="Solução 2"/>
          <p:cNvSpPr txBox="1"/>
          <p:nvPr/>
        </p:nvSpPr>
        <p:spPr>
          <a:xfrm>
            <a:off x="118872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Painel de fachada</a:t>
            </a:r>
            <a:endParaRPr lang="en-US" sz="1500" dirty="0"/>
          </a:p>
        </p:txBody>
      </p:sp>
      <p:sp>
        <p:nvSpPr>
          <p:cNvPr id="10" name="Item 3 círculo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1" name="Item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771900"/>
            <a:ext cx="228600" cy="228600"/>
          </a:xfrm>
          <a:prstGeom prst="rect">
            <a:avLst/>
          </a:prstGeom>
        </p:spPr>
      </p:pic>
      <p:sp>
        <p:nvSpPr>
          <p:cNvPr id="12" name="Solução 3"/>
          <p:cNvSpPr txBox="1"/>
          <p:nvPr/>
        </p:nvSpPr>
        <p:spPr>
          <a:xfrm>
            <a:off x="1188720" y="3611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Telão para jogos e eventos</a:t>
            </a:r>
            <a:endParaRPr lang="en-US" sz="1500" dirty="0"/>
          </a:p>
        </p:txBody>
      </p:sp>
      <p:sp>
        <p:nvSpPr>
          <p:cNvPr id="13" name="Item 4 círculo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tem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549140"/>
            <a:ext cx="228600" cy="228600"/>
          </a:xfrm>
          <a:prstGeom prst="rect">
            <a:avLst/>
          </a:prstGeom>
        </p:spPr>
      </p:pic>
      <p:sp>
        <p:nvSpPr>
          <p:cNvPr id="15" name="Solução 4"/>
          <p:cNvSpPr txBox="1"/>
          <p:nvPr/>
        </p:nvSpPr>
        <p:spPr>
          <a:xfrm>
            <a:off x="1188720" y="4389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Painéis decorativos</a:t>
            </a:r>
            <a:endParaRPr lang="en-US" sz="1500" dirty="0"/>
          </a:p>
        </p:txBody>
      </p:sp>
      <p:sp>
        <p:nvSpPr>
          <p:cNvPr id="16" name="Card indicadores"/>
          <p:cNvSpPr/>
          <p:nvPr/>
        </p:nvSpPr>
        <p:spPr>
          <a:xfrm>
            <a:off x="6583680" y="1554480"/>
            <a:ext cx="50292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17" name="Título indicadores"/>
          <p:cNvSpPr txBox="1"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você vai medir</a:t>
            </a:r>
            <a:endParaRPr lang="en-US" sz="2000" dirty="0"/>
          </a:p>
        </p:txBody>
      </p:sp>
      <p:sp>
        <p:nvSpPr>
          <p:cNvPr id="18" name="Indicadores"/>
          <p:cNvSpPr txBox="1"/>
          <p:nvPr/>
        </p:nvSpPr>
        <p:spPr>
          <a:xfrm>
            <a:off x="6949440" y="242316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Ticket médio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Vendas dos itens destacados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Economia com impressão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Ocupação em dias de evento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Projeto em destaque</a:t>
            </a:r>
            <a:endParaRPr lang="en-US" sz="3200" dirty="0"/>
          </a:p>
        </p:txBody>
      </p:sp>
      <p:sp>
        <p:nvSpPr>
          <p:cNvPr id="3" name="Card Boulevard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4" name="Boulevard título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Boulevard.Live</a:t>
            </a:r>
            <a:endParaRPr lang="en-US" sz="1800" dirty="0"/>
          </a:p>
        </p:txBody>
      </p:sp>
      <p:sp>
        <p:nvSpPr>
          <p:cNvPr id="5" name="Boulevard número"/>
          <p:cNvSpPr txBox="1"/>
          <p:nvPr/>
        </p:nvSpPr>
        <p:spPr>
          <a:xfrm>
            <a:off x="914400" y="2423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1.125 m²</a:t>
            </a:r>
            <a:endParaRPr lang="en-US" sz="6000" dirty="0"/>
          </a:p>
        </p:txBody>
      </p:sp>
      <p:sp>
        <p:nvSpPr>
          <p:cNvPr id="6" name="Boulevard texto"/>
          <p:cNvSpPr txBox="1"/>
          <p:nvPr/>
        </p:nvSpPr>
        <p:spPr>
          <a:xfrm>
            <a:off x="91440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maior painel de LED da América Latina, em Brasília. Inspirado na Times Square e instalado no ponto de maior fluxo de pessoas e veículos da cidade.</a:t>
            </a:r>
            <a:endParaRPr lang="en-US" sz="1600" dirty="0"/>
          </a:p>
        </p:txBody>
      </p:sp>
      <p:sp>
        <p:nvSpPr>
          <p:cNvPr id="7" name="Área case do segmento"/>
          <p:cNvSpPr/>
          <p:nvPr/>
        </p:nvSpPr>
        <p:spPr>
          <a:xfrm>
            <a:off x="6309360" y="1600200"/>
            <a:ext cx="530352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Case título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Case do seu segmento</a:t>
            </a:r>
            <a:endParaRPr lang="en-US" sz="1800" dirty="0"/>
          </a:p>
        </p:txBody>
      </p:sp>
      <p:sp>
        <p:nvSpPr>
          <p:cNvPr id="9" name="Case conteúdo"/>
          <p:cNvSpPr txBox="1"/>
          <p:nvPr/>
        </p:nvSpPr>
        <p:spPr>
          <a:xfrm>
            <a:off x="667512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[Nome do cliente do segmento]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[Desafio em uma frase]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[O que a LedWave entregou]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[Resultado]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Prato que não é visto não é pedido.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Vamos colocar o seu cardápio para vender sozinho?</a:t>
            </a:r>
            <a:endParaRPr lang="en-US" sz="2000" dirty="0"/>
          </a:p>
        </p:txBody>
      </p:sp>
      <p:sp>
        <p:nvSpPr>
          <p:cNvPr id="4" name="Card próximo passo"/>
          <p:cNvSpPr/>
          <p:nvPr/>
        </p:nvSpPr>
        <p:spPr>
          <a:xfrm>
            <a:off x="8046720" y="2103120"/>
            <a:ext cx="3566160" cy="2971800"/>
          </a:xfrm>
          <a:prstGeom prst="roundRect">
            <a:avLst>
              <a:gd name="adj" fmla="val 3692"/>
            </a:avLst>
          </a:prstGeom>
          <a:solidFill>
            <a:schemeClr val="accent1"/>
          </a:solidFill>
          <a:ln/>
        </p:spPr>
      </p:sp>
      <p:sp>
        <p:nvSpPr>
          <p:cNvPr id="5" name="Próximo passo título"/>
          <p:cNvSpPr txBox="1"/>
          <p:nvPr/>
        </p:nvSpPr>
        <p:spPr>
          <a:xfrm>
            <a:off x="83667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Próximo passo</a:t>
            </a:r>
            <a:endParaRPr lang="en-US" sz="1800" dirty="0"/>
          </a:p>
        </p:txBody>
      </p:sp>
      <p:sp>
        <p:nvSpPr>
          <p:cNvPr id="6" name="Próximo passo texto"/>
          <p:cNvSpPr txBox="1"/>
          <p:nvPr/>
        </p:nvSpPr>
        <p:spPr>
          <a:xfrm>
            <a:off x="8366760" y="28346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Simulação do menu board com o cardápio real do cliente.</a:t>
            </a:r>
            <a:endParaRPr lang="en-US" sz="1500" dirty="0"/>
          </a:p>
        </p:txBody>
      </p:sp>
      <p:sp>
        <p:nvSpPr>
          <p:cNvPr id="7" name="Contato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[Nome do executivo]  ·  [Telefone / WhatsApp]  ·  [E-mail]  ·  ledwave.com.br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Wave">
  <a:themeElements>
    <a:clrScheme name="LedWave">
      <a:dk1>
        <a:srgbClr val="140C2E"/>
      </a:dk1>
      <a:lt1>
        <a:srgbClr val="FFFFFF"/>
      </a:lt1>
      <a:dk2>
        <a:srgbClr val="2B1A63"/>
      </a:dk2>
      <a:lt2>
        <a:srgbClr val="F3F0FA"/>
      </a:lt2>
      <a:accent1>
        <a:srgbClr val="E0218A"/>
      </a:accent1>
      <a:accent2>
        <a:srgbClr val="4F6BFF"/>
      </a:accent2>
      <a:accent3>
        <a:srgbClr val="8B5CF6"/>
      </a:accent3>
      <a:accent4>
        <a:srgbClr val="22C3A6"/>
      </a:accent4>
      <a:accent5>
        <a:srgbClr val="FFB020"/>
      </a:accent5>
      <a:accent6>
        <a:srgbClr val="6B6385"/>
      </a:accent6>
      <a:hlink>
        <a:srgbClr val="4F6BFF"/>
      </a:hlink>
      <a:folHlink>
        <a:srgbClr val="8B5CF6"/>
      </a:folHlink>
    </a:clrScheme>
    <a:fontScheme name="LedWa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LedWave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LedWave | Bares, Restaurantes e Food Service</dc:title>
  <dc:subject>PptxGenJS Presentation</dc:subject>
  <dc:creator>LedWave</dc:creator>
  <cp:lastModifiedBy>LedWave</cp:lastModifiedBy>
  <cp:revision>1</cp:revision>
  <dcterms:created xsi:type="dcterms:W3CDTF">2026-10-19T15:30:33Z</dcterms:created>
  <dcterms:modified xsi:type="dcterms:W3CDTF">2026-10-19T15:30:33Z</dcterms:modified>
</cp:coreProperties>
</file>