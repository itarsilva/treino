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540d5588-a8cd-c39f-0ea0-fa8de0cdd960}">
          <p14:sldIdLst>
            <p14:sldId id="256"/>
            <p14:sldId id="257"/>
          </p14:sldIdLst>
        </p14:section>
        <p14:section name="O seu cenário" id="{2005eb02-6ded-4eb5-f46e-04396bd31d39}">
          <p14:sldIdLst>
            <p14:sldId id="258"/>
          </p14:sldIdLst>
        </p14:section>
        <p14:section name="LedWave" id="{311e1041-09b2-ba00-2d0f-18ecfce2eba8}">
          <p14:sldIdLst>
            <p14:sldId id="259"/>
            <p14:sldId id="260"/>
            <p14:sldId id="261"/>
            <p14:sldId id="262"/>
            <p14:sldId id="263"/>
          </p14:sldIdLst>
        </p14:section>
        <p14:section name="Por que digitalizar" id="{ff1b7035-8df2-c558-065f-9cff05111865}">
          <p14:sldIdLst>
            <p14:sldId id="264"/>
            <p14:sldId id="265"/>
          </p14:sldIdLst>
        </p14:section>
        <p14:section name="Ganhos e solução" id="{f5452569-534e-3657-9e29-381cc5910cda}">
          <p14:sldIdLst>
            <p14:sldId id="266"/>
            <p14:sldId id="267"/>
            <p14:sldId id="268"/>
          </p14:sldIdLst>
        </p14:section>
        <p14:section name="Próximo passo" id="{7c245376-c649-edde-8dbf-9911fbd19b4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Investidor, CEO/Proprietário de exibidora, Diretor Comercial de mídia.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"Quantos pontos opera, em quais praças, com que ocupação média? Quem é seu fornecedor atual?"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Quantos pontos opera, em quais praças, com que ocupação média? Quem é seu fornecedor atual?
Problema: Quanto tempo de tela apagada teve no último ano? Qual a maior dificuldade: ponto, licenciamento, venda ou manutenção?
Implicação: Quanto custou em receita cada dia de tela apagada? Quantos pontos bons a concorrência ocupou enquanto você decidia?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DOOH e Investidores de Mídia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[Diferenciais · ~1 min] Não leia os oito. Escolha os 2 ou 3 que respondem ao propósito de compra do cliente (Mídia, Status, Retrofit / arquitetura) e conte cada um em uma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Sem case mapeado do segmento: escolha o cliente com o propósito de compra mais parecido.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
Propósitos de compra mais comuns neste nicho: Mídia, Status, Retrofit / arquitetura. Confirme qual pesa mais para este cliente e apague os outros.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"Painel apagado é aluguel perdido. Escolha quem mantém sua tela no ar."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O payback é longo e o risco é alto.
Resposta: Por isso o projeto começa pelo ponto, não pelo painel: fluxo, visibilidade, licenciamento e plano comercial. Com fabricante que também opera mídia, o risco técnico cai.
Objeção (comercial): Política local / licenças
Resposta: Apoiamos o licenciamento: projeto técnico, documentação e orientação sobre as regras da sua cidade.
Objeção (comercial): SLA
Resposta: O prazo de atendimento fica escrito no contrato. [Preencher prazos oficiais de SLA]
Objeção (comercial): Crédito
Resposta: Trabalhamos com parceiros de financiamento e com locação, que exige menos crédito do que a compra.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Um parceiro que fabrica, mantém e entende de operação de mídia aceleraria o seu plano de expansão?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743200" cy="939769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cap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914400"/>
            <a:ext cx="3904488" cy="45720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194560" cy="751815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faix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5943600"/>
            <a:ext cx="2322576" cy="54864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14800"/>
            <a:ext cx="69494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1645920" cy="563862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faix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5897880"/>
            <a:ext cx="2514600" cy="59436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272784"/>
            <a:ext cx="960120" cy="32891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91640" y="63276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A7A"/>
                </a:solidFill>
              </a:rPr>
              <a:t>DOOH e Investidores de Mídia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DOOH e Investidores de Mídia</a:t>
            </a:r>
            <a:endParaRPr lang="en-US" sz="4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Painel apagado é aluguel perdido. Escolha quem mantém sua tela no ar.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7360920" y="4160520"/>
            <a:ext cx="1645920" cy="164592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457200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Um painel de LED não é um custo, é um imóvel que paga aluguel em inserções. A pergunta é: quanto rende o seu metro quadrado?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Quer entrar ou crescer em mídia exterior digital, mas precisa de ativo confiável, ponto bem escolhido e retorno previsível.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Os melhores pontos da cidade estão sendo ocupados agora. Ponto bom não espera.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2F3F7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Por que a LedWave</a:t>
            </a:r>
            <a:endParaRPr lang="en-US" sz="3200" dirty="0"/>
          </a:p>
        </p:txBody>
      </p:sp>
      <p:sp>
        <p:nvSpPr>
          <p:cNvPr id="3" name="Diferencial Solução 360°"/>
          <p:cNvSpPr/>
          <p:nvPr/>
        </p:nvSpPr>
        <p:spPr>
          <a:xfrm>
            <a:off x="548640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Solução 360° círcul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5" name="Solução 360°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034540"/>
            <a:ext cx="320040" cy="320040"/>
          </a:xfrm>
          <a:prstGeom prst="rect">
            <a:avLst/>
          </a:prstGeom>
        </p:spPr>
      </p:pic>
      <p:sp>
        <p:nvSpPr>
          <p:cNvPr id="6" name="Solução 360° título"/>
          <p:cNvSpPr txBox="1"/>
          <p:nvPr/>
        </p:nvSpPr>
        <p:spPr>
          <a:xfrm>
            <a:off x="822960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Solução 360°</a:t>
            </a:r>
            <a:endParaRPr lang="en-US" sz="1600" dirty="0"/>
          </a:p>
        </p:txBody>
      </p:sp>
      <p:sp>
        <p:nvSpPr>
          <p:cNvPr id="7" name="Solução 360° texto"/>
          <p:cNvSpPr txBox="1"/>
          <p:nvPr/>
        </p:nvSpPr>
        <p:spPr>
          <a:xfrm>
            <a:off x="822960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projeto ao conteúdo, um só parceiro</a:t>
            </a:r>
            <a:endParaRPr lang="en-US" sz="1400" dirty="0"/>
          </a:p>
        </p:txBody>
      </p:sp>
      <p:sp>
        <p:nvSpPr>
          <p:cNvPr id="8" name="Diferencial Fábrica própria"/>
          <p:cNvSpPr/>
          <p:nvPr/>
        </p:nvSpPr>
        <p:spPr>
          <a:xfrm>
            <a:off x="3364992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Fábrica própria círculo"/>
          <p:cNvSpPr/>
          <p:nvPr/>
        </p:nvSpPr>
        <p:spPr>
          <a:xfrm>
            <a:off x="3639312" y="187452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10" name="Fábrica própr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034540"/>
            <a:ext cx="320040" cy="320040"/>
          </a:xfrm>
          <a:prstGeom prst="rect">
            <a:avLst/>
          </a:prstGeom>
        </p:spPr>
      </p:pic>
      <p:sp>
        <p:nvSpPr>
          <p:cNvPr id="11" name="Fábrica própria título"/>
          <p:cNvSpPr txBox="1"/>
          <p:nvPr/>
        </p:nvSpPr>
        <p:spPr>
          <a:xfrm>
            <a:off x="3639312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Fábrica própria</a:t>
            </a:r>
            <a:endParaRPr lang="en-US" sz="1600" dirty="0"/>
          </a:p>
        </p:txBody>
      </p:sp>
      <p:sp>
        <p:nvSpPr>
          <p:cNvPr id="12" name="Fábrica própria texto"/>
          <p:cNvSpPr txBox="1"/>
          <p:nvPr/>
        </p:nvSpPr>
        <p:spPr>
          <a:xfrm>
            <a:off x="3639312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no Brasil, em Goiânia</a:t>
            </a:r>
            <a:endParaRPr lang="en-US" sz="1400" dirty="0"/>
          </a:p>
        </p:txBody>
      </p:sp>
      <p:sp>
        <p:nvSpPr>
          <p:cNvPr id="13" name="Diferencial Venda ou locação"/>
          <p:cNvSpPr/>
          <p:nvPr/>
        </p:nvSpPr>
        <p:spPr>
          <a:xfrm>
            <a:off x="6181344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Venda ou locação círculo"/>
          <p:cNvSpPr/>
          <p:nvPr/>
        </p:nvSpPr>
        <p:spPr>
          <a:xfrm>
            <a:off x="6455664" y="187452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5" name="Venda ou locaçã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2034540"/>
            <a:ext cx="320040" cy="320040"/>
          </a:xfrm>
          <a:prstGeom prst="rect">
            <a:avLst/>
          </a:prstGeom>
        </p:spPr>
      </p:pic>
      <p:sp>
        <p:nvSpPr>
          <p:cNvPr id="16" name="Venda ou locação título"/>
          <p:cNvSpPr txBox="1"/>
          <p:nvPr/>
        </p:nvSpPr>
        <p:spPr>
          <a:xfrm>
            <a:off x="6455664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Venda ou locação</a:t>
            </a:r>
            <a:endParaRPr lang="en-US" sz="1600" dirty="0"/>
          </a:p>
        </p:txBody>
      </p:sp>
      <p:sp>
        <p:nvSpPr>
          <p:cNvPr id="17" name="Venda ou locação texto"/>
          <p:cNvSpPr txBox="1"/>
          <p:nvPr/>
        </p:nvSpPr>
        <p:spPr>
          <a:xfrm>
            <a:off x="6455664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modelo comercial que cabe no seu negócio</a:t>
            </a:r>
            <a:endParaRPr lang="en-US" sz="1400" dirty="0"/>
          </a:p>
        </p:txBody>
      </p:sp>
      <p:sp>
        <p:nvSpPr>
          <p:cNvPr id="18" name="Diferencial Estoque próprio"/>
          <p:cNvSpPr/>
          <p:nvPr/>
        </p:nvSpPr>
        <p:spPr>
          <a:xfrm>
            <a:off x="8997696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Estoque próprio círculo"/>
          <p:cNvSpPr/>
          <p:nvPr/>
        </p:nvSpPr>
        <p:spPr>
          <a:xfrm>
            <a:off x="9272016" y="187452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20" name="Estoque própri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036" y="2034540"/>
            <a:ext cx="320040" cy="320040"/>
          </a:xfrm>
          <a:prstGeom prst="rect">
            <a:avLst/>
          </a:prstGeom>
        </p:spPr>
      </p:pic>
      <p:sp>
        <p:nvSpPr>
          <p:cNvPr id="21" name="Estoque próprio título"/>
          <p:cNvSpPr txBox="1"/>
          <p:nvPr/>
        </p:nvSpPr>
        <p:spPr>
          <a:xfrm>
            <a:off x="9272016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Estoque próprio</a:t>
            </a:r>
            <a:endParaRPr lang="en-US" sz="1600" dirty="0"/>
          </a:p>
        </p:txBody>
      </p:sp>
      <p:sp>
        <p:nvSpPr>
          <p:cNvPr id="22" name="Estoque próprio texto"/>
          <p:cNvSpPr txBox="1"/>
          <p:nvPr/>
        </p:nvSpPr>
        <p:spPr>
          <a:xfrm>
            <a:off x="9272016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espera entre a assinatura e a tela acesa</a:t>
            </a:r>
            <a:endParaRPr lang="en-US" sz="1400" dirty="0"/>
          </a:p>
        </p:txBody>
      </p:sp>
      <p:sp>
        <p:nvSpPr>
          <p:cNvPr id="23" name="Diferencial Atendimento nacional"/>
          <p:cNvSpPr/>
          <p:nvPr/>
        </p:nvSpPr>
        <p:spPr>
          <a:xfrm>
            <a:off x="548640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4" name="Atendimento nacional círculo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5" name="Atendimento nacional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26" name="Atendimento nacional título"/>
          <p:cNvSpPr txBox="1"/>
          <p:nvPr/>
        </p:nvSpPr>
        <p:spPr>
          <a:xfrm>
            <a:off x="822960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Atendimento nacional</a:t>
            </a:r>
            <a:endParaRPr lang="en-US" sz="1600" dirty="0"/>
          </a:p>
        </p:txBody>
      </p:sp>
      <p:sp>
        <p:nvSpPr>
          <p:cNvPr id="27" name="Atendimento nacional texto"/>
          <p:cNvSpPr txBox="1"/>
          <p:nvPr/>
        </p:nvSpPr>
        <p:spPr>
          <a:xfrm>
            <a:off x="822960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Goiânia, São Paulo, Brasília e Orlando (EUA)</a:t>
            </a:r>
            <a:endParaRPr lang="en-US" sz="1400" dirty="0"/>
          </a:p>
        </p:txBody>
      </p:sp>
      <p:sp>
        <p:nvSpPr>
          <p:cNvPr id="28" name="Diferencial Sob medida"/>
          <p:cNvSpPr/>
          <p:nvPr/>
        </p:nvSpPr>
        <p:spPr>
          <a:xfrm>
            <a:off x="3364992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9" name="Sob medida círculo"/>
          <p:cNvSpPr/>
          <p:nvPr/>
        </p:nvSpPr>
        <p:spPr>
          <a:xfrm>
            <a:off x="3639312" y="41148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30" name="Sob medida í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9332" y="4274820"/>
            <a:ext cx="320040" cy="320040"/>
          </a:xfrm>
          <a:prstGeom prst="rect">
            <a:avLst/>
          </a:prstGeom>
        </p:spPr>
      </p:pic>
      <p:sp>
        <p:nvSpPr>
          <p:cNvPr id="31" name="Sob medida título"/>
          <p:cNvSpPr txBox="1"/>
          <p:nvPr/>
        </p:nvSpPr>
        <p:spPr>
          <a:xfrm>
            <a:off x="3639312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Sob medida</a:t>
            </a:r>
            <a:endParaRPr lang="en-US" sz="1600" dirty="0"/>
          </a:p>
        </p:txBody>
      </p:sp>
      <p:sp>
        <p:nvSpPr>
          <p:cNvPr id="32" name="Sob medida texto"/>
          <p:cNvSpPr txBox="1"/>
          <p:nvPr/>
        </p:nvSpPr>
        <p:spPr>
          <a:xfrm>
            <a:off x="3639312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Formato e resolução para o seu espaço</a:t>
            </a:r>
            <a:endParaRPr lang="en-US" sz="1400" dirty="0"/>
          </a:p>
        </p:txBody>
      </p:sp>
      <p:sp>
        <p:nvSpPr>
          <p:cNvPr id="33" name="Diferencial Software de gestão"/>
          <p:cNvSpPr/>
          <p:nvPr/>
        </p:nvSpPr>
        <p:spPr>
          <a:xfrm>
            <a:off x="6181344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4" name="Software de gestão círculo"/>
          <p:cNvSpPr/>
          <p:nvPr/>
        </p:nvSpPr>
        <p:spPr>
          <a:xfrm>
            <a:off x="6455664" y="411480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35" name="Software d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5684" y="4274820"/>
            <a:ext cx="320040" cy="320040"/>
          </a:xfrm>
          <a:prstGeom prst="rect">
            <a:avLst/>
          </a:prstGeom>
        </p:spPr>
      </p:pic>
      <p:sp>
        <p:nvSpPr>
          <p:cNvPr id="36" name="Software de gestão título"/>
          <p:cNvSpPr txBox="1"/>
          <p:nvPr/>
        </p:nvSpPr>
        <p:spPr>
          <a:xfrm>
            <a:off x="6455664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Software de gestão</a:t>
            </a:r>
            <a:endParaRPr lang="en-US" sz="1600" dirty="0"/>
          </a:p>
        </p:txBody>
      </p:sp>
      <p:sp>
        <p:nvSpPr>
          <p:cNvPr id="37" name="Software de gestão texto"/>
          <p:cNvSpPr txBox="1"/>
          <p:nvPr/>
        </p:nvSpPr>
        <p:spPr>
          <a:xfrm>
            <a:off x="6455664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Conteúdo e venda programática de mídia</a:t>
            </a:r>
            <a:endParaRPr lang="en-US" sz="1400" dirty="0"/>
          </a:p>
        </p:txBody>
      </p:sp>
      <p:sp>
        <p:nvSpPr>
          <p:cNvPr id="38" name="Diferencial Garantia e suporte"/>
          <p:cNvSpPr/>
          <p:nvPr/>
        </p:nvSpPr>
        <p:spPr>
          <a:xfrm>
            <a:off x="8997696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9" name="Garantia e suporte círculo"/>
          <p:cNvSpPr/>
          <p:nvPr/>
        </p:nvSpPr>
        <p:spPr>
          <a:xfrm>
            <a:off x="9272016" y="41148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40" name="Garantia e suporte í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2036" y="4274820"/>
            <a:ext cx="320040" cy="320040"/>
          </a:xfrm>
          <a:prstGeom prst="rect">
            <a:avLst/>
          </a:prstGeom>
        </p:spPr>
      </p:pic>
      <p:sp>
        <p:nvSpPr>
          <p:cNvPr id="41" name="Garantia e suporte título"/>
          <p:cNvSpPr txBox="1"/>
          <p:nvPr/>
        </p:nvSpPr>
        <p:spPr>
          <a:xfrm>
            <a:off x="9272016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Garantia e suporte</a:t>
            </a:r>
            <a:endParaRPr lang="en-US" sz="1600" dirty="0"/>
          </a:p>
        </p:txBody>
      </p:sp>
      <p:sp>
        <p:nvSpPr>
          <p:cNvPr id="42" name="Garantia e suporte texto"/>
          <p:cNvSpPr txBox="1"/>
          <p:nvPr/>
        </p:nvSpPr>
        <p:spPr>
          <a:xfrm>
            <a:off x="9272016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Equipe técnica própria para a tela não apagar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Nordestão"/>
          <p:cNvSpPr/>
          <p:nvPr/>
        </p:nvSpPr>
        <p:spPr>
          <a:xfrm>
            <a:off x="54864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Nordestão</a:t>
            </a:r>
            <a:endParaRPr lang="en-US" sz="2200" dirty="0"/>
          </a:p>
        </p:txBody>
      </p:sp>
      <p:sp>
        <p:nvSpPr>
          <p:cNvPr id="5" name="Marca Rosewood"/>
          <p:cNvSpPr/>
          <p:nvPr/>
        </p:nvSpPr>
        <p:spPr>
          <a:xfrm>
            <a:off x="429768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Rosewood</a:t>
            </a:r>
            <a:endParaRPr lang="en-US" sz="2200" dirty="0"/>
          </a:p>
        </p:txBody>
      </p:sp>
      <p:sp>
        <p:nvSpPr>
          <p:cNvPr id="7" name="Marca Beto Carrero World"/>
          <p:cNvSpPr/>
          <p:nvPr/>
        </p:nvSpPr>
        <p:spPr>
          <a:xfrm>
            <a:off x="804672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Beto Carrero World</a:t>
            </a:r>
            <a:endParaRPr lang="en-US" sz="2200" dirty="0"/>
          </a:p>
        </p:txBody>
      </p:sp>
      <p:sp>
        <p:nvSpPr>
          <p:cNvPr id="9" name="Marca Museu do Amanhã"/>
          <p:cNvSpPr/>
          <p:nvPr/>
        </p:nvSpPr>
        <p:spPr>
          <a:xfrm>
            <a:off x="54864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Marca nome 4"/>
          <p:cNvSpPr txBox="1"/>
          <p:nvPr/>
        </p:nvSpPr>
        <p:spPr>
          <a:xfrm>
            <a:off x="54864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Museu do Amanhã</a:t>
            </a:r>
            <a:endParaRPr lang="en-US" sz="2200" dirty="0"/>
          </a:p>
        </p:txBody>
      </p:sp>
      <p:sp>
        <p:nvSpPr>
          <p:cNvPr id="11" name="Marca Animalia"/>
          <p:cNvSpPr/>
          <p:nvPr/>
        </p:nvSpPr>
        <p:spPr>
          <a:xfrm>
            <a:off x="429768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2" name="Marca nome 5"/>
          <p:cNvSpPr txBox="1"/>
          <p:nvPr/>
        </p:nvSpPr>
        <p:spPr>
          <a:xfrm>
            <a:off x="429768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Animalia</a:t>
            </a:r>
            <a:endParaRPr lang="en-US" sz="2200" dirty="0"/>
          </a:p>
        </p:txBody>
      </p:sp>
      <p:sp>
        <p:nvSpPr>
          <p:cNvPr id="13" name="Marca Volkswagen"/>
          <p:cNvSpPr/>
          <p:nvPr/>
        </p:nvSpPr>
        <p:spPr>
          <a:xfrm>
            <a:off x="804672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Marca nome 6"/>
          <p:cNvSpPr txBox="1"/>
          <p:nvPr/>
        </p:nvSpPr>
        <p:spPr>
          <a:xfrm>
            <a:off x="804672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Volkswagen</a:t>
            </a:r>
            <a:endParaRPr lang="en-US" sz="2200" dirty="0"/>
          </a:p>
        </p:txBody>
      </p:sp>
      <p:sp>
        <p:nvSpPr>
          <p:cNvPr id="15" name="Ranking Exame círculo"/>
          <p:cNvSpPr/>
          <p:nvPr/>
        </p:nvSpPr>
        <p:spPr>
          <a:xfrm>
            <a:off x="54864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6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4263390"/>
            <a:ext cx="388620" cy="388620"/>
          </a:xfrm>
          <a:prstGeom prst="rect">
            <a:avLst/>
          </a:prstGeom>
        </p:spPr>
      </p:pic>
      <p:sp>
        <p:nvSpPr>
          <p:cNvPr id="17" name="Ranking Exame título"/>
          <p:cNvSpPr txBox="1"/>
          <p:nvPr/>
        </p:nvSpPr>
        <p:spPr>
          <a:xfrm>
            <a:off x="150876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8" name="Ranking Exame texto"/>
          <p:cNvSpPr txBox="1"/>
          <p:nvPr/>
        </p:nvSpPr>
        <p:spPr>
          <a:xfrm>
            <a:off x="150876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9" name="ABF Expo círculo"/>
          <p:cNvSpPr/>
          <p:nvPr/>
        </p:nvSpPr>
        <p:spPr>
          <a:xfrm>
            <a:off x="429768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0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4263390"/>
            <a:ext cx="388620" cy="388620"/>
          </a:xfrm>
          <a:prstGeom prst="rect">
            <a:avLst/>
          </a:prstGeom>
        </p:spPr>
      </p:pic>
      <p:sp>
        <p:nvSpPr>
          <p:cNvPr id="21" name="ABF Expo título"/>
          <p:cNvSpPr txBox="1"/>
          <p:nvPr/>
        </p:nvSpPr>
        <p:spPr>
          <a:xfrm>
            <a:off x="525780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22" name="ABF Expo texto"/>
          <p:cNvSpPr txBox="1"/>
          <p:nvPr/>
        </p:nvSpPr>
        <p:spPr>
          <a:xfrm>
            <a:off x="525780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23" name="NRF 2026, Nova York círculo"/>
          <p:cNvSpPr/>
          <p:nvPr/>
        </p:nvSpPr>
        <p:spPr>
          <a:xfrm>
            <a:off x="804672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4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4263390"/>
            <a:ext cx="388620" cy="388620"/>
          </a:xfrm>
          <a:prstGeom prst="rect">
            <a:avLst/>
          </a:prstGeom>
        </p:spPr>
      </p:pic>
      <p:sp>
        <p:nvSpPr>
          <p:cNvPr id="25" name="NRF 2026, Nova York título"/>
          <p:cNvSpPr txBox="1"/>
          <p:nvPr/>
        </p:nvSpPr>
        <p:spPr>
          <a:xfrm>
            <a:off x="900684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6" name="NRF 2026, Nova York texto"/>
          <p:cNvSpPr txBox="1"/>
          <p:nvPr/>
        </p:nvSpPr>
        <p:spPr>
          <a:xfrm>
            <a:off x="900684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7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7A7A7A"/>
                </a:solidFill>
              </a:rPr>
              <a:t>Troque os nomes pelos logos oficiais dos clientes antes de enviar o arquivo.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Construir um ativo de mídia que gera receita recorrente por anos, com um fabricante que sabe operar mídia porque também opera.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  <p:sp>
        <p:nvSpPr>
          <p:cNvPr id="6" name="Propósito de compra 1"/>
          <p:cNvSpPr/>
          <p:nvPr/>
        </p:nvSpPr>
        <p:spPr>
          <a:xfrm>
            <a:off x="82296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7" name="Propósito de compra texto 1"/>
          <p:cNvSpPr txBox="1"/>
          <p:nvPr/>
        </p:nvSpPr>
        <p:spPr>
          <a:xfrm>
            <a:off x="82296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Mídia</a:t>
            </a:r>
            <a:endParaRPr lang="en-US" sz="1400" dirty="0"/>
          </a:p>
        </p:txBody>
      </p:sp>
      <p:sp>
        <p:nvSpPr>
          <p:cNvPr id="8" name="Propósito de compra 2"/>
          <p:cNvSpPr/>
          <p:nvPr/>
        </p:nvSpPr>
        <p:spPr>
          <a:xfrm>
            <a:off x="347472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9" name="Propósito de compra texto 2"/>
          <p:cNvSpPr txBox="1"/>
          <p:nvPr/>
        </p:nvSpPr>
        <p:spPr>
          <a:xfrm>
            <a:off x="347472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Status</a:t>
            </a:r>
            <a:endParaRPr lang="en-US" sz="1400" dirty="0"/>
          </a:p>
        </p:txBody>
      </p:sp>
      <p:sp>
        <p:nvSpPr>
          <p:cNvPr id="10" name="Propósito de compra 3"/>
          <p:cNvSpPr/>
          <p:nvPr/>
        </p:nvSpPr>
        <p:spPr>
          <a:xfrm>
            <a:off x="612648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11" name="Propósito de compra texto 3"/>
          <p:cNvSpPr txBox="1"/>
          <p:nvPr/>
        </p:nvSpPr>
        <p:spPr>
          <a:xfrm>
            <a:off x="612648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Retrofit / arquitetura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Boulevard.Live, em Brasília: 1.125 m², o maior painel de LED da América Latina, pensado no ponto de maior fluxo de pessoas e veículos da cidade. A LedWave não só vende painel; ela sabe o que faz um painel faturar.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Painel apagado é aluguel perdido. Escolha quem mantém sua tela no ar.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658DFF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Receita recorrente por inserção, programática e anunciante local; o DOOH já soma R$ 4,4 bi no Brasil (IAB Brasil/Kantar, 2025).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8A5CF6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Ponto icônico vira referência da cidade e atrai anunciantes premium.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Fabricação própria, assistência técnica, alto brilho e durabilidade outdoor reduzem tempo de tela apagada (que é receita perdida).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Painéis outdoor de grande formato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Empenas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Frontlights digitais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Mobiliário urbano</a:t>
            </a:r>
            <a:endParaRPr lang="en-US" sz="1500" dirty="0"/>
          </a:p>
        </p:txBody>
      </p:sp>
      <p:sp>
        <p:nvSpPr>
          <p:cNvPr id="16" name="Item 5 círculo"/>
          <p:cNvSpPr/>
          <p:nvPr/>
        </p:nvSpPr>
        <p:spPr>
          <a:xfrm>
            <a:off x="548640" y="521208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7" name="Item 5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" y="5326380"/>
            <a:ext cx="228600" cy="228600"/>
          </a:xfrm>
          <a:prstGeom prst="rect">
            <a:avLst/>
          </a:prstGeom>
        </p:spPr>
      </p:pic>
      <p:sp>
        <p:nvSpPr>
          <p:cNvPr id="18" name="Solução 5"/>
          <p:cNvSpPr txBox="1"/>
          <p:nvPr/>
        </p:nvSpPr>
        <p:spPr>
          <a:xfrm>
            <a:off x="1188720" y="516636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Gestão de conteúdo e programação</a:t>
            </a:r>
            <a:endParaRPr lang="en-US" sz="1500" dirty="0"/>
          </a:p>
        </p:txBody>
      </p:sp>
      <p:sp>
        <p:nvSpPr>
          <p:cNvPr id="19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20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21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Ocupação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Receita por m²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Uptime da tela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Payback do ponto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658DFF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Painel apagado é aluguel perdido. Escolha quem mantém sua tela no ar.</a:t>
            </a:r>
            <a:endParaRPr lang="en-US" sz="3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411480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Vamos escolher juntos o seu próximo ponto e colocar a conta no papel?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Estudo de ponto + simulação de payback com cenário conservador, base e otimista.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3D3D3D"/>
      </a:dk1>
      <a:lt1>
        <a:srgbClr val="FFFFFF"/>
      </a:lt1>
      <a:dk2>
        <a:srgbClr val="5F5F5F"/>
      </a:dk2>
      <a:lt2>
        <a:srgbClr val="F2F3F7"/>
      </a:lt2>
      <a:accent1>
        <a:srgbClr val="E011FF"/>
      </a:accent1>
      <a:accent2>
        <a:srgbClr val="12D9FF"/>
      </a:accent2>
      <a:accent3>
        <a:srgbClr val="658DFF"/>
      </a:accent3>
      <a:accent4>
        <a:srgbClr val="8A5CF6"/>
      </a:accent4>
      <a:accent5>
        <a:srgbClr val="3EB1FE"/>
      </a:accent5>
      <a:accent6>
        <a:srgbClr val="7A7A7A"/>
      </a:accent6>
      <a:hlink>
        <a:srgbClr val="658DFF"/>
      </a:hlink>
      <a:folHlink>
        <a:srgbClr val="8A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DOOH e Investidores de Mídia</dc:title>
  <dc:subject>PptxGenJS Presentation</dc:subject>
  <dc:creator>LedWave</dc:creator>
  <cp:lastModifiedBy>LedWave</cp:lastModifiedBy>
  <cp:revision>1</cp:revision>
  <dcterms:created xsi:type="dcterms:W3CDTF">2026-10-19T18:43:12Z</dcterms:created>
  <dcterms:modified xsi:type="dcterms:W3CDTF">2026-10-19T18:43:12Z</dcterms:modified>
</cp:coreProperties>
</file>