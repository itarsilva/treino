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bertura" id="{4d2701ed-be53-a443-258f-9fdd484eb3f5}">
          <p14:sldIdLst>
            <p14:sldId id="256"/>
            <p14:sldId id="257"/>
          </p14:sldIdLst>
        </p14:section>
        <p14:section name="O seu cenário" id="{db7010eb-2221-2558-47f7-327e90422bac}">
          <p14:sldIdLst>
            <p14:sldId id="258"/>
          </p14:sldIdLst>
        </p14:section>
        <p14:section name="LedWave" id="{1084f50a-1e2a-de22-c0be-8bc21d38cc38}">
          <p14:sldIdLst>
            <p14:sldId id="259"/>
            <p14:sldId id="260"/>
            <p14:sldId id="261"/>
            <p14:sldId id="262"/>
            <p14:sldId id="263"/>
          </p14:sldIdLst>
        </p14:section>
        <p14:section name="Por que digitalizar" id="{a9c7e48d-a2cd-3d21-ab3d-3649b569dfd6}">
          <p14:sldIdLst>
            <p14:sldId id="264"/>
            <p14:sldId id="265"/>
          </p14:sldIdLst>
        </p14:section>
        <p14:section name="Ganhos e solução" id="{2bc6d517-fec0-46fe-5591-1c95c1631cb3}">
          <p14:sldIdLst>
            <p14:sldId id="266"/>
            <p14:sldId id="267"/>
            <p14:sldId id="268"/>
          </p14:sldIdLst>
        </p14:section>
        <p14:section name="Próximo passo" id="{5b410f74-6864-3be1-6b6a-9d6c8f8dae36}">
          <p14:sldIdLst>
            <p14:sldId id="26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[Abertura · ~1 min] Cumprimente, combine o objetivo e o tempo da reunião (15 min) e peça permissão: "Posso começar com uma pergunta?"
Decisor típico: Investidor, CEO/Proprietário de exibidora, Diretor Comercial de mídia.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[Gancho · ~1 min] Leia a pergunta, olhe nos olhos e espere 3 segundos. Deixe o cliente responder e anote as palavras dele.
Se ele responder, aprofunde com: "Quantos pontos opera, em quais praças, com que ocupação média? Quem é seu fornecedor atual?"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[Dor · ~2 min] Não leia o slide. Pergunte antes de mostrar:
Situação: Quantos pontos opera, em quais praças, com que ocupação média? Quem é seu fornecedor atual?
Problema: Quanto tempo de tela apagada teve no último ano? Qual a maior dificuldade: ponto, licenciamento, venda ou manutenção?
Implicação: Quanto custou em receita cada dia de tela apagada? Quantos pontos bons a concorrência ocupou enquanto você decidia?
Use os números que o cliente der no slide de fechamento.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[LedWave · ~1,5 min] O cliente é o herói; a LedWave é o guia que já fez isso antes. Conte a origem em 20 segundos e siga.
Frase-ponte: "E é por isso que estamos aqui."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[Números · ~1 min] Escolha os 2 números que mais conversam com DOOH e Investidores de Mídia e fale só deles. Ex.: para mídia e grandes formatos, o Boulevard.Live; para redes, as 4 bases e a fábrica própria.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[Solução completa · ~1 min] Mensagem central: "Não vendemos painel. Entregamos o resultado que o painel gera."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[Diferenciais · ~1 min] Não leia os oito. Escolha os 2 ou 3 que respondem ao propósito de compra do cliente (Mídia, Status, Retrofit / arquitetura) e conte cada um em uma frase.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[Prova social · ~1 min] Sem case mapeado do segmento: escolha o cliente com o propósito de compra mais parecido. Apague a linha de instrução antes de enviar o arquivo.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[Propósito · ~1 min] Fale devagar. Este é o porquê da conversa. Pausa de 3 segundos no final.
Propósitos de compra mais comuns neste nicho: Mídia, Status, Retrofit / arquitetura. Confirme qual pesa mais para este cliente e apague os outros.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[História · ~1,5 min] Conte a história como cena, no presente. Se tiver o mockup do espaço do cliente, este é o momento de mostrar: antes e depois.
Frase de efeito: "Painel apagado é aluguel perdido. Escolha quem mantém sua tela no ar."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[Ganhos · ~2,5 min] Um ganho por vez. Para cada um, conecte com o que o cliente disse na descoberta: "Você comentou que... é aqui que isso muda."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[Solução · ~1,5 min] Mostre só o que faz sentido para o espaço do cliente; apague o resto.
Objeção provável: O payback é longo e o risco é alto.
Resposta: Por isso o projeto começa pelo ponto, não pelo painel: fluxo, visibilidade, licenciamento e plano comercial. Com fabricante que também opera mídia, o risco técnico cai.
Objeção (comercial): Política local / licenças
Resposta: Apoiamos o licenciamento: projeto técnico, documentação e orientação sobre as regras da sua cidade.
Objeção (comercial): SLA
Resposta: O prazo de atendimento fica escrito no contrato. [Preencher prazos oficiais de SLA]
Objeção (comercial): Crédito
Resposta: Trabalhamos com parceiros de financiamento e com locação, que exige menos crédito do que a compra.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[Prova · ~1 min] Preencha o case do segmento com um cliente real antes da reunião. Sem case do segmento, apague o card da direita e fale só do Boulevard.Live.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[Fechamento · ~1,5 min] Termine no ponto alto: repita a frase de efeito e proponha o próximo passo com duas opções de data ("quinta ou sexta?"). Nunca termine com "alguma dúvida?".
Pergunta de necessidade: Um parceiro que fabrica, mantém e entende de operação de mídia aceleraria o seu plano de expansão?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pa">
    <p:bg>
      <p:bgPr>
        <a:solidFill>
          <a:srgbClr val="140C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LedWave</a:t>
            </a:r>
            <a:endParaRPr lang="en-US" sz="16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2103120"/>
            <a:ext cx="6949440" cy="17373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3977640"/>
            <a:ext cx="694944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rgbClr val="D9D2F0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echamento">
    <p:bg>
      <p:bgPr>
        <a:solidFill>
          <a:srgbClr val="140C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LedWave</a:t>
            </a:r>
            <a:endParaRPr lang="en-US" sz="16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1463040"/>
            <a:ext cx="6949440" cy="24688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4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4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4114800"/>
            <a:ext cx="6949440" cy="1371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rgbClr val="D9D2F0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staque">
    <p:bg>
      <p:bgPr>
        <a:solidFill>
          <a:srgbClr val="2B1A6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LedWave</a:t>
            </a:r>
            <a:endParaRPr lang="en-US" sz="16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822960" y="1371600"/>
            <a:ext cx="10515600" cy="457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b="1" dirty="0">
                <a:solidFill>
                  <a:schemeClr val="accent1"/>
                </a:solidFill>
              </a:defRPr>
            </a:lvl1pPr>
          </a:lstStyle>
          <a:p>
            <a:pPr algn="l" indent="0" marL="0">
              <a:buNone/>
            </a:pPr>
            <a:endParaRPr lang="en-US" sz="18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822960" y="2011680"/>
            <a:ext cx="8229600" cy="32918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udo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3550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385"/>
                </a:solidFill>
              </a:rPr>
              <a:t>LedWave  ·  DOOH e Investidores de Mídia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38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38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5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image" Target="../media/image-6-7.png"/><Relationship Id="rId8" Type="http://schemas.openxmlformats.org/officeDocument/2006/relationships/image" Target="../media/image-6-8.png"/><Relationship Id="rId9" Type="http://schemas.openxmlformats.org/officeDocument/2006/relationships/image" Target="../media/image-6-9.png"/><Relationship Id="rId10" Type="http://schemas.openxmlformats.org/officeDocument/2006/relationships/slideLayout" Target="../slideLayouts/slideLayout5.xml"/><Relationship Id="rId11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image" Target="../media/image-7-6.png"/><Relationship Id="rId7" Type="http://schemas.openxmlformats.org/officeDocument/2006/relationships/image" Target="../media/image-7-7.png"/><Relationship Id="rId8" Type="http://schemas.openxmlformats.org/officeDocument/2006/relationships/image" Target="../media/image-7-8.png"/><Relationship Id="rId9" Type="http://schemas.openxmlformats.org/officeDocument/2006/relationships/slideLayout" Target="../slideLayouts/slideLayout5.xml"/><Relationship Id="rId10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slideLayout" Target="../slideLayouts/slideLayout5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slideLayout" Target="../slideLayouts/slideLayout5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image" Target="../media/image-12-5.png"/><Relationship Id="rId6" Type="http://schemas.openxmlformats.org/officeDocument/2006/relationships/slideLayout" Target="../slideLayouts/slideLayout5.xml"/><Relationship Id="rId7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2103120"/>
            <a:ext cx="69494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DOOH e Investidores de Mídia</a:t>
            </a:r>
            <a:endParaRPr lang="en-US" sz="4000" dirty="0"/>
          </a:p>
        </p:txBody>
      </p:sp>
      <p:sp>
        <p:nvSpPr>
          <p:cNvPr id="3" name="Text 1"/>
          <p:cNvSpPr/>
          <p:nvPr>
            <p:ph idx="102" type="body" hasCustomPrompt="1"/>
          </p:nvPr>
        </p:nvSpPr>
        <p:spPr>
          <a:xfrm>
            <a:off x="548640" y="3977640"/>
            <a:ext cx="69494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D9D2F0"/>
                </a:solidFill>
              </a:rPr>
              <a:t>Painel apagado é aluguel perdido. Escolha quem mantém sua tela no ar.</a:t>
            </a:r>
            <a:endParaRPr lang="en-US" sz="2000" dirty="0"/>
          </a:p>
        </p:txBody>
      </p:sp>
      <p:sp>
        <p:nvSpPr>
          <p:cNvPr id="4" name="Cliente e data"/>
          <p:cNvSpPr txBox="1"/>
          <p:nvPr/>
        </p:nvSpPr>
        <p:spPr>
          <a:xfrm>
            <a:off x="548640" y="603504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B8AED8"/>
                </a:solidFill>
              </a:rPr>
              <a:t>Proposta para [Nome do cliente]  ·  [Data]</a:t>
            </a:r>
            <a:endParaRPr lang="en-US" sz="1400" dirty="0"/>
          </a:p>
        </p:txBody>
      </p:sp>
      <p:sp>
        <p:nvSpPr>
          <p:cNvPr id="5" name="Ícone do nicho círculo"/>
          <p:cNvSpPr/>
          <p:nvPr/>
        </p:nvSpPr>
        <p:spPr>
          <a:xfrm>
            <a:off x="8412480" y="1737360"/>
            <a:ext cx="3017520" cy="3017520"/>
          </a:xfrm>
          <a:prstGeom prst="ellipse">
            <a:avLst/>
          </a:prstGeom>
          <a:solidFill>
            <a:srgbClr val="E0218A"/>
          </a:solidFill>
          <a:ln/>
        </p:spPr>
      </p:sp>
      <p:pic>
        <p:nvPicPr>
          <p:cNvPr id="6" name="Ícone do nicho ícon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66860" y="2491740"/>
            <a:ext cx="1508760" cy="150876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822960" y="137160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Uma pergunta para começar</a:t>
            </a:r>
            <a:endParaRPr lang="en-US" sz="1800" dirty="0"/>
          </a:p>
        </p:txBody>
      </p:sp>
      <p:sp>
        <p:nvSpPr>
          <p:cNvPr id="3" name="Text 1"/>
          <p:cNvSpPr/>
          <p:nvPr>
            <p:ph idx="102" type="body" hasCustomPrompt="1"/>
          </p:nvPr>
        </p:nvSpPr>
        <p:spPr>
          <a:xfrm>
            <a:off x="822960" y="2011680"/>
            <a:ext cx="822960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bg1"/>
                </a:solidFill>
              </a:rPr>
              <a:t>Um painel de LED não é um custo, é um imóvel que paga aluguel em inserções. A pergunta é: quanto rende o seu metro quadrado?</a:t>
            </a:r>
            <a:endParaRPr lang="en-US" sz="3200" dirty="0"/>
          </a:p>
        </p:txBody>
      </p:sp>
      <p:sp>
        <p:nvSpPr>
          <p:cNvPr id="4" name="Pergunta círculo"/>
          <p:cNvSpPr/>
          <p:nvPr/>
        </p:nvSpPr>
        <p:spPr>
          <a:xfrm>
            <a:off x="9692640" y="2103120"/>
            <a:ext cx="1737360" cy="1737360"/>
          </a:xfrm>
          <a:prstGeom prst="ellipse">
            <a:avLst/>
          </a:prstGeom>
          <a:solidFill>
            <a:srgbClr val="E0218A"/>
          </a:solidFill>
          <a:ln/>
        </p:spPr>
      </p:sp>
      <p:pic>
        <p:nvPicPr>
          <p:cNvPr id="5" name="Pergunta ícon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26980" y="2537460"/>
            <a:ext cx="868680" cy="86868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O desafio de hoje</a:t>
            </a:r>
            <a:endParaRPr lang="en-US" sz="3200" dirty="0"/>
          </a:p>
        </p:txBody>
      </p:sp>
      <p:sp>
        <p:nvSpPr>
          <p:cNvPr id="3" name="Card Como é hoje"/>
          <p:cNvSpPr/>
          <p:nvPr/>
        </p:nvSpPr>
        <p:spPr>
          <a:xfrm>
            <a:off x="548640" y="1600200"/>
            <a:ext cx="5394960" cy="429768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/>
        </p:spPr>
      </p:sp>
      <p:sp>
        <p:nvSpPr>
          <p:cNvPr id="4" name="Como é hoje círculo"/>
          <p:cNvSpPr/>
          <p:nvPr/>
        </p:nvSpPr>
        <p:spPr>
          <a:xfrm>
            <a:off x="914400" y="1920240"/>
            <a:ext cx="822960" cy="822960"/>
          </a:xfrm>
          <a:prstGeom prst="ellipse">
            <a:avLst/>
          </a:prstGeom>
          <a:solidFill>
            <a:srgbClr val="4F6BFF"/>
          </a:solidFill>
          <a:ln/>
        </p:spPr>
      </p:sp>
      <p:pic>
        <p:nvPicPr>
          <p:cNvPr id="5" name="Como é hoje ícon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0140" y="2125980"/>
            <a:ext cx="411480" cy="411480"/>
          </a:xfrm>
          <a:prstGeom prst="rect">
            <a:avLst/>
          </a:prstGeom>
        </p:spPr>
      </p:pic>
      <p:sp>
        <p:nvSpPr>
          <p:cNvPr id="6" name="Como é hoje título"/>
          <p:cNvSpPr txBox="1"/>
          <p:nvPr/>
        </p:nvSpPr>
        <p:spPr>
          <a:xfrm>
            <a:off x="914400" y="2926080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Como é hoje</a:t>
            </a:r>
            <a:endParaRPr lang="en-US" sz="2200" dirty="0"/>
          </a:p>
        </p:txBody>
      </p:sp>
      <p:sp>
        <p:nvSpPr>
          <p:cNvPr id="7" name="Como é hoje texto"/>
          <p:cNvSpPr txBox="1"/>
          <p:nvPr/>
        </p:nvSpPr>
        <p:spPr>
          <a:xfrm>
            <a:off x="914400" y="3474720"/>
            <a:ext cx="466344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Quer entrar ou crescer em mídia exterior digital, mas precisa de ativo confiável, ponto bem escolhido e retorno previsível.</a:t>
            </a:r>
            <a:endParaRPr lang="en-US" sz="1700" dirty="0"/>
          </a:p>
        </p:txBody>
      </p:sp>
      <p:sp>
        <p:nvSpPr>
          <p:cNvPr id="8" name="Card O custo de esperar"/>
          <p:cNvSpPr/>
          <p:nvPr/>
        </p:nvSpPr>
        <p:spPr>
          <a:xfrm>
            <a:off x="6217920" y="1600200"/>
            <a:ext cx="5394960" cy="429768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/>
        </p:spPr>
      </p:sp>
      <p:sp>
        <p:nvSpPr>
          <p:cNvPr id="9" name="O custo de esperar círculo"/>
          <p:cNvSpPr/>
          <p:nvPr/>
        </p:nvSpPr>
        <p:spPr>
          <a:xfrm>
            <a:off x="6583680" y="1920240"/>
            <a:ext cx="822960" cy="822960"/>
          </a:xfrm>
          <a:prstGeom prst="ellipse">
            <a:avLst/>
          </a:prstGeom>
          <a:solidFill>
            <a:srgbClr val="E0218A"/>
          </a:solidFill>
          <a:ln/>
        </p:spPr>
      </p:sp>
      <p:pic>
        <p:nvPicPr>
          <p:cNvPr id="10" name="O custo de esperar ícone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89420" y="2125980"/>
            <a:ext cx="411480" cy="411480"/>
          </a:xfrm>
          <a:prstGeom prst="rect">
            <a:avLst/>
          </a:prstGeom>
        </p:spPr>
      </p:pic>
      <p:sp>
        <p:nvSpPr>
          <p:cNvPr id="11" name="O custo de esperar título"/>
          <p:cNvSpPr txBox="1"/>
          <p:nvPr/>
        </p:nvSpPr>
        <p:spPr>
          <a:xfrm>
            <a:off x="6583680" y="2926080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O custo de esperar</a:t>
            </a:r>
            <a:endParaRPr lang="en-US" sz="2200" dirty="0"/>
          </a:p>
        </p:txBody>
      </p:sp>
      <p:sp>
        <p:nvSpPr>
          <p:cNvPr id="12" name="O custo de esperar texto"/>
          <p:cNvSpPr txBox="1"/>
          <p:nvPr/>
        </p:nvSpPr>
        <p:spPr>
          <a:xfrm>
            <a:off x="6583680" y="3474720"/>
            <a:ext cx="466344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Os melhores pontos da cidade estão sendo ocupados agora. Ponto bom não espera.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38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Quem é a LedWave</a:t>
            </a:r>
            <a:endParaRPr lang="en-US" sz="3200" dirty="0"/>
          </a:p>
        </p:txBody>
      </p:sp>
      <p:sp>
        <p:nvSpPr>
          <p:cNvPr id="3" name="História LedWave"/>
          <p:cNvSpPr txBox="1"/>
          <p:nvPr/>
        </p:nvSpPr>
        <p:spPr>
          <a:xfrm>
            <a:off x="548640" y="1645920"/>
            <a:ext cx="530352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De uma ideia em Xangai à liderança no Brasil</a:t>
            </a:r>
            <a:endParaRPr lang="en-US" sz="1600" dirty="0"/>
          </a:p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 </a:t>
            </a:r>
            <a:endParaRPr lang="en-US" sz="1600" dirty="0"/>
          </a:p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Uma viagem a Xangai mostrou ao nosso fundador, Tiago Brito, como as grandes capitais usam o LED para encantar pessoas. Com R$ 12 mil, essa ideia virou fábrica em Goiânia.</a:t>
            </a:r>
            <a:endParaRPr lang="en-US" sz="1600" dirty="0"/>
          </a:p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 </a:t>
            </a:r>
            <a:endParaRPr lang="en-US" sz="1600" dirty="0"/>
          </a:p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Hoje fabricamos, instalamos e operamos painéis de LED para marcas de todo o país, com unidades no Brasil e nos Estados Unidos.</a:t>
            </a:r>
            <a:endParaRPr lang="en-US" sz="1600" dirty="0"/>
          </a:p>
        </p:txBody>
      </p:sp>
      <p:sp>
        <p:nvSpPr>
          <p:cNvPr id="4" name="Linha do tempo"/>
          <p:cNvSpPr/>
          <p:nvPr/>
        </p:nvSpPr>
        <p:spPr>
          <a:xfrm>
            <a:off x="6903720" y="1920240"/>
            <a:ext cx="0" cy="3657600"/>
          </a:xfrm>
          <a:prstGeom prst="line">
            <a:avLst/>
          </a:prstGeom>
          <a:noFill/>
          <a:ln w="38100">
            <a:solidFill>
              <a:srgbClr val="F3F0FA"/>
            </a:solidFill>
            <a:prstDash val="solid"/>
          </a:ln>
        </p:spPr>
      </p:sp>
      <p:sp>
        <p:nvSpPr>
          <p:cNvPr id="5" name="Marco 1"/>
          <p:cNvSpPr/>
          <p:nvPr/>
        </p:nvSpPr>
        <p:spPr>
          <a:xfrm>
            <a:off x="6739128" y="1810512"/>
            <a:ext cx="329184" cy="329184"/>
          </a:xfrm>
          <a:prstGeom prst="ellipse">
            <a:avLst/>
          </a:prstGeom>
          <a:solidFill>
            <a:schemeClr val="accent1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6" name="Marco ano 1"/>
          <p:cNvSpPr txBox="1"/>
          <p:nvPr/>
        </p:nvSpPr>
        <p:spPr>
          <a:xfrm>
            <a:off x="7269480" y="1691640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2010/11</a:t>
            </a:r>
            <a:endParaRPr lang="en-US" sz="1800" dirty="0"/>
          </a:p>
        </p:txBody>
      </p:sp>
      <p:sp>
        <p:nvSpPr>
          <p:cNvPr id="7" name="Marco texto 1"/>
          <p:cNvSpPr txBox="1"/>
          <p:nvPr/>
        </p:nvSpPr>
        <p:spPr>
          <a:xfrm>
            <a:off x="7269480" y="2075688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Fundação em Goiânia, com fábrica própria</a:t>
            </a:r>
            <a:endParaRPr lang="en-US" sz="1400" dirty="0"/>
          </a:p>
        </p:txBody>
      </p:sp>
      <p:sp>
        <p:nvSpPr>
          <p:cNvPr id="8" name="Marco 2"/>
          <p:cNvSpPr/>
          <p:nvPr/>
        </p:nvSpPr>
        <p:spPr>
          <a:xfrm>
            <a:off x="6739128" y="2889504"/>
            <a:ext cx="329184" cy="329184"/>
          </a:xfrm>
          <a:prstGeom prst="ellipse">
            <a:avLst/>
          </a:prstGeom>
          <a:solidFill>
            <a:schemeClr val="accent1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9" name="Marco ano 2"/>
          <p:cNvSpPr txBox="1"/>
          <p:nvPr/>
        </p:nvSpPr>
        <p:spPr>
          <a:xfrm>
            <a:off x="7269480" y="2770632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4 anos</a:t>
            </a:r>
            <a:endParaRPr lang="en-US" sz="1800" dirty="0"/>
          </a:p>
        </p:txBody>
      </p:sp>
      <p:sp>
        <p:nvSpPr>
          <p:cNvPr id="10" name="Marco texto 2"/>
          <p:cNvSpPr txBox="1"/>
          <p:nvPr/>
        </p:nvSpPr>
        <p:spPr>
          <a:xfrm>
            <a:off x="7269480" y="3154680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Seguidos no ranking Exame Negócios em Expansão</a:t>
            </a:r>
            <a:endParaRPr lang="en-US" sz="1400" dirty="0"/>
          </a:p>
        </p:txBody>
      </p:sp>
      <p:sp>
        <p:nvSpPr>
          <p:cNvPr id="11" name="Marco 3"/>
          <p:cNvSpPr/>
          <p:nvPr/>
        </p:nvSpPr>
        <p:spPr>
          <a:xfrm>
            <a:off x="6739128" y="3968496"/>
            <a:ext cx="329184" cy="329184"/>
          </a:xfrm>
          <a:prstGeom prst="ellipse">
            <a:avLst/>
          </a:prstGeom>
          <a:solidFill>
            <a:schemeClr val="accent1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12" name="Marco ano 3"/>
          <p:cNvSpPr txBox="1"/>
          <p:nvPr/>
        </p:nvSpPr>
        <p:spPr>
          <a:xfrm>
            <a:off x="7269480" y="3849624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2025</a:t>
            </a:r>
            <a:endParaRPr lang="en-US" sz="1800" dirty="0"/>
          </a:p>
        </p:txBody>
      </p:sp>
      <p:sp>
        <p:nvSpPr>
          <p:cNvPr id="13" name="Marco texto 3"/>
          <p:cNvSpPr txBox="1"/>
          <p:nvPr/>
        </p:nvSpPr>
        <p:spPr>
          <a:xfrm>
            <a:off x="7269480" y="4233672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1ª colocada do segmento de painéis de LED no ranking</a:t>
            </a:r>
            <a:endParaRPr lang="en-US" sz="1400" dirty="0"/>
          </a:p>
        </p:txBody>
      </p:sp>
      <p:sp>
        <p:nvSpPr>
          <p:cNvPr id="14" name="Marco 4"/>
          <p:cNvSpPr/>
          <p:nvPr/>
        </p:nvSpPr>
        <p:spPr>
          <a:xfrm>
            <a:off x="6739128" y="5047488"/>
            <a:ext cx="329184" cy="329184"/>
          </a:xfrm>
          <a:prstGeom prst="ellipse">
            <a:avLst/>
          </a:prstGeom>
          <a:solidFill>
            <a:schemeClr val="accent1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15" name="Marco ano 4"/>
          <p:cNvSpPr txBox="1"/>
          <p:nvPr/>
        </p:nvSpPr>
        <p:spPr>
          <a:xfrm>
            <a:off x="7269480" y="4928616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2026</a:t>
            </a:r>
            <a:endParaRPr lang="en-US" sz="1800" dirty="0"/>
          </a:p>
        </p:txBody>
      </p:sp>
      <p:sp>
        <p:nvSpPr>
          <p:cNvPr id="16" name="Marco texto 4"/>
          <p:cNvSpPr txBox="1"/>
          <p:nvPr/>
        </p:nvSpPr>
        <p:spPr>
          <a:xfrm>
            <a:off x="7269480" y="5312664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Única empresa brasileira de LED com estande próprio na NRF, em Nova York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38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LedWave em números</a:t>
            </a:r>
            <a:endParaRPr lang="en-US" sz="3200" dirty="0"/>
          </a:p>
        </p:txBody>
      </p:sp>
      <p:sp>
        <p:nvSpPr>
          <p:cNvPr id="3" name="Número 1"/>
          <p:cNvSpPr/>
          <p:nvPr/>
        </p:nvSpPr>
        <p:spPr>
          <a:xfrm>
            <a:off x="548640" y="1737360"/>
            <a:ext cx="2606040" cy="3840480"/>
          </a:xfrm>
          <a:prstGeom prst="roundRect">
            <a:avLst>
              <a:gd name="adj" fmla="val 4211"/>
            </a:avLst>
          </a:prstGeom>
          <a:solidFill>
            <a:schemeClr val="tx2"/>
          </a:solidFill>
          <a:ln/>
        </p:spPr>
      </p:sp>
      <p:sp>
        <p:nvSpPr>
          <p:cNvPr id="4" name="Número valor 1"/>
          <p:cNvSpPr txBox="1"/>
          <p:nvPr/>
        </p:nvSpPr>
        <p:spPr>
          <a:xfrm>
            <a:off x="822960" y="2103120"/>
            <a:ext cx="21031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1.125 m²</a:t>
            </a:r>
            <a:endParaRPr lang="en-US" sz="4000" dirty="0"/>
          </a:p>
        </p:txBody>
      </p:sp>
      <p:sp>
        <p:nvSpPr>
          <p:cNvPr id="5" name="Número legenda 1"/>
          <p:cNvSpPr txBox="1"/>
          <p:nvPr/>
        </p:nvSpPr>
        <p:spPr>
          <a:xfrm>
            <a:off x="822960" y="3337560"/>
            <a:ext cx="21031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O maior painel de LED da América Latina (Boulevard.Live, Brasília)</a:t>
            </a:r>
            <a:endParaRPr lang="en-US" sz="1500" dirty="0"/>
          </a:p>
        </p:txBody>
      </p:sp>
      <p:sp>
        <p:nvSpPr>
          <p:cNvPr id="6" name="Número 2"/>
          <p:cNvSpPr/>
          <p:nvPr/>
        </p:nvSpPr>
        <p:spPr>
          <a:xfrm>
            <a:off x="3364992" y="1737360"/>
            <a:ext cx="2606040" cy="384048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/>
        </p:spPr>
      </p:sp>
      <p:sp>
        <p:nvSpPr>
          <p:cNvPr id="7" name="Número valor 2"/>
          <p:cNvSpPr txBox="1"/>
          <p:nvPr/>
        </p:nvSpPr>
        <p:spPr>
          <a:xfrm>
            <a:off x="3639312" y="2103120"/>
            <a:ext cx="21031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</a:rPr>
              <a:t>Nº 1</a:t>
            </a:r>
            <a:endParaRPr lang="en-US" sz="4000" dirty="0"/>
          </a:p>
        </p:txBody>
      </p:sp>
      <p:sp>
        <p:nvSpPr>
          <p:cNvPr id="8" name="Número legenda 2"/>
          <p:cNvSpPr txBox="1"/>
          <p:nvPr/>
        </p:nvSpPr>
        <p:spPr>
          <a:xfrm>
            <a:off x="3639312" y="3337560"/>
            <a:ext cx="21031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do segmento de painéis de LED no ranking Exame Negócios em Expansão 2025</a:t>
            </a:r>
            <a:endParaRPr lang="en-US" sz="1500" dirty="0"/>
          </a:p>
        </p:txBody>
      </p:sp>
      <p:sp>
        <p:nvSpPr>
          <p:cNvPr id="9" name="Número 3"/>
          <p:cNvSpPr/>
          <p:nvPr/>
        </p:nvSpPr>
        <p:spPr>
          <a:xfrm>
            <a:off x="6181344" y="1737360"/>
            <a:ext cx="2606040" cy="3840480"/>
          </a:xfrm>
          <a:prstGeom prst="roundRect">
            <a:avLst>
              <a:gd name="adj" fmla="val 4211"/>
            </a:avLst>
          </a:prstGeom>
          <a:solidFill>
            <a:schemeClr val="tx2"/>
          </a:solidFill>
          <a:ln/>
        </p:spPr>
      </p:sp>
      <p:sp>
        <p:nvSpPr>
          <p:cNvPr id="10" name="Número valor 3"/>
          <p:cNvSpPr txBox="1"/>
          <p:nvPr/>
        </p:nvSpPr>
        <p:spPr>
          <a:xfrm>
            <a:off x="6455664" y="2103120"/>
            <a:ext cx="21031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4 anos</a:t>
            </a:r>
            <a:endParaRPr lang="en-US" sz="4000" dirty="0"/>
          </a:p>
        </p:txBody>
      </p:sp>
      <p:sp>
        <p:nvSpPr>
          <p:cNvPr id="11" name="Número legenda 3"/>
          <p:cNvSpPr txBox="1"/>
          <p:nvPr/>
        </p:nvSpPr>
        <p:spPr>
          <a:xfrm>
            <a:off x="6455664" y="3337560"/>
            <a:ext cx="21031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seguidos entre as empresas que mais crescem no Brasil (Exame)</a:t>
            </a:r>
            <a:endParaRPr lang="en-US" sz="1500" dirty="0"/>
          </a:p>
        </p:txBody>
      </p:sp>
      <p:sp>
        <p:nvSpPr>
          <p:cNvPr id="12" name="Número 4"/>
          <p:cNvSpPr/>
          <p:nvPr/>
        </p:nvSpPr>
        <p:spPr>
          <a:xfrm>
            <a:off x="8997696" y="1737360"/>
            <a:ext cx="2606040" cy="384048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/>
        </p:spPr>
      </p:sp>
      <p:sp>
        <p:nvSpPr>
          <p:cNvPr id="13" name="Número valor 4"/>
          <p:cNvSpPr txBox="1"/>
          <p:nvPr/>
        </p:nvSpPr>
        <p:spPr>
          <a:xfrm>
            <a:off x="9272016" y="2103120"/>
            <a:ext cx="21031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</a:rPr>
              <a:t>4 bases</a:t>
            </a:r>
            <a:endParaRPr lang="en-US" sz="4000" dirty="0"/>
          </a:p>
        </p:txBody>
      </p:sp>
      <p:sp>
        <p:nvSpPr>
          <p:cNvPr id="14" name="Número legenda 4"/>
          <p:cNvSpPr txBox="1"/>
          <p:nvPr/>
        </p:nvSpPr>
        <p:spPr>
          <a:xfrm>
            <a:off x="9272016" y="3337560"/>
            <a:ext cx="21031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Goiânia (sede e fábrica), São Paulo, Brasília e Orlando (EUA)</a:t>
            </a:r>
            <a:endParaRPr lang="en-US" sz="1500" dirty="0"/>
          </a:p>
        </p:txBody>
      </p:sp>
      <p:sp>
        <p:nvSpPr>
          <p:cNvPr id="15" name="Fonte"/>
          <p:cNvSpPr txBox="1"/>
          <p:nvPr/>
        </p:nvSpPr>
        <p:spPr>
          <a:xfrm>
            <a:off x="548640" y="580644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6385"/>
                </a:solidFill>
              </a:rPr>
              <a:t>Ranking Exame Negócios em Expansão com dados auditados pela PwC.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38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Solução completa, do projeto ao resultado</a:t>
            </a:r>
            <a:endParaRPr lang="en-US" sz="3200" dirty="0"/>
          </a:p>
        </p:txBody>
      </p:sp>
      <p:sp>
        <p:nvSpPr>
          <p:cNvPr id="3" name="Diagnóstico e projeto círculo"/>
          <p:cNvSpPr/>
          <p:nvPr/>
        </p:nvSpPr>
        <p:spPr>
          <a:xfrm>
            <a:off x="1115568" y="1828800"/>
            <a:ext cx="914400" cy="914400"/>
          </a:xfrm>
          <a:prstGeom prst="ellipse">
            <a:avLst/>
          </a:prstGeom>
          <a:solidFill>
            <a:srgbClr val="2B1A63"/>
          </a:solidFill>
          <a:ln/>
        </p:spPr>
      </p:sp>
      <p:pic>
        <p:nvPicPr>
          <p:cNvPr id="4" name="Diagnóstico e projeto ícon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44168" y="2057400"/>
            <a:ext cx="457200" cy="457200"/>
          </a:xfrm>
          <a:prstGeom prst="rect">
            <a:avLst/>
          </a:prstGeom>
        </p:spPr>
      </p:pic>
      <p:pic>
        <p:nvPicPr>
          <p:cNvPr id="5" name="Seta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23160" y="2130552"/>
            <a:ext cx="292608" cy="292608"/>
          </a:xfrm>
          <a:prstGeom prst="rect">
            <a:avLst/>
          </a:prstGeom>
        </p:spPr>
      </p:pic>
      <p:sp>
        <p:nvSpPr>
          <p:cNvPr id="6" name="Diagnóstico e projeto título"/>
          <p:cNvSpPr txBox="1"/>
          <p:nvPr/>
        </p:nvSpPr>
        <p:spPr>
          <a:xfrm>
            <a:off x="548640" y="2971800"/>
            <a:ext cx="2057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Diagnóstico e projeto</a:t>
            </a:r>
            <a:endParaRPr lang="en-US" sz="1700" dirty="0"/>
          </a:p>
        </p:txBody>
      </p:sp>
      <p:sp>
        <p:nvSpPr>
          <p:cNvPr id="7" name="Diagnóstico e projeto texto"/>
          <p:cNvSpPr txBox="1"/>
          <p:nvPr/>
        </p:nvSpPr>
        <p:spPr>
          <a:xfrm>
            <a:off x="548640" y="3611880"/>
            <a:ext cx="2057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Estudo do seu espaço, do público e do objetivo</a:t>
            </a:r>
            <a:endParaRPr lang="en-US" sz="1400" dirty="0"/>
          </a:p>
        </p:txBody>
      </p:sp>
      <p:sp>
        <p:nvSpPr>
          <p:cNvPr id="8" name="Fabricação própria círculo"/>
          <p:cNvSpPr/>
          <p:nvPr/>
        </p:nvSpPr>
        <p:spPr>
          <a:xfrm>
            <a:off x="3383280" y="1828800"/>
            <a:ext cx="914400" cy="914400"/>
          </a:xfrm>
          <a:prstGeom prst="ellipse">
            <a:avLst/>
          </a:prstGeom>
          <a:solidFill>
            <a:srgbClr val="2B1A63"/>
          </a:solidFill>
          <a:ln/>
        </p:spPr>
      </p:sp>
      <p:pic>
        <p:nvPicPr>
          <p:cNvPr id="9" name="Fabricação própria ícone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11880" y="2057400"/>
            <a:ext cx="457200" cy="457200"/>
          </a:xfrm>
          <a:prstGeom prst="rect">
            <a:avLst/>
          </a:prstGeom>
        </p:spPr>
      </p:pic>
      <p:pic>
        <p:nvPicPr>
          <p:cNvPr id="10" name="Seta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90872" y="2130552"/>
            <a:ext cx="292608" cy="292608"/>
          </a:xfrm>
          <a:prstGeom prst="rect">
            <a:avLst/>
          </a:prstGeom>
        </p:spPr>
      </p:pic>
      <p:sp>
        <p:nvSpPr>
          <p:cNvPr id="11" name="Fabricação própria título"/>
          <p:cNvSpPr txBox="1"/>
          <p:nvPr/>
        </p:nvSpPr>
        <p:spPr>
          <a:xfrm>
            <a:off x="2816352" y="2971800"/>
            <a:ext cx="2057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Fabricação própria</a:t>
            </a:r>
            <a:endParaRPr lang="en-US" sz="1700" dirty="0"/>
          </a:p>
        </p:txBody>
      </p:sp>
      <p:sp>
        <p:nvSpPr>
          <p:cNvPr id="12" name="Fabricação própria texto"/>
          <p:cNvSpPr txBox="1"/>
          <p:nvPr/>
        </p:nvSpPr>
        <p:spPr>
          <a:xfrm>
            <a:off x="2816352" y="3611880"/>
            <a:ext cx="2057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Linha de produção em Goiânia</a:t>
            </a:r>
            <a:endParaRPr lang="en-US" sz="1400" dirty="0"/>
          </a:p>
        </p:txBody>
      </p:sp>
      <p:sp>
        <p:nvSpPr>
          <p:cNvPr id="13" name="Instalação círculo"/>
          <p:cNvSpPr/>
          <p:nvPr/>
        </p:nvSpPr>
        <p:spPr>
          <a:xfrm>
            <a:off x="5650992" y="1828800"/>
            <a:ext cx="914400" cy="914400"/>
          </a:xfrm>
          <a:prstGeom prst="ellipse">
            <a:avLst/>
          </a:prstGeom>
          <a:solidFill>
            <a:srgbClr val="2B1A63"/>
          </a:solidFill>
          <a:ln/>
        </p:spPr>
      </p:sp>
      <p:pic>
        <p:nvPicPr>
          <p:cNvPr id="14" name="Instalação ícone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79592" y="2057400"/>
            <a:ext cx="457200" cy="457200"/>
          </a:xfrm>
          <a:prstGeom prst="rect">
            <a:avLst/>
          </a:prstGeom>
        </p:spPr>
      </p:pic>
      <p:pic>
        <p:nvPicPr>
          <p:cNvPr id="15" name="Seta 3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58584" y="2130552"/>
            <a:ext cx="292608" cy="292608"/>
          </a:xfrm>
          <a:prstGeom prst="rect">
            <a:avLst/>
          </a:prstGeom>
        </p:spPr>
      </p:pic>
      <p:sp>
        <p:nvSpPr>
          <p:cNvPr id="16" name="Instalação título"/>
          <p:cNvSpPr txBox="1"/>
          <p:nvPr/>
        </p:nvSpPr>
        <p:spPr>
          <a:xfrm>
            <a:off x="5084064" y="2971800"/>
            <a:ext cx="2057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Instalação</a:t>
            </a:r>
            <a:endParaRPr lang="en-US" sz="1700" dirty="0"/>
          </a:p>
        </p:txBody>
      </p:sp>
      <p:sp>
        <p:nvSpPr>
          <p:cNvPr id="17" name="Instalação texto"/>
          <p:cNvSpPr txBox="1"/>
          <p:nvPr/>
        </p:nvSpPr>
        <p:spPr>
          <a:xfrm>
            <a:off x="5084064" y="3611880"/>
            <a:ext cx="2057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Estrutura, energia e entrega com equipe técnica</a:t>
            </a:r>
            <a:endParaRPr lang="en-US" sz="1400" dirty="0"/>
          </a:p>
        </p:txBody>
      </p:sp>
      <p:sp>
        <p:nvSpPr>
          <p:cNvPr id="18" name="Conteúdo e gestão círculo"/>
          <p:cNvSpPr/>
          <p:nvPr/>
        </p:nvSpPr>
        <p:spPr>
          <a:xfrm>
            <a:off x="7918704" y="1828800"/>
            <a:ext cx="914400" cy="914400"/>
          </a:xfrm>
          <a:prstGeom prst="ellipse">
            <a:avLst/>
          </a:prstGeom>
          <a:solidFill>
            <a:srgbClr val="2B1A63"/>
          </a:solidFill>
          <a:ln/>
        </p:spPr>
      </p:sp>
      <p:pic>
        <p:nvPicPr>
          <p:cNvPr id="19" name="Conteúdo e gestão ícone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47304" y="2057400"/>
            <a:ext cx="457200" cy="457200"/>
          </a:xfrm>
          <a:prstGeom prst="rect">
            <a:avLst/>
          </a:prstGeom>
        </p:spPr>
      </p:pic>
      <p:pic>
        <p:nvPicPr>
          <p:cNvPr id="20" name="Seta 4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26296" y="2130552"/>
            <a:ext cx="292608" cy="292608"/>
          </a:xfrm>
          <a:prstGeom prst="rect">
            <a:avLst/>
          </a:prstGeom>
        </p:spPr>
      </p:pic>
      <p:sp>
        <p:nvSpPr>
          <p:cNvPr id="21" name="Conteúdo e gestão título"/>
          <p:cNvSpPr txBox="1"/>
          <p:nvPr/>
        </p:nvSpPr>
        <p:spPr>
          <a:xfrm>
            <a:off x="7351776" y="2971800"/>
            <a:ext cx="2057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Conteúdo e gestão</a:t>
            </a:r>
            <a:endParaRPr lang="en-US" sz="1700" dirty="0"/>
          </a:p>
        </p:txBody>
      </p:sp>
      <p:sp>
        <p:nvSpPr>
          <p:cNvPr id="22" name="Conteúdo e gestão texto"/>
          <p:cNvSpPr txBox="1"/>
          <p:nvPr/>
        </p:nvSpPr>
        <p:spPr>
          <a:xfrm>
            <a:off x="7351776" y="3611880"/>
            <a:ext cx="2057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Telas atualizadas do celular ou do computador</a:t>
            </a:r>
            <a:endParaRPr lang="en-US" sz="1400" dirty="0"/>
          </a:p>
        </p:txBody>
      </p:sp>
      <p:sp>
        <p:nvSpPr>
          <p:cNvPr id="23" name="Suporte círculo"/>
          <p:cNvSpPr/>
          <p:nvPr/>
        </p:nvSpPr>
        <p:spPr>
          <a:xfrm>
            <a:off x="10186416" y="1828800"/>
            <a:ext cx="914400" cy="914400"/>
          </a:xfrm>
          <a:prstGeom prst="ellipse">
            <a:avLst/>
          </a:prstGeom>
          <a:solidFill>
            <a:srgbClr val="2B1A63"/>
          </a:solidFill>
          <a:ln/>
        </p:spPr>
      </p:sp>
      <p:pic>
        <p:nvPicPr>
          <p:cNvPr id="24" name="Suporte ícone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415016" y="2057400"/>
            <a:ext cx="457200" cy="457200"/>
          </a:xfrm>
          <a:prstGeom prst="rect">
            <a:avLst/>
          </a:prstGeom>
        </p:spPr>
      </p:pic>
      <p:sp>
        <p:nvSpPr>
          <p:cNvPr id="25" name="Suporte título"/>
          <p:cNvSpPr txBox="1"/>
          <p:nvPr/>
        </p:nvSpPr>
        <p:spPr>
          <a:xfrm>
            <a:off x="9619488" y="2971800"/>
            <a:ext cx="2057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Suporte</a:t>
            </a:r>
            <a:endParaRPr lang="en-US" sz="1700" dirty="0"/>
          </a:p>
        </p:txBody>
      </p:sp>
      <p:sp>
        <p:nvSpPr>
          <p:cNvPr id="26" name="Suporte texto"/>
          <p:cNvSpPr txBox="1"/>
          <p:nvPr/>
        </p:nvSpPr>
        <p:spPr>
          <a:xfrm>
            <a:off x="9619488" y="3611880"/>
            <a:ext cx="2057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Assistência técnica para a tela não apagar</a:t>
            </a:r>
            <a:endParaRPr lang="en-US" sz="1400" dirty="0"/>
          </a:p>
        </p:txBody>
      </p:sp>
      <p:sp>
        <p:nvSpPr>
          <p:cNvPr id="27" name="Faixa venda e locação"/>
          <p:cNvSpPr/>
          <p:nvPr/>
        </p:nvSpPr>
        <p:spPr>
          <a:xfrm>
            <a:off x="548640" y="5074920"/>
            <a:ext cx="11064240" cy="868680"/>
          </a:xfrm>
          <a:prstGeom prst="roundRect">
            <a:avLst>
              <a:gd name="adj" fmla="val 12632"/>
            </a:avLst>
          </a:prstGeom>
          <a:solidFill>
            <a:schemeClr val="bg2"/>
          </a:solidFill>
          <a:ln/>
        </p:spPr>
      </p:sp>
      <p:sp>
        <p:nvSpPr>
          <p:cNvPr id="28" name="Venda ou locação"/>
          <p:cNvSpPr txBox="1"/>
          <p:nvPr/>
        </p:nvSpPr>
        <p:spPr>
          <a:xfrm>
            <a:off x="868680" y="5074920"/>
            <a:ext cx="10424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Venda ou locação: </a:t>
            </a:r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o modelo se adapta ao seu uso, do evento de um dia à operação permanente.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38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Por que a LedWave</a:t>
            </a:r>
            <a:endParaRPr lang="en-US" sz="3200" dirty="0"/>
          </a:p>
        </p:txBody>
      </p:sp>
      <p:sp>
        <p:nvSpPr>
          <p:cNvPr id="3" name="Diferencial Solução 360°"/>
          <p:cNvSpPr/>
          <p:nvPr/>
        </p:nvSpPr>
        <p:spPr>
          <a:xfrm>
            <a:off x="548640" y="1600200"/>
            <a:ext cx="2606040" cy="2011680"/>
          </a:xfrm>
          <a:prstGeom prst="roundRect">
            <a:avLst>
              <a:gd name="adj" fmla="val 5455"/>
            </a:avLst>
          </a:prstGeom>
          <a:solidFill>
            <a:schemeClr val="bg2"/>
          </a:solidFill>
          <a:ln/>
        </p:spPr>
      </p:sp>
      <p:sp>
        <p:nvSpPr>
          <p:cNvPr id="4" name="Solução 360° círculo"/>
          <p:cNvSpPr/>
          <p:nvPr/>
        </p:nvSpPr>
        <p:spPr>
          <a:xfrm>
            <a:off x="822960" y="1874520"/>
            <a:ext cx="640080" cy="640080"/>
          </a:xfrm>
          <a:prstGeom prst="ellipse">
            <a:avLst/>
          </a:prstGeom>
          <a:solidFill>
            <a:srgbClr val="2B1A63"/>
          </a:solidFill>
          <a:ln/>
        </p:spPr>
      </p:sp>
      <p:pic>
        <p:nvPicPr>
          <p:cNvPr id="5" name="Solução 360° ícon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2980" y="2034540"/>
            <a:ext cx="320040" cy="320040"/>
          </a:xfrm>
          <a:prstGeom prst="rect">
            <a:avLst/>
          </a:prstGeom>
        </p:spPr>
      </p:pic>
      <p:sp>
        <p:nvSpPr>
          <p:cNvPr id="6" name="Solução 360° título"/>
          <p:cNvSpPr txBox="1"/>
          <p:nvPr/>
        </p:nvSpPr>
        <p:spPr>
          <a:xfrm>
            <a:off x="822960" y="260604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Solução 360°</a:t>
            </a:r>
            <a:endParaRPr lang="en-US" sz="1600" dirty="0"/>
          </a:p>
        </p:txBody>
      </p:sp>
      <p:sp>
        <p:nvSpPr>
          <p:cNvPr id="7" name="Solução 360° texto"/>
          <p:cNvSpPr txBox="1"/>
          <p:nvPr/>
        </p:nvSpPr>
        <p:spPr>
          <a:xfrm>
            <a:off x="822960" y="2971800"/>
            <a:ext cx="2148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Do projeto ao conteúdo, um só parceiro</a:t>
            </a:r>
            <a:endParaRPr lang="en-US" sz="1400" dirty="0"/>
          </a:p>
        </p:txBody>
      </p:sp>
      <p:sp>
        <p:nvSpPr>
          <p:cNvPr id="8" name="Diferencial Fábrica própria"/>
          <p:cNvSpPr/>
          <p:nvPr/>
        </p:nvSpPr>
        <p:spPr>
          <a:xfrm>
            <a:off x="3364992" y="1600200"/>
            <a:ext cx="2606040" cy="2011680"/>
          </a:xfrm>
          <a:prstGeom prst="roundRect">
            <a:avLst>
              <a:gd name="adj" fmla="val 5455"/>
            </a:avLst>
          </a:prstGeom>
          <a:solidFill>
            <a:schemeClr val="bg2"/>
          </a:solidFill>
          <a:ln/>
        </p:spPr>
      </p:sp>
      <p:sp>
        <p:nvSpPr>
          <p:cNvPr id="9" name="Fábrica própria círculo"/>
          <p:cNvSpPr/>
          <p:nvPr/>
        </p:nvSpPr>
        <p:spPr>
          <a:xfrm>
            <a:off x="3639312" y="1874520"/>
            <a:ext cx="640080" cy="640080"/>
          </a:xfrm>
          <a:prstGeom prst="ellipse">
            <a:avLst/>
          </a:prstGeom>
          <a:solidFill>
            <a:srgbClr val="E0218A"/>
          </a:solidFill>
          <a:ln/>
        </p:spPr>
      </p:sp>
      <p:pic>
        <p:nvPicPr>
          <p:cNvPr id="10" name="Fábrica própria ícone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99332" y="2034540"/>
            <a:ext cx="320040" cy="320040"/>
          </a:xfrm>
          <a:prstGeom prst="rect">
            <a:avLst/>
          </a:prstGeom>
        </p:spPr>
      </p:pic>
      <p:sp>
        <p:nvSpPr>
          <p:cNvPr id="11" name="Fábrica própria título"/>
          <p:cNvSpPr txBox="1"/>
          <p:nvPr/>
        </p:nvSpPr>
        <p:spPr>
          <a:xfrm>
            <a:off x="3639312" y="260604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Fábrica própria</a:t>
            </a:r>
            <a:endParaRPr lang="en-US" sz="1600" dirty="0"/>
          </a:p>
        </p:txBody>
      </p:sp>
      <p:sp>
        <p:nvSpPr>
          <p:cNvPr id="12" name="Fábrica própria texto"/>
          <p:cNvSpPr txBox="1"/>
          <p:nvPr/>
        </p:nvSpPr>
        <p:spPr>
          <a:xfrm>
            <a:off x="3639312" y="2971800"/>
            <a:ext cx="2148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Linha de produção no Brasil, em Goiânia</a:t>
            </a:r>
            <a:endParaRPr lang="en-US" sz="1400" dirty="0"/>
          </a:p>
        </p:txBody>
      </p:sp>
      <p:sp>
        <p:nvSpPr>
          <p:cNvPr id="13" name="Diferencial Venda ou locação"/>
          <p:cNvSpPr/>
          <p:nvPr/>
        </p:nvSpPr>
        <p:spPr>
          <a:xfrm>
            <a:off x="6181344" y="1600200"/>
            <a:ext cx="2606040" cy="2011680"/>
          </a:xfrm>
          <a:prstGeom prst="roundRect">
            <a:avLst>
              <a:gd name="adj" fmla="val 5455"/>
            </a:avLst>
          </a:prstGeom>
          <a:solidFill>
            <a:schemeClr val="bg2"/>
          </a:solidFill>
          <a:ln/>
        </p:spPr>
      </p:sp>
      <p:sp>
        <p:nvSpPr>
          <p:cNvPr id="14" name="Venda ou locação círculo"/>
          <p:cNvSpPr/>
          <p:nvPr/>
        </p:nvSpPr>
        <p:spPr>
          <a:xfrm>
            <a:off x="6455664" y="1874520"/>
            <a:ext cx="640080" cy="640080"/>
          </a:xfrm>
          <a:prstGeom prst="ellipse">
            <a:avLst/>
          </a:prstGeom>
          <a:solidFill>
            <a:srgbClr val="2B1A63"/>
          </a:solidFill>
          <a:ln/>
        </p:spPr>
      </p:sp>
      <p:pic>
        <p:nvPicPr>
          <p:cNvPr id="15" name="Venda ou locação ícone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15684" y="2034540"/>
            <a:ext cx="320040" cy="320040"/>
          </a:xfrm>
          <a:prstGeom prst="rect">
            <a:avLst/>
          </a:prstGeom>
        </p:spPr>
      </p:pic>
      <p:sp>
        <p:nvSpPr>
          <p:cNvPr id="16" name="Venda ou locação título"/>
          <p:cNvSpPr txBox="1"/>
          <p:nvPr/>
        </p:nvSpPr>
        <p:spPr>
          <a:xfrm>
            <a:off x="6455664" y="260604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Venda ou locação</a:t>
            </a:r>
            <a:endParaRPr lang="en-US" sz="1600" dirty="0"/>
          </a:p>
        </p:txBody>
      </p:sp>
      <p:sp>
        <p:nvSpPr>
          <p:cNvPr id="17" name="Venda ou locação texto"/>
          <p:cNvSpPr txBox="1"/>
          <p:nvPr/>
        </p:nvSpPr>
        <p:spPr>
          <a:xfrm>
            <a:off x="6455664" y="2971800"/>
            <a:ext cx="2148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O modelo comercial que cabe no seu negócio</a:t>
            </a:r>
            <a:endParaRPr lang="en-US" sz="1400" dirty="0"/>
          </a:p>
        </p:txBody>
      </p:sp>
      <p:sp>
        <p:nvSpPr>
          <p:cNvPr id="18" name="Diferencial Estoque próprio"/>
          <p:cNvSpPr/>
          <p:nvPr/>
        </p:nvSpPr>
        <p:spPr>
          <a:xfrm>
            <a:off x="8997696" y="1600200"/>
            <a:ext cx="2606040" cy="2011680"/>
          </a:xfrm>
          <a:prstGeom prst="roundRect">
            <a:avLst>
              <a:gd name="adj" fmla="val 5455"/>
            </a:avLst>
          </a:prstGeom>
          <a:solidFill>
            <a:schemeClr val="bg2"/>
          </a:solidFill>
          <a:ln/>
        </p:spPr>
      </p:sp>
      <p:sp>
        <p:nvSpPr>
          <p:cNvPr id="19" name="Estoque próprio círculo"/>
          <p:cNvSpPr/>
          <p:nvPr/>
        </p:nvSpPr>
        <p:spPr>
          <a:xfrm>
            <a:off x="9272016" y="1874520"/>
            <a:ext cx="640080" cy="640080"/>
          </a:xfrm>
          <a:prstGeom prst="ellipse">
            <a:avLst/>
          </a:prstGeom>
          <a:solidFill>
            <a:srgbClr val="E0218A"/>
          </a:solidFill>
          <a:ln/>
        </p:spPr>
      </p:sp>
      <p:pic>
        <p:nvPicPr>
          <p:cNvPr id="20" name="Estoque próprio ícone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32036" y="2034540"/>
            <a:ext cx="320040" cy="320040"/>
          </a:xfrm>
          <a:prstGeom prst="rect">
            <a:avLst/>
          </a:prstGeom>
        </p:spPr>
      </p:pic>
      <p:sp>
        <p:nvSpPr>
          <p:cNvPr id="21" name="Estoque próprio título"/>
          <p:cNvSpPr txBox="1"/>
          <p:nvPr/>
        </p:nvSpPr>
        <p:spPr>
          <a:xfrm>
            <a:off x="9272016" y="260604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Estoque próprio</a:t>
            </a:r>
            <a:endParaRPr lang="en-US" sz="1600" dirty="0"/>
          </a:p>
        </p:txBody>
      </p:sp>
      <p:sp>
        <p:nvSpPr>
          <p:cNvPr id="22" name="Estoque próprio texto"/>
          <p:cNvSpPr txBox="1"/>
          <p:nvPr/>
        </p:nvSpPr>
        <p:spPr>
          <a:xfrm>
            <a:off x="9272016" y="2971800"/>
            <a:ext cx="2148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Menos espera entre a assinatura e a tela acesa</a:t>
            </a:r>
            <a:endParaRPr lang="en-US" sz="1400" dirty="0"/>
          </a:p>
        </p:txBody>
      </p:sp>
      <p:sp>
        <p:nvSpPr>
          <p:cNvPr id="23" name="Diferencial Atendimento nacional"/>
          <p:cNvSpPr/>
          <p:nvPr/>
        </p:nvSpPr>
        <p:spPr>
          <a:xfrm>
            <a:off x="548640" y="3840480"/>
            <a:ext cx="2606040" cy="2011680"/>
          </a:xfrm>
          <a:prstGeom prst="roundRect">
            <a:avLst>
              <a:gd name="adj" fmla="val 5455"/>
            </a:avLst>
          </a:prstGeom>
          <a:solidFill>
            <a:schemeClr val="bg2"/>
          </a:solidFill>
          <a:ln/>
        </p:spPr>
      </p:sp>
      <p:sp>
        <p:nvSpPr>
          <p:cNvPr id="24" name="Atendimento nacional círculo"/>
          <p:cNvSpPr/>
          <p:nvPr/>
        </p:nvSpPr>
        <p:spPr>
          <a:xfrm>
            <a:off x="822960" y="4114800"/>
            <a:ext cx="640080" cy="640080"/>
          </a:xfrm>
          <a:prstGeom prst="ellipse">
            <a:avLst/>
          </a:prstGeom>
          <a:solidFill>
            <a:srgbClr val="2B1A63"/>
          </a:solidFill>
          <a:ln/>
        </p:spPr>
      </p:sp>
      <p:pic>
        <p:nvPicPr>
          <p:cNvPr id="25" name="Atendimento nacional ícone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82980" y="4274820"/>
            <a:ext cx="320040" cy="320040"/>
          </a:xfrm>
          <a:prstGeom prst="rect">
            <a:avLst/>
          </a:prstGeom>
        </p:spPr>
      </p:pic>
      <p:sp>
        <p:nvSpPr>
          <p:cNvPr id="26" name="Atendimento nacional título"/>
          <p:cNvSpPr txBox="1"/>
          <p:nvPr/>
        </p:nvSpPr>
        <p:spPr>
          <a:xfrm>
            <a:off x="822960" y="484632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Atendimento nacional</a:t>
            </a:r>
            <a:endParaRPr lang="en-US" sz="1600" dirty="0"/>
          </a:p>
        </p:txBody>
      </p:sp>
      <p:sp>
        <p:nvSpPr>
          <p:cNvPr id="27" name="Atendimento nacional texto"/>
          <p:cNvSpPr txBox="1"/>
          <p:nvPr/>
        </p:nvSpPr>
        <p:spPr>
          <a:xfrm>
            <a:off x="822960" y="5212080"/>
            <a:ext cx="2148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Goiânia, São Paulo, Brasília e Orlando (EUA)</a:t>
            </a:r>
            <a:endParaRPr lang="en-US" sz="1400" dirty="0"/>
          </a:p>
        </p:txBody>
      </p:sp>
      <p:sp>
        <p:nvSpPr>
          <p:cNvPr id="28" name="Diferencial Sob medida"/>
          <p:cNvSpPr/>
          <p:nvPr/>
        </p:nvSpPr>
        <p:spPr>
          <a:xfrm>
            <a:off x="3364992" y="3840480"/>
            <a:ext cx="2606040" cy="2011680"/>
          </a:xfrm>
          <a:prstGeom prst="roundRect">
            <a:avLst>
              <a:gd name="adj" fmla="val 5455"/>
            </a:avLst>
          </a:prstGeom>
          <a:solidFill>
            <a:schemeClr val="bg2"/>
          </a:solidFill>
          <a:ln/>
        </p:spPr>
      </p:sp>
      <p:sp>
        <p:nvSpPr>
          <p:cNvPr id="29" name="Sob medida círculo"/>
          <p:cNvSpPr/>
          <p:nvPr/>
        </p:nvSpPr>
        <p:spPr>
          <a:xfrm>
            <a:off x="3639312" y="4114800"/>
            <a:ext cx="640080" cy="640080"/>
          </a:xfrm>
          <a:prstGeom prst="ellipse">
            <a:avLst/>
          </a:prstGeom>
          <a:solidFill>
            <a:srgbClr val="E0218A"/>
          </a:solidFill>
          <a:ln/>
        </p:spPr>
      </p:sp>
      <p:pic>
        <p:nvPicPr>
          <p:cNvPr id="30" name="Sob medida ícone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799332" y="4274820"/>
            <a:ext cx="320040" cy="320040"/>
          </a:xfrm>
          <a:prstGeom prst="rect">
            <a:avLst/>
          </a:prstGeom>
        </p:spPr>
      </p:pic>
      <p:sp>
        <p:nvSpPr>
          <p:cNvPr id="31" name="Sob medida título"/>
          <p:cNvSpPr txBox="1"/>
          <p:nvPr/>
        </p:nvSpPr>
        <p:spPr>
          <a:xfrm>
            <a:off x="3639312" y="484632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Sob medida</a:t>
            </a:r>
            <a:endParaRPr lang="en-US" sz="1600" dirty="0"/>
          </a:p>
        </p:txBody>
      </p:sp>
      <p:sp>
        <p:nvSpPr>
          <p:cNvPr id="32" name="Sob medida texto"/>
          <p:cNvSpPr txBox="1"/>
          <p:nvPr/>
        </p:nvSpPr>
        <p:spPr>
          <a:xfrm>
            <a:off x="3639312" y="5212080"/>
            <a:ext cx="2148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Formato e resolução para o seu espaço</a:t>
            </a:r>
            <a:endParaRPr lang="en-US" sz="1400" dirty="0"/>
          </a:p>
        </p:txBody>
      </p:sp>
      <p:sp>
        <p:nvSpPr>
          <p:cNvPr id="33" name="Diferencial Software de gestão"/>
          <p:cNvSpPr/>
          <p:nvPr/>
        </p:nvSpPr>
        <p:spPr>
          <a:xfrm>
            <a:off x="6181344" y="3840480"/>
            <a:ext cx="2606040" cy="2011680"/>
          </a:xfrm>
          <a:prstGeom prst="roundRect">
            <a:avLst>
              <a:gd name="adj" fmla="val 5455"/>
            </a:avLst>
          </a:prstGeom>
          <a:solidFill>
            <a:schemeClr val="bg2"/>
          </a:solidFill>
          <a:ln/>
        </p:spPr>
      </p:sp>
      <p:sp>
        <p:nvSpPr>
          <p:cNvPr id="34" name="Software de gestão círculo"/>
          <p:cNvSpPr/>
          <p:nvPr/>
        </p:nvSpPr>
        <p:spPr>
          <a:xfrm>
            <a:off x="6455664" y="4114800"/>
            <a:ext cx="640080" cy="640080"/>
          </a:xfrm>
          <a:prstGeom prst="ellipse">
            <a:avLst/>
          </a:prstGeom>
          <a:solidFill>
            <a:srgbClr val="2B1A63"/>
          </a:solidFill>
          <a:ln/>
        </p:spPr>
      </p:sp>
      <p:pic>
        <p:nvPicPr>
          <p:cNvPr id="35" name="Software de gestão ícone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615684" y="4274820"/>
            <a:ext cx="320040" cy="320040"/>
          </a:xfrm>
          <a:prstGeom prst="rect">
            <a:avLst/>
          </a:prstGeom>
        </p:spPr>
      </p:pic>
      <p:sp>
        <p:nvSpPr>
          <p:cNvPr id="36" name="Software de gestão título"/>
          <p:cNvSpPr txBox="1"/>
          <p:nvPr/>
        </p:nvSpPr>
        <p:spPr>
          <a:xfrm>
            <a:off x="6455664" y="484632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Software de gestão</a:t>
            </a:r>
            <a:endParaRPr lang="en-US" sz="1600" dirty="0"/>
          </a:p>
        </p:txBody>
      </p:sp>
      <p:sp>
        <p:nvSpPr>
          <p:cNvPr id="37" name="Software de gestão texto"/>
          <p:cNvSpPr txBox="1"/>
          <p:nvPr/>
        </p:nvSpPr>
        <p:spPr>
          <a:xfrm>
            <a:off x="6455664" y="5212080"/>
            <a:ext cx="2148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Conteúdo e venda programática de mídia</a:t>
            </a:r>
            <a:endParaRPr lang="en-US" sz="1400" dirty="0"/>
          </a:p>
        </p:txBody>
      </p:sp>
      <p:sp>
        <p:nvSpPr>
          <p:cNvPr id="38" name="Diferencial Garantia e suporte"/>
          <p:cNvSpPr/>
          <p:nvPr/>
        </p:nvSpPr>
        <p:spPr>
          <a:xfrm>
            <a:off x="8997696" y="3840480"/>
            <a:ext cx="2606040" cy="2011680"/>
          </a:xfrm>
          <a:prstGeom prst="roundRect">
            <a:avLst>
              <a:gd name="adj" fmla="val 5455"/>
            </a:avLst>
          </a:prstGeom>
          <a:solidFill>
            <a:schemeClr val="bg2"/>
          </a:solidFill>
          <a:ln/>
        </p:spPr>
      </p:sp>
      <p:sp>
        <p:nvSpPr>
          <p:cNvPr id="39" name="Garantia e suporte círculo"/>
          <p:cNvSpPr/>
          <p:nvPr/>
        </p:nvSpPr>
        <p:spPr>
          <a:xfrm>
            <a:off x="9272016" y="4114800"/>
            <a:ext cx="640080" cy="640080"/>
          </a:xfrm>
          <a:prstGeom prst="ellipse">
            <a:avLst/>
          </a:prstGeom>
          <a:solidFill>
            <a:srgbClr val="E0218A"/>
          </a:solidFill>
          <a:ln/>
        </p:spPr>
      </p:sp>
      <p:pic>
        <p:nvPicPr>
          <p:cNvPr id="40" name="Garantia e suporte ícone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432036" y="4274820"/>
            <a:ext cx="320040" cy="320040"/>
          </a:xfrm>
          <a:prstGeom prst="rect">
            <a:avLst/>
          </a:prstGeom>
        </p:spPr>
      </p:pic>
      <p:sp>
        <p:nvSpPr>
          <p:cNvPr id="41" name="Garantia e suporte título"/>
          <p:cNvSpPr txBox="1"/>
          <p:nvPr/>
        </p:nvSpPr>
        <p:spPr>
          <a:xfrm>
            <a:off x="9272016" y="484632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Garantia e suporte</a:t>
            </a:r>
            <a:endParaRPr lang="en-US" sz="1600" dirty="0"/>
          </a:p>
        </p:txBody>
      </p:sp>
      <p:sp>
        <p:nvSpPr>
          <p:cNvPr id="42" name="Garantia e suporte texto"/>
          <p:cNvSpPr txBox="1"/>
          <p:nvPr/>
        </p:nvSpPr>
        <p:spPr>
          <a:xfrm>
            <a:off x="9272016" y="5212080"/>
            <a:ext cx="2148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Equipe técnica própria para a tela não apagar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38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Quem confia na LedWave</a:t>
            </a:r>
            <a:endParaRPr lang="en-US" sz="3200" dirty="0"/>
          </a:p>
        </p:txBody>
      </p:sp>
      <p:sp>
        <p:nvSpPr>
          <p:cNvPr id="3" name="Marca Nordestão"/>
          <p:cNvSpPr/>
          <p:nvPr/>
        </p:nvSpPr>
        <p:spPr>
          <a:xfrm>
            <a:off x="548640" y="1554480"/>
            <a:ext cx="3474720" cy="868680"/>
          </a:xfrm>
          <a:prstGeom prst="roundRect">
            <a:avLst>
              <a:gd name="adj" fmla="val 12632"/>
            </a:avLst>
          </a:prstGeom>
          <a:solidFill>
            <a:schemeClr val="bg2"/>
          </a:solidFill>
          <a:ln/>
        </p:spPr>
      </p:sp>
      <p:sp>
        <p:nvSpPr>
          <p:cNvPr id="4" name="Marca nome 1"/>
          <p:cNvSpPr txBox="1"/>
          <p:nvPr/>
        </p:nvSpPr>
        <p:spPr>
          <a:xfrm>
            <a:off x="548640" y="1554480"/>
            <a:ext cx="3474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Nordestão</a:t>
            </a:r>
            <a:endParaRPr lang="en-US" sz="2200" dirty="0"/>
          </a:p>
        </p:txBody>
      </p:sp>
      <p:sp>
        <p:nvSpPr>
          <p:cNvPr id="5" name="Marca Rosewood"/>
          <p:cNvSpPr/>
          <p:nvPr/>
        </p:nvSpPr>
        <p:spPr>
          <a:xfrm>
            <a:off x="4297680" y="1554480"/>
            <a:ext cx="3474720" cy="868680"/>
          </a:xfrm>
          <a:prstGeom prst="roundRect">
            <a:avLst>
              <a:gd name="adj" fmla="val 12632"/>
            </a:avLst>
          </a:prstGeom>
          <a:solidFill>
            <a:schemeClr val="bg2"/>
          </a:solidFill>
          <a:ln/>
        </p:spPr>
      </p:sp>
      <p:sp>
        <p:nvSpPr>
          <p:cNvPr id="6" name="Marca nome 2"/>
          <p:cNvSpPr txBox="1"/>
          <p:nvPr/>
        </p:nvSpPr>
        <p:spPr>
          <a:xfrm>
            <a:off x="4297680" y="1554480"/>
            <a:ext cx="3474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Rosewood</a:t>
            </a:r>
            <a:endParaRPr lang="en-US" sz="2200" dirty="0"/>
          </a:p>
        </p:txBody>
      </p:sp>
      <p:sp>
        <p:nvSpPr>
          <p:cNvPr id="7" name="Marca Beto Carrero World"/>
          <p:cNvSpPr/>
          <p:nvPr/>
        </p:nvSpPr>
        <p:spPr>
          <a:xfrm>
            <a:off x="8046720" y="1554480"/>
            <a:ext cx="3474720" cy="868680"/>
          </a:xfrm>
          <a:prstGeom prst="roundRect">
            <a:avLst>
              <a:gd name="adj" fmla="val 12632"/>
            </a:avLst>
          </a:prstGeom>
          <a:solidFill>
            <a:schemeClr val="bg2"/>
          </a:solidFill>
          <a:ln/>
        </p:spPr>
      </p:sp>
      <p:sp>
        <p:nvSpPr>
          <p:cNvPr id="8" name="Marca nome 3"/>
          <p:cNvSpPr txBox="1"/>
          <p:nvPr/>
        </p:nvSpPr>
        <p:spPr>
          <a:xfrm>
            <a:off x="8046720" y="1554480"/>
            <a:ext cx="3474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Beto Carrero World</a:t>
            </a:r>
            <a:endParaRPr lang="en-US" sz="2200" dirty="0"/>
          </a:p>
        </p:txBody>
      </p:sp>
      <p:sp>
        <p:nvSpPr>
          <p:cNvPr id="9" name="Marca Museu do Amanhã"/>
          <p:cNvSpPr/>
          <p:nvPr/>
        </p:nvSpPr>
        <p:spPr>
          <a:xfrm>
            <a:off x="548640" y="2606040"/>
            <a:ext cx="3474720" cy="868680"/>
          </a:xfrm>
          <a:prstGeom prst="roundRect">
            <a:avLst>
              <a:gd name="adj" fmla="val 12632"/>
            </a:avLst>
          </a:prstGeom>
          <a:solidFill>
            <a:schemeClr val="bg2"/>
          </a:solidFill>
          <a:ln/>
        </p:spPr>
      </p:sp>
      <p:sp>
        <p:nvSpPr>
          <p:cNvPr id="10" name="Marca nome 4"/>
          <p:cNvSpPr txBox="1"/>
          <p:nvPr/>
        </p:nvSpPr>
        <p:spPr>
          <a:xfrm>
            <a:off x="548640" y="2606040"/>
            <a:ext cx="3474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Museu do Amanhã</a:t>
            </a:r>
            <a:endParaRPr lang="en-US" sz="2200" dirty="0"/>
          </a:p>
        </p:txBody>
      </p:sp>
      <p:sp>
        <p:nvSpPr>
          <p:cNvPr id="11" name="Marca Animalia"/>
          <p:cNvSpPr/>
          <p:nvPr/>
        </p:nvSpPr>
        <p:spPr>
          <a:xfrm>
            <a:off x="4297680" y="2606040"/>
            <a:ext cx="3474720" cy="868680"/>
          </a:xfrm>
          <a:prstGeom prst="roundRect">
            <a:avLst>
              <a:gd name="adj" fmla="val 12632"/>
            </a:avLst>
          </a:prstGeom>
          <a:solidFill>
            <a:schemeClr val="bg2"/>
          </a:solidFill>
          <a:ln/>
        </p:spPr>
      </p:sp>
      <p:sp>
        <p:nvSpPr>
          <p:cNvPr id="12" name="Marca nome 5"/>
          <p:cNvSpPr txBox="1"/>
          <p:nvPr/>
        </p:nvSpPr>
        <p:spPr>
          <a:xfrm>
            <a:off x="4297680" y="2606040"/>
            <a:ext cx="3474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Animalia</a:t>
            </a:r>
            <a:endParaRPr lang="en-US" sz="2200" dirty="0"/>
          </a:p>
        </p:txBody>
      </p:sp>
      <p:sp>
        <p:nvSpPr>
          <p:cNvPr id="13" name="Marca Volkswagen"/>
          <p:cNvSpPr/>
          <p:nvPr/>
        </p:nvSpPr>
        <p:spPr>
          <a:xfrm>
            <a:off x="8046720" y="2606040"/>
            <a:ext cx="3474720" cy="868680"/>
          </a:xfrm>
          <a:prstGeom prst="roundRect">
            <a:avLst>
              <a:gd name="adj" fmla="val 12632"/>
            </a:avLst>
          </a:prstGeom>
          <a:solidFill>
            <a:schemeClr val="bg2"/>
          </a:solidFill>
          <a:ln/>
        </p:spPr>
      </p:sp>
      <p:sp>
        <p:nvSpPr>
          <p:cNvPr id="14" name="Marca nome 6"/>
          <p:cNvSpPr txBox="1"/>
          <p:nvPr/>
        </p:nvSpPr>
        <p:spPr>
          <a:xfrm>
            <a:off x="8046720" y="2606040"/>
            <a:ext cx="3474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Volkswagen</a:t>
            </a:r>
            <a:endParaRPr lang="en-US" sz="2200" dirty="0"/>
          </a:p>
        </p:txBody>
      </p:sp>
      <p:sp>
        <p:nvSpPr>
          <p:cNvPr id="15" name="Ranking Exame círculo"/>
          <p:cNvSpPr/>
          <p:nvPr/>
        </p:nvSpPr>
        <p:spPr>
          <a:xfrm>
            <a:off x="548640" y="4069080"/>
            <a:ext cx="777240" cy="777240"/>
          </a:xfrm>
          <a:prstGeom prst="ellipse">
            <a:avLst/>
          </a:prstGeom>
          <a:solidFill>
            <a:srgbClr val="2B1A63"/>
          </a:solidFill>
          <a:ln/>
        </p:spPr>
      </p:sp>
      <p:pic>
        <p:nvPicPr>
          <p:cNvPr id="16" name="Ranking Exame ícon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2950" y="4263390"/>
            <a:ext cx="388620" cy="388620"/>
          </a:xfrm>
          <a:prstGeom prst="rect">
            <a:avLst/>
          </a:prstGeom>
        </p:spPr>
      </p:pic>
      <p:sp>
        <p:nvSpPr>
          <p:cNvPr id="17" name="Ranking Exame título"/>
          <p:cNvSpPr txBox="1"/>
          <p:nvPr/>
        </p:nvSpPr>
        <p:spPr>
          <a:xfrm>
            <a:off x="1508760" y="4069080"/>
            <a:ext cx="2514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Ranking Exame</a:t>
            </a:r>
            <a:endParaRPr lang="en-US" sz="1700" dirty="0"/>
          </a:p>
        </p:txBody>
      </p:sp>
      <p:sp>
        <p:nvSpPr>
          <p:cNvPr id="18" name="Ranking Exame texto"/>
          <p:cNvSpPr txBox="1"/>
          <p:nvPr/>
        </p:nvSpPr>
        <p:spPr>
          <a:xfrm>
            <a:off x="1508760" y="4526280"/>
            <a:ext cx="2514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4 anos seguidos, nº 1 do segmento em 2025</a:t>
            </a:r>
            <a:endParaRPr lang="en-US" sz="1400" dirty="0"/>
          </a:p>
        </p:txBody>
      </p:sp>
      <p:sp>
        <p:nvSpPr>
          <p:cNvPr id="19" name="ABF Expo círculo"/>
          <p:cNvSpPr/>
          <p:nvPr/>
        </p:nvSpPr>
        <p:spPr>
          <a:xfrm>
            <a:off x="4297680" y="4069080"/>
            <a:ext cx="777240" cy="777240"/>
          </a:xfrm>
          <a:prstGeom prst="ellipse">
            <a:avLst/>
          </a:prstGeom>
          <a:solidFill>
            <a:srgbClr val="2B1A63"/>
          </a:solidFill>
          <a:ln/>
        </p:spPr>
      </p:sp>
      <p:pic>
        <p:nvPicPr>
          <p:cNvPr id="20" name="ABF Expo ícone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91990" y="4263390"/>
            <a:ext cx="388620" cy="388620"/>
          </a:xfrm>
          <a:prstGeom prst="rect">
            <a:avLst/>
          </a:prstGeom>
        </p:spPr>
      </p:pic>
      <p:sp>
        <p:nvSpPr>
          <p:cNvPr id="21" name="ABF Expo título"/>
          <p:cNvSpPr txBox="1"/>
          <p:nvPr/>
        </p:nvSpPr>
        <p:spPr>
          <a:xfrm>
            <a:off x="5257800" y="4069080"/>
            <a:ext cx="2514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ABF Expo</a:t>
            </a:r>
            <a:endParaRPr lang="en-US" sz="1700" dirty="0"/>
          </a:p>
        </p:txBody>
      </p:sp>
      <p:sp>
        <p:nvSpPr>
          <p:cNvPr id="22" name="ABF Expo texto"/>
          <p:cNvSpPr txBox="1"/>
          <p:nvPr/>
        </p:nvSpPr>
        <p:spPr>
          <a:xfrm>
            <a:off x="5257800" y="4526280"/>
            <a:ext cx="2514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Parceira oficial da maior feira de franquias do país</a:t>
            </a:r>
            <a:endParaRPr lang="en-US" sz="1400" dirty="0"/>
          </a:p>
        </p:txBody>
      </p:sp>
      <p:sp>
        <p:nvSpPr>
          <p:cNvPr id="23" name="NRF 2026, Nova York círculo"/>
          <p:cNvSpPr/>
          <p:nvPr/>
        </p:nvSpPr>
        <p:spPr>
          <a:xfrm>
            <a:off x="8046720" y="4069080"/>
            <a:ext cx="777240" cy="777240"/>
          </a:xfrm>
          <a:prstGeom prst="ellipse">
            <a:avLst/>
          </a:prstGeom>
          <a:solidFill>
            <a:srgbClr val="2B1A63"/>
          </a:solidFill>
          <a:ln/>
        </p:spPr>
      </p:sp>
      <p:pic>
        <p:nvPicPr>
          <p:cNvPr id="24" name="NRF 2026, Nova York ícone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41030" y="4263390"/>
            <a:ext cx="388620" cy="388620"/>
          </a:xfrm>
          <a:prstGeom prst="rect">
            <a:avLst/>
          </a:prstGeom>
        </p:spPr>
      </p:pic>
      <p:sp>
        <p:nvSpPr>
          <p:cNvPr id="25" name="NRF 2026, Nova York título"/>
          <p:cNvSpPr txBox="1"/>
          <p:nvPr/>
        </p:nvSpPr>
        <p:spPr>
          <a:xfrm>
            <a:off x="9006840" y="4069080"/>
            <a:ext cx="2514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NRF 2026, Nova York</a:t>
            </a:r>
            <a:endParaRPr lang="en-US" sz="1700" dirty="0"/>
          </a:p>
        </p:txBody>
      </p:sp>
      <p:sp>
        <p:nvSpPr>
          <p:cNvPr id="26" name="NRF 2026, Nova York texto"/>
          <p:cNvSpPr txBox="1"/>
          <p:nvPr/>
        </p:nvSpPr>
        <p:spPr>
          <a:xfrm>
            <a:off x="9006840" y="4526280"/>
            <a:ext cx="2514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Estande próprio na maior feira de varejo do mundo</a:t>
            </a:r>
            <a:endParaRPr lang="en-US" sz="1400" dirty="0"/>
          </a:p>
        </p:txBody>
      </p:sp>
      <p:sp>
        <p:nvSpPr>
          <p:cNvPr id="27" name="Instrução logos"/>
          <p:cNvSpPr txBox="1"/>
          <p:nvPr/>
        </p:nvSpPr>
        <p:spPr>
          <a:xfrm>
            <a:off x="548640" y="57150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6B6385"/>
                </a:solidFill>
              </a:rPr>
              <a:t>Troque os nomes pelos logos oficiais dos clientes antes de enviar o arquivo.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38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822960" y="137160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Por que digitalizar o seu espaço</a:t>
            </a:r>
            <a:endParaRPr lang="en-US" sz="1800" dirty="0"/>
          </a:p>
        </p:txBody>
      </p:sp>
      <p:sp>
        <p:nvSpPr>
          <p:cNvPr id="3" name="Text 1"/>
          <p:cNvSpPr/>
          <p:nvPr>
            <p:ph idx="102" type="body" hasCustomPrompt="1"/>
          </p:nvPr>
        </p:nvSpPr>
        <p:spPr>
          <a:xfrm>
            <a:off x="822960" y="2011680"/>
            <a:ext cx="822960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bg1"/>
                </a:solidFill>
              </a:rPr>
              <a:t>Construir um ativo de mídia que gera receita recorrente por anos, com um fabricante que sabe operar mídia porque também opera.</a:t>
            </a:r>
            <a:endParaRPr lang="en-US" sz="3200" dirty="0"/>
          </a:p>
        </p:txBody>
      </p:sp>
      <p:sp>
        <p:nvSpPr>
          <p:cNvPr id="4" name="Propósito círculo"/>
          <p:cNvSpPr/>
          <p:nvPr/>
        </p:nvSpPr>
        <p:spPr>
          <a:xfrm>
            <a:off x="9692640" y="2103120"/>
            <a:ext cx="1737360" cy="1737360"/>
          </a:xfrm>
          <a:prstGeom prst="ellipse">
            <a:avLst/>
          </a:prstGeom>
          <a:solidFill>
            <a:srgbClr val="E0218A"/>
          </a:solidFill>
          <a:ln/>
        </p:spPr>
      </p:sp>
      <p:pic>
        <p:nvPicPr>
          <p:cNvPr id="5" name="Propósito ícon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26980" y="2537460"/>
            <a:ext cx="868680" cy="868680"/>
          </a:xfrm>
          <a:prstGeom prst="rect">
            <a:avLst/>
          </a:prstGeom>
        </p:spPr>
      </p:pic>
      <p:sp>
        <p:nvSpPr>
          <p:cNvPr id="6" name="Propósito de compra 1"/>
          <p:cNvSpPr/>
          <p:nvPr/>
        </p:nvSpPr>
        <p:spPr>
          <a:xfrm>
            <a:off x="822960" y="5486400"/>
            <a:ext cx="2468880" cy="502920"/>
          </a:xfrm>
          <a:prstGeom prst="roundRect">
            <a:avLst>
              <a:gd name="adj" fmla="val 49091"/>
            </a:avLst>
          </a:prstGeom>
          <a:solidFill>
            <a:schemeClr val="tx1"/>
          </a:solidFill>
          <a:ln w="19050">
            <a:solidFill>
              <a:srgbClr val="E0218A"/>
            </a:solidFill>
            <a:prstDash val="solid"/>
          </a:ln>
        </p:spPr>
      </p:sp>
      <p:sp>
        <p:nvSpPr>
          <p:cNvPr id="7" name="Propósito de compra texto 1"/>
          <p:cNvSpPr txBox="1"/>
          <p:nvPr/>
        </p:nvSpPr>
        <p:spPr>
          <a:xfrm>
            <a:off x="822960" y="5486400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Mídia</a:t>
            </a:r>
            <a:endParaRPr lang="en-US" sz="1400" dirty="0"/>
          </a:p>
        </p:txBody>
      </p:sp>
      <p:sp>
        <p:nvSpPr>
          <p:cNvPr id="8" name="Propósito de compra 2"/>
          <p:cNvSpPr/>
          <p:nvPr/>
        </p:nvSpPr>
        <p:spPr>
          <a:xfrm>
            <a:off x="3474720" y="5486400"/>
            <a:ext cx="2468880" cy="502920"/>
          </a:xfrm>
          <a:prstGeom prst="roundRect">
            <a:avLst>
              <a:gd name="adj" fmla="val 49091"/>
            </a:avLst>
          </a:prstGeom>
          <a:solidFill>
            <a:schemeClr val="tx1"/>
          </a:solidFill>
          <a:ln w="19050">
            <a:solidFill>
              <a:srgbClr val="E0218A"/>
            </a:solidFill>
            <a:prstDash val="solid"/>
          </a:ln>
        </p:spPr>
      </p:sp>
      <p:sp>
        <p:nvSpPr>
          <p:cNvPr id="9" name="Propósito de compra texto 2"/>
          <p:cNvSpPr txBox="1"/>
          <p:nvPr/>
        </p:nvSpPr>
        <p:spPr>
          <a:xfrm>
            <a:off x="3474720" y="5486400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Status</a:t>
            </a:r>
            <a:endParaRPr lang="en-US" sz="1400" dirty="0"/>
          </a:p>
        </p:txBody>
      </p:sp>
      <p:sp>
        <p:nvSpPr>
          <p:cNvPr id="10" name="Propósito de compra 3"/>
          <p:cNvSpPr/>
          <p:nvPr/>
        </p:nvSpPr>
        <p:spPr>
          <a:xfrm>
            <a:off x="6126480" y="5486400"/>
            <a:ext cx="2468880" cy="502920"/>
          </a:xfrm>
          <a:prstGeom prst="roundRect">
            <a:avLst>
              <a:gd name="adj" fmla="val 49091"/>
            </a:avLst>
          </a:prstGeom>
          <a:solidFill>
            <a:schemeClr val="tx1"/>
          </a:solidFill>
          <a:ln w="19050">
            <a:solidFill>
              <a:srgbClr val="E0218A"/>
            </a:solidFill>
            <a:prstDash val="solid"/>
          </a:ln>
        </p:spPr>
      </p:sp>
      <p:sp>
        <p:nvSpPr>
          <p:cNvPr id="11" name="Propósito de compra texto 3"/>
          <p:cNvSpPr txBox="1"/>
          <p:nvPr/>
        </p:nvSpPr>
        <p:spPr>
          <a:xfrm>
            <a:off x="6126480" y="5486400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Retrofit / arquitetura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Imagine o seu espaço</a:t>
            </a:r>
            <a:endParaRPr lang="en-US" sz="3200" dirty="0"/>
          </a:p>
        </p:txBody>
      </p:sp>
      <p:sp>
        <p:nvSpPr>
          <p:cNvPr id="3" name="História"/>
          <p:cNvSpPr txBox="1"/>
          <p:nvPr/>
        </p:nvSpPr>
        <p:spPr>
          <a:xfrm>
            <a:off x="548640" y="1691640"/>
            <a:ext cx="49377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Boulevard.Live, em Brasília: 1.125 m², o maior painel de LED da América Latina, pensado no ponto de maior fluxo de pessoas e veículos da cidade. A LedWave não só vende painel; ela sabe o que faz um painel faturar.</a:t>
            </a:r>
            <a:endParaRPr lang="en-US" sz="1800" dirty="0"/>
          </a:p>
        </p:txBody>
      </p:sp>
      <p:sp>
        <p:nvSpPr>
          <p:cNvPr id="4" name="Frase de efeito"/>
          <p:cNvSpPr txBox="1"/>
          <p:nvPr/>
        </p:nvSpPr>
        <p:spPr>
          <a:xfrm>
            <a:off x="548640" y="5029200"/>
            <a:ext cx="4937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i="1" dirty="0">
                <a:solidFill>
                  <a:schemeClr val="accent1"/>
                </a:solidFill>
              </a:rPr>
              <a:t>Painel apagado é aluguel perdido. Escolha quem mantém sua tela no ar.</a:t>
            </a:r>
            <a:endParaRPr lang="en-US" sz="2000" dirty="0"/>
          </a:p>
        </p:txBody>
      </p:sp>
      <p:sp>
        <p:nvSpPr>
          <p:cNvPr id="5" name="Área da simulação"/>
          <p:cNvSpPr/>
          <p:nvPr/>
        </p:nvSpPr>
        <p:spPr>
          <a:xfrm>
            <a:off x="5943600" y="1600200"/>
            <a:ext cx="5669280" cy="4343400"/>
          </a:xfrm>
          <a:prstGeom prst="roundRect">
            <a:avLst>
              <a:gd name="adj" fmla="val 2526"/>
            </a:avLst>
          </a:prstGeom>
          <a:solidFill>
            <a:schemeClr val="bg2"/>
          </a:solidFill>
          <a:ln w="19050">
            <a:solidFill>
              <a:srgbClr val="8B5CF6"/>
            </a:solidFill>
            <a:prstDash val="dash"/>
          </a:ln>
        </p:spPr>
      </p:sp>
      <p:sp>
        <p:nvSpPr>
          <p:cNvPr id="6" name="Simulação círculo"/>
          <p:cNvSpPr/>
          <p:nvPr/>
        </p:nvSpPr>
        <p:spPr>
          <a:xfrm>
            <a:off x="8366760" y="2743200"/>
            <a:ext cx="822960" cy="822960"/>
          </a:xfrm>
          <a:prstGeom prst="ellipse">
            <a:avLst/>
          </a:prstGeom>
          <a:solidFill>
            <a:srgbClr val="8B5CF6"/>
          </a:solidFill>
          <a:ln/>
        </p:spPr>
      </p:sp>
      <p:pic>
        <p:nvPicPr>
          <p:cNvPr id="7" name="Simulação ícon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72500" y="2948940"/>
            <a:ext cx="411480" cy="411480"/>
          </a:xfrm>
          <a:prstGeom prst="rect">
            <a:avLst/>
          </a:prstGeom>
        </p:spPr>
      </p:pic>
      <p:sp>
        <p:nvSpPr>
          <p:cNvPr id="8" name="Instrução simulação"/>
          <p:cNvSpPr txBox="1"/>
          <p:nvPr/>
        </p:nvSpPr>
        <p:spPr>
          <a:xfrm>
            <a:off x="6217920" y="3749040"/>
            <a:ext cx="5120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Simulação do painel no espaço do cliente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(insira aqui o mockup antes da reunião)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38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Três ganhos para o seu negócio</a:t>
            </a:r>
            <a:endParaRPr lang="en-US" sz="3200" dirty="0"/>
          </a:p>
        </p:txBody>
      </p:sp>
      <p:sp>
        <p:nvSpPr>
          <p:cNvPr id="3" name="Ganho Mais receita"/>
          <p:cNvSpPr/>
          <p:nvPr/>
        </p:nvSpPr>
        <p:spPr>
          <a:xfrm>
            <a:off x="548640" y="1600200"/>
            <a:ext cx="3474720" cy="4389120"/>
          </a:xfrm>
          <a:prstGeom prst="roundRect">
            <a:avLst>
              <a:gd name="adj" fmla="val 3158"/>
            </a:avLst>
          </a:prstGeom>
          <a:solidFill>
            <a:schemeClr val="bg2"/>
          </a:solidFill>
          <a:ln/>
        </p:spPr>
      </p:sp>
      <p:sp>
        <p:nvSpPr>
          <p:cNvPr id="4" name="Mais receita círculo"/>
          <p:cNvSpPr/>
          <p:nvPr/>
        </p:nvSpPr>
        <p:spPr>
          <a:xfrm>
            <a:off x="868680" y="1920240"/>
            <a:ext cx="868680" cy="868680"/>
          </a:xfrm>
          <a:prstGeom prst="ellipse">
            <a:avLst/>
          </a:prstGeom>
          <a:solidFill>
            <a:srgbClr val="E0218A"/>
          </a:solidFill>
          <a:ln/>
        </p:spPr>
      </p:sp>
      <p:pic>
        <p:nvPicPr>
          <p:cNvPr id="5" name="Mais receita ícon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5850" y="2137410"/>
            <a:ext cx="434340" cy="434340"/>
          </a:xfrm>
          <a:prstGeom prst="rect">
            <a:avLst/>
          </a:prstGeom>
        </p:spPr>
      </p:pic>
      <p:sp>
        <p:nvSpPr>
          <p:cNvPr id="6" name="Mais receita título"/>
          <p:cNvSpPr txBox="1"/>
          <p:nvPr/>
        </p:nvSpPr>
        <p:spPr>
          <a:xfrm>
            <a:off x="868680" y="297180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tx1"/>
                </a:solidFill>
              </a:rPr>
              <a:t>Mais receita</a:t>
            </a:r>
            <a:endParaRPr lang="en-US" sz="2100" dirty="0"/>
          </a:p>
        </p:txBody>
      </p:sp>
      <p:sp>
        <p:nvSpPr>
          <p:cNvPr id="7" name="Mais receita texto"/>
          <p:cNvSpPr txBox="1"/>
          <p:nvPr/>
        </p:nvSpPr>
        <p:spPr>
          <a:xfrm>
            <a:off x="868680" y="3520440"/>
            <a:ext cx="283464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Receita recorrente por inserção, programática e anunciante local; o DOOH já soma R$ 4,4 bi no Brasil (IAB Brasil/Kantar, 2025).</a:t>
            </a:r>
            <a:endParaRPr lang="en-US" sz="1500" dirty="0"/>
          </a:p>
        </p:txBody>
      </p:sp>
      <p:sp>
        <p:nvSpPr>
          <p:cNvPr id="8" name="Ganho Mais experiência"/>
          <p:cNvSpPr/>
          <p:nvPr/>
        </p:nvSpPr>
        <p:spPr>
          <a:xfrm>
            <a:off x="4297680" y="1600200"/>
            <a:ext cx="3474720" cy="4389120"/>
          </a:xfrm>
          <a:prstGeom prst="roundRect">
            <a:avLst>
              <a:gd name="adj" fmla="val 3158"/>
            </a:avLst>
          </a:prstGeom>
          <a:solidFill>
            <a:schemeClr val="bg2"/>
          </a:solidFill>
          <a:ln/>
        </p:spPr>
      </p:sp>
      <p:sp>
        <p:nvSpPr>
          <p:cNvPr id="9" name="Mais experiência círculo"/>
          <p:cNvSpPr/>
          <p:nvPr/>
        </p:nvSpPr>
        <p:spPr>
          <a:xfrm>
            <a:off x="4617720" y="1920240"/>
            <a:ext cx="868680" cy="868680"/>
          </a:xfrm>
          <a:prstGeom prst="ellipse">
            <a:avLst/>
          </a:prstGeom>
          <a:solidFill>
            <a:srgbClr val="4F6BFF"/>
          </a:solidFill>
          <a:ln/>
        </p:spPr>
      </p:sp>
      <p:pic>
        <p:nvPicPr>
          <p:cNvPr id="10" name="Mais experiência ícone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34890" y="2137410"/>
            <a:ext cx="434340" cy="434340"/>
          </a:xfrm>
          <a:prstGeom prst="rect">
            <a:avLst/>
          </a:prstGeom>
        </p:spPr>
      </p:pic>
      <p:sp>
        <p:nvSpPr>
          <p:cNvPr id="11" name="Mais experiência título"/>
          <p:cNvSpPr txBox="1"/>
          <p:nvPr/>
        </p:nvSpPr>
        <p:spPr>
          <a:xfrm>
            <a:off x="4617720" y="297180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tx1"/>
                </a:solidFill>
              </a:rPr>
              <a:t>Mais experiência</a:t>
            </a:r>
            <a:endParaRPr lang="en-US" sz="2100" dirty="0"/>
          </a:p>
        </p:txBody>
      </p:sp>
      <p:sp>
        <p:nvSpPr>
          <p:cNvPr id="12" name="Mais experiência texto"/>
          <p:cNvSpPr txBox="1"/>
          <p:nvPr/>
        </p:nvSpPr>
        <p:spPr>
          <a:xfrm>
            <a:off x="4617720" y="3520440"/>
            <a:ext cx="283464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Ponto icônico vira referência da cidade e atrai anunciantes premium.</a:t>
            </a:r>
            <a:endParaRPr lang="en-US" sz="1500" dirty="0"/>
          </a:p>
        </p:txBody>
      </p:sp>
      <p:sp>
        <p:nvSpPr>
          <p:cNvPr id="13" name="Ganho Menos custo"/>
          <p:cNvSpPr/>
          <p:nvPr/>
        </p:nvSpPr>
        <p:spPr>
          <a:xfrm>
            <a:off x="8046720" y="1600200"/>
            <a:ext cx="3474720" cy="4389120"/>
          </a:xfrm>
          <a:prstGeom prst="roundRect">
            <a:avLst>
              <a:gd name="adj" fmla="val 3158"/>
            </a:avLst>
          </a:prstGeom>
          <a:solidFill>
            <a:schemeClr val="bg2"/>
          </a:solidFill>
          <a:ln/>
        </p:spPr>
      </p:sp>
      <p:sp>
        <p:nvSpPr>
          <p:cNvPr id="14" name="Menos custo círculo"/>
          <p:cNvSpPr/>
          <p:nvPr/>
        </p:nvSpPr>
        <p:spPr>
          <a:xfrm>
            <a:off x="8366760" y="1920240"/>
            <a:ext cx="868680" cy="868680"/>
          </a:xfrm>
          <a:prstGeom prst="ellipse">
            <a:avLst/>
          </a:prstGeom>
          <a:solidFill>
            <a:srgbClr val="8B5CF6"/>
          </a:solidFill>
          <a:ln/>
        </p:spPr>
      </p:sp>
      <p:pic>
        <p:nvPicPr>
          <p:cNvPr id="15" name="Menos custo ícone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83930" y="2137410"/>
            <a:ext cx="434340" cy="434340"/>
          </a:xfrm>
          <a:prstGeom prst="rect">
            <a:avLst/>
          </a:prstGeom>
        </p:spPr>
      </p:pic>
      <p:sp>
        <p:nvSpPr>
          <p:cNvPr id="16" name="Menos custo título"/>
          <p:cNvSpPr txBox="1"/>
          <p:nvPr/>
        </p:nvSpPr>
        <p:spPr>
          <a:xfrm>
            <a:off x="8366760" y="297180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tx1"/>
                </a:solidFill>
              </a:rPr>
              <a:t>Menos custo</a:t>
            </a:r>
            <a:endParaRPr lang="en-US" sz="2100" dirty="0"/>
          </a:p>
        </p:txBody>
      </p:sp>
      <p:sp>
        <p:nvSpPr>
          <p:cNvPr id="17" name="Menos custo texto"/>
          <p:cNvSpPr txBox="1"/>
          <p:nvPr/>
        </p:nvSpPr>
        <p:spPr>
          <a:xfrm>
            <a:off x="8366760" y="3520440"/>
            <a:ext cx="283464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Fabricação própria, assistência técnica, alto brilho e durabilidade outdoor reduzem tempo de tela apagada (que é receita perdida).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38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A solução para o seu espaço</a:t>
            </a:r>
            <a:endParaRPr lang="en-US" sz="3200" dirty="0"/>
          </a:p>
        </p:txBody>
      </p:sp>
      <p:sp>
        <p:nvSpPr>
          <p:cNvPr id="3" name="Título solução"/>
          <p:cNvSpPr txBox="1"/>
          <p:nvPr/>
        </p:nvSpPr>
        <p:spPr>
          <a:xfrm>
            <a:off x="548640" y="155448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O que propomos</a:t>
            </a:r>
            <a:endParaRPr lang="en-US" sz="2000" dirty="0"/>
          </a:p>
        </p:txBody>
      </p:sp>
      <p:sp>
        <p:nvSpPr>
          <p:cNvPr id="4" name="Item 1 círculo"/>
          <p:cNvSpPr/>
          <p:nvPr/>
        </p:nvSpPr>
        <p:spPr>
          <a:xfrm>
            <a:off x="548640" y="2103120"/>
            <a:ext cx="457200" cy="457200"/>
          </a:xfrm>
          <a:prstGeom prst="ellipse">
            <a:avLst/>
          </a:prstGeom>
          <a:solidFill>
            <a:srgbClr val="2B1A63"/>
          </a:solidFill>
          <a:ln/>
        </p:spPr>
      </p:sp>
      <p:pic>
        <p:nvPicPr>
          <p:cNvPr id="5" name="Item 1 ícon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2940" y="2217420"/>
            <a:ext cx="228600" cy="228600"/>
          </a:xfrm>
          <a:prstGeom prst="rect">
            <a:avLst/>
          </a:prstGeom>
        </p:spPr>
      </p:pic>
      <p:sp>
        <p:nvSpPr>
          <p:cNvPr id="6" name="Solução 1"/>
          <p:cNvSpPr txBox="1"/>
          <p:nvPr/>
        </p:nvSpPr>
        <p:spPr>
          <a:xfrm>
            <a:off x="1188720" y="2057400"/>
            <a:ext cx="4846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Painéis outdoor de grande formato</a:t>
            </a:r>
            <a:endParaRPr lang="en-US" sz="1500" dirty="0"/>
          </a:p>
        </p:txBody>
      </p:sp>
      <p:sp>
        <p:nvSpPr>
          <p:cNvPr id="7" name="Item 2 círculo"/>
          <p:cNvSpPr/>
          <p:nvPr/>
        </p:nvSpPr>
        <p:spPr>
          <a:xfrm>
            <a:off x="548640" y="2880360"/>
            <a:ext cx="457200" cy="457200"/>
          </a:xfrm>
          <a:prstGeom prst="ellipse">
            <a:avLst/>
          </a:prstGeom>
          <a:solidFill>
            <a:srgbClr val="2B1A63"/>
          </a:solidFill>
          <a:ln/>
        </p:spPr>
      </p:sp>
      <p:pic>
        <p:nvPicPr>
          <p:cNvPr id="8" name="Item 2 ícone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940" y="2994660"/>
            <a:ext cx="228600" cy="228600"/>
          </a:xfrm>
          <a:prstGeom prst="rect">
            <a:avLst/>
          </a:prstGeom>
        </p:spPr>
      </p:pic>
      <p:sp>
        <p:nvSpPr>
          <p:cNvPr id="9" name="Solução 2"/>
          <p:cNvSpPr txBox="1"/>
          <p:nvPr/>
        </p:nvSpPr>
        <p:spPr>
          <a:xfrm>
            <a:off x="1188720" y="2834640"/>
            <a:ext cx="4846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Empenas</a:t>
            </a:r>
            <a:endParaRPr lang="en-US" sz="1500" dirty="0"/>
          </a:p>
        </p:txBody>
      </p:sp>
      <p:sp>
        <p:nvSpPr>
          <p:cNvPr id="10" name="Item 3 círculo"/>
          <p:cNvSpPr/>
          <p:nvPr/>
        </p:nvSpPr>
        <p:spPr>
          <a:xfrm>
            <a:off x="548640" y="3657600"/>
            <a:ext cx="457200" cy="457200"/>
          </a:xfrm>
          <a:prstGeom prst="ellipse">
            <a:avLst/>
          </a:prstGeom>
          <a:solidFill>
            <a:srgbClr val="2B1A63"/>
          </a:solidFill>
          <a:ln/>
        </p:spPr>
      </p:sp>
      <p:pic>
        <p:nvPicPr>
          <p:cNvPr id="11" name="Item 3 ícone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2940" y="3771900"/>
            <a:ext cx="228600" cy="228600"/>
          </a:xfrm>
          <a:prstGeom prst="rect">
            <a:avLst/>
          </a:prstGeom>
        </p:spPr>
      </p:pic>
      <p:sp>
        <p:nvSpPr>
          <p:cNvPr id="12" name="Solução 3"/>
          <p:cNvSpPr txBox="1"/>
          <p:nvPr/>
        </p:nvSpPr>
        <p:spPr>
          <a:xfrm>
            <a:off x="1188720" y="3611880"/>
            <a:ext cx="4846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Frontlights digitais</a:t>
            </a:r>
            <a:endParaRPr lang="en-US" sz="1500" dirty="0"/>
          </a:p>
        </p:txBody>
      </p:sp>
      <p:sp>
        <p:nvSpPr>
          <p:cNvPr id="13" name="Item 4 círculo"/>
          <p:cNvSpPr/>
          <p:nvPr/>
        </p:nvSpPr>
        <p:spPr>
          <a:xfrm>
            <a:off x="548640" y="4434840"/>
            <a:ext cx="457200" cy="457200"/>
          </a:xfrm>
          <a:prstGeom prst="ellipse">
            <a:avLst/>
          </a:prstGeom>
          <a:solidFill>
            <a:srgbClr val="2B1A63"/>
          </a:solidFill>
          <a:ln/>
        </p:spPr>
      </p:sp>
      <p:pic>
        <p:nvPicPr>
          <p:cNvPr id="14" name="Item 4 ícone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2940" y="4549140"/>
            <a:ext cx="228600" cy="228600"/>
          </a:xfrm>
          <a:prstGeom prst="rect">
            <a:avLst/>
          </a:prstGeom>
        </p:spPr>
      </p:pic>
      <p:sp>
        <p:nvSpPr>
          <p:cNvPr id="15" name="Solução 4"/>
          <p:cNvSpPr txBox="1"/>
          <p:nvPr/>
        </p:nvSpPr>
        <p:spPr>
          <a:xfrm>
            <a:off x="1188720" y="4389120"/>
            <a:ext cx="4846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Mobiliário urbano</a:t>
            </a:r>
            <a:endParaRPr lang="en-US" sz="1500" dirty="0"/>
          </a:p>
        </p:txBody>
      </p:sp>
      <p:sp>
        <p:nvSpPr>
          <p:cNvPr id="16" name="Item 5 círculo"/>
          <p:cNvSpPr/>
          <p:nvPr/>
        </p:nvSpPr>
        <p:spPr>
          <a:xfrm>
            <a:off x="548640" y="5212080"/>
            <a:ext cx="457200" cy="457200"/>
          </a:xfrm>
          <a:prstGeom prst="ellipse">
            <a:avLst/>
          </a:prstGeom>
          <a:solidFill>
            <a:srgbClr val="2B1A63"/>
          </a:solidFill>
          <a:ln/>
        </p:spPr>
      </p:sp>
      <p:pic>
        <p:nvPicPr>
          <p:cNvPr id="17" name="Item 5 ícone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2940" y="5326380"/>
            <a:ext cx="228600" cy="228600"/>
          </a:xfrm>
          <a:prstGeom prst="rect">
            <a:avLst/>
          </a:prstGeom>
        </p:spPr>
      </p:pic>
      <p:sp>
        <p:nvSpPr>
          <p:cNvPr id="18" name="Solução 5"/>
          <p:cNvSpPr txBox="1"/>
          <p:nvPr/>
        </p:nvSpPr>
        <p:spPr>
          <a:xfrm>
            <a:off x="1188720" y="5166360"/>
            <a:ext cx="4846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Gestão de conteúdo e programação</a:t>
            </a:r>
            <a:endParaRPr lang="en-US" sz="1500" dirty="0"/>
          </a:p>
        </p:txBody>
      </p:sp>
      <p:sp>
        <p:nvSpPr>
          <p:cNvPr id="19" name="Card indicadores"/>
          <p:cNvSpPr/>
          <p:nvPr/>
        </p:nvSpPr>
        <p:spPr>
          <a:xfrm>
            <a:off x="6583680" y="1554480"/>
            <a:ext cx="5029200" cy="4434840"/>
          </a:xfrm>
          <a:prstGeom prst="roundRect">
            <a:avLst>
              <a:gd name="adj" fmla="val 2474"/>
            </a:avLst>
          </a:prstGeom>
          <a:solidFill>
            <a:schemeClr val="tx2"/>
          </a:solidFill>
          <a:ln/>
        </p:spPr>
      </p:sp>
      <p:sp>
        <p:nvSpPr>
          <p:cNvPr id="20" name="Título indicadores"/>
          <p:cNvSpPr txBox="1"/>
          <p:nvPr/>
        </p:nvSpPr>
        <p:spPr>
          <a:xfrm>
            <a:off x="6949440" y="1828800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O que você vai medir</a:t>
            </a:r>
            <a:endParaRPr lang="en-US" sz="2000" dirty="0"/>
          </a:p>
        </p:txBody>
      </p:sp>
      <p:sp>
        <p:nvSpPr>
          <p:cNvPr id="21" name="Indicadores"/>
          <p:cNvSpPr txBox="1"/>
          <p:nvPr/>
        </p:nvSpPr>
        <p:spPr>
          <a:xfrm>
            <a:off x="6949440" y="2423160"/>
            <a:ext cx="438912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bg1"/>
                </a:solidFill>
              </a:rPr>
              <a:t>Ocupação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bg1"/>
                </a:solidFill>
              </a:rPr>
              <a:t>Receita por m²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bg1"/>
                </a:solidFill>
              </a:rPr>
              <a:t>Uptime da tela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bg1"/>
                </a:solidFill>
              </a:rPr>
              <a:t>Payback do ponto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38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Projeto em destaque</a:t>
            </a:r>
            <a:endParaRPr lang="en-US" sz="3200" dirty="0"/>
          </a:p>
        </p:txBody>
      </p:sp>
      <p:sp>
        <p:nvSpPr>
          <p:cNvPr id="3" name="Card Boulevard"/>
          <p:cNvSpPr/>
          <p:nvPr/>
        </p:nvSpPr>
        <p:spPr>
          <a:xfrm>
            <a:off x="548640" y="1600200"/>
            <a:ext cx="5486400" cy="4389120"/>
          </a:xfrm>
          <a:prstGeom prst="roundRect">
            <a:avLst>
              <a:gd name="adj" fmla="val 2500"/>
            </a:avLst>
          </a:prstGeom>
          <a:solidFill>
            <a:schemeClr val="tx1"/>
          </a:solidFill>
          <a:ln/>
        </p:spPr>
      </p:sp>
      <p:sp>
        <p:nvSpPr>
          <p:cNvPr id="4" name="Boulevard título"/>
          <p:cNvSpPr txBox="1"/>
          <p:nvPr/>
        </p:nvSpPr>
        <p:spPr>
          <a:xfrm>
            <a:off x="914400" y="192024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Boulevard.Live</a:t>
            </a:r>
            <a:endParaRPr lang="en-US" sz="1800" dirty="0"/>
          </a:p>
        </p:txBody>
      </p:sp>
      <p:sp>
        <p:nvSpPr>
          <p:cNvPr id="5" name="Boulevard número"/>
          <p:cNvSpPr txBox="1"/>
          <p:nvPr/>
        </p:nvSpPr>
        <p:spPr>
          <a:xfrm>
            <a:off x="914400" y="2423160"/>
            <a:ext cx="47548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0" b="1" dirty="0">
                <a:solidFill>
                  <a:schemeClr val="bg1"/>
                </a:solidFill>
              </a:rPr>
              <a:t>1.125 m²</a:t>
            </a:r>
            <a:endParaRPr lang="en-US" sz="6000" dirty="0"/>
          </a:p>
        </p:txBody>
      </p:sp>
      <p:sp>
        <p:nvSpPr>
          <p:cNvPr id="6" name="Boulevard texto"/>
          <p:cNvSpPr txBox="1"/>
          <p:nvPr/>
        </p:nvSpPr>
        <p:spPr>
          <a:xfrm>
            <a:off x="914400" y="3703320"/>
            <a:ext cx="47548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O maior painel de LED da América Latina, em Brasília. Inspirado na Times Square e instalado no ponto de maior fluxo de pessoas e veículos da cidade.</a:t>
            </a:r>
            <a:endParaRPr lang="en-US" sz="1600" dirty="0"/>
          </a:p>
        </p:txBody>
      </p:sp>
      <p:sp>
        <p:nvSpPr>
          <p:cNvPr id="7" name="Área case do segmento"/>
          <p:cNvSpPr/>
          <p:nvPr/>
        </p:nvSpPr>
        <p:spPr>
          <a:xfrm>
            <a:off x="6309360" y="1600200"/>
            <a:ext cx="5303520" cy="4389120"/>
          </a:xfrm>
          <a:prstGeom prst="roundRect">
            <a:avLst>
              <a:gd name="adj" fmla="val 2500"/>
            </a:avLst>
          </a:prstGeom>
          <a:solidFill>
            <a:schemeClr val="bg2"/>
          </a:solidFill>
          <a:ln w="19050">
            <a:solidFill>
              <a:srgbClr val="8B5CF6"/>
            </a:solidFill>
            <a:prstDash val="dash"/>
          </a:ln>
        </p:spPr>
      </p:sp>
      <p:sp>
        <p:nvSpPr>
          <p:cNvPr id="8" name="Case título"/>
          <p:cNvSpPr txBox="1"/>
          <p:nvPr/>
        </p:nvSpPr>
        <p:spPr>
          <a:xfrm>
            <a:off x="6675120" y="192024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Case do seu segmento</a:t>
            </a:r>
            <a:endParaRPr lang="en-US" sz="1800" dirty="0"/>
          </a:p>
        </p:txBody>
      </p:sp>
      <p:sp>
        <p:nvSpPr>
          <p:cNvPr id="9" name="Case conteúdo"/>
          <p:cNvSpPr txBox="1"/>
          <p:nvPr/>
        </p:nvSpPr>
        <p:spPr>
          <a:xfrm>
            <a:off x="6675120" y="2514600"/>
            <a:ext cx="457200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[Nome do cliente do segmento]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[Desafio em uma frase]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[O que a LedWave entregou]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[Resultado]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38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1463040"/>
            <a:ext cx="694944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Painel apagado é aluguel perdido. Escolha quem mantém sua tela no ar.</a:t>
            </a:r>
            <a:endParaRPr lang="en-US" sz="3400" dirty="0"/>
          </a:p>
        </p:txBody>
      </p:sp>
      <p:sp>
        <p:nvSpPr>
          <p:cNvPr id="3" name="Text 1"/>
          <p:cNvSpPr/>
          <p:nvPr>
            <p:ph idx="102" type="body" hasCustomPrompt="1"/>
          </p:nvPr>
        </p:nvSpPr>
        <p:spPr>
          <a:xfrm>
            <a:off x="548640" y="4114800"/>
            <a:ext cx="69494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D9D2F0"/>
                </a:solidFill>
              </a:rPr>
              <a:t>Vamos escolher juntos o seu próximo ponto e colocar a conta no papel?</a:t>
            </a:r>
            <a:endParaRPr lang="en-US" sz="2000" dirty="0"/>
          </a:p>
        </p:txBody>
      </p:sp>
      <p:sp>
        <p:nvSpPr>
          <p:cNvPr id="4" name="Card próximo passo"/>
          <p:cNvSpPr/>
          <p:nvPr/>
        </p:nvSpPr>
        <p:spPr>
          <a:xfrm>
            <a:off x="8046720" y="2103120"/>
            <a:ext cx="3566160" cy="2971800"/>
          </a:xfrm>
          <a:prstGeom prst="roundRect">
            <a:avLst>
              <a:gd name="adj" fmla="val 3692"/>
            </a:avLst>
          </a:prstGeom>
          <a:solidFill>
            <a:schemeClr val="accent1"/>
          </a:solidFill>
          <a:ln/>
        </p:spPr>
      </p:sp>
      <p:sp>
        <p:nvSpPr>
          <p:cNvPr id="5" name="Próximo passo título"/>
          <p:cNvSpPr txBox="1"/>
          <p:nvPr/>
        </p:nvSpPr>
        <p:spPr>
          <a:xfrm>
            <a:off x="8366760" y="237744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Próximo passo</a:t>
            </a:r>
            <a:endParaRPr lang="en-US" sz="1800" dirty="0"/>
          </a:p>
        </p:txBody>
      </p:sp>
      <p:sp>
        <p:nvSpPr>
          <p:cNvPr id="6" name="Próximo passo texto"/>
          <p:cNvSpPr txBox="1"/>
          <p:nvPr/>
        </p:nvSpPr>
        <p:spPr>
          <a:xfrm>
            <a:off x="8366760" y="2834640"/>
            <a:ext cx="292608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Estudo de ponto + simulação de payback com cenário conservador, base e otimista.</a:t>
            </a:r>
            <a:endParaRPr lang="en-US" sz="1500" dirty="0"/>
          </a:p>
        </p:txBody>
      </p:sp>
      <p:sp>
        <p:nvSpPr>
          <p:cNvPr id="7" name="Contato"/>
          <p:cNvSpPr txBox="1"/>
          <p:nvPr/>
        </p:nvSpPr>
        <p:spPr>
          <a:xfrm>
            <a:off x="548640" y="603504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B8AED8"/>
                </a:solidFill>
              </a:rPr>
              <a:t>[Nome do executivo]  ·  [Telefone / WhatsApp]  ·  [E-mail]  ·  ledwave.com.br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LedWave">
  <a:themeElements>
    <a:clrScheme name="LedWave">
      <a:dk1>
        <a:srgbClr val="140C2E"/>
      </a:dk1>
      <a:lt1>
        <a:srgbClr val="FFFFFF"/>
      </a:lt1>
      <a:dk2>
        <a:srgbClr val="2B1A63"/>
      </a:dk2>
      <a:lt2>
        <a:srgbClr val="F3F0FA"/>
      </a:lt2>
      <a:accent1>
        <a:srgbClr val="E0218A"/>
      </a:accent1>
      <a:accent2>
        <a:srgbClr val="4F6BFF"/>
      </a:accent2>
      <a:accent3>
        <a:srgbClr val="8B5CF6"/>
      </a:accent3>
      <a:accent4>
        <a:srgbClr val="22C3A6"/>
      </a:accent4>
      <a:accent5>
        <a:srgbClr val="FFB020"/>
      </a:accent5>
      <a:accent6>
        <a:srgbClr val="6B6385"/>
      </a:accent6>
      <a:hlink>
        <a:srgbClr val="4F6BFF"/>
      </a:hlink>
      <a:folHlink>
        <a:srgbClr val="8B5CF6"/>
      </a:folHlink>
    </a:clrScheme>
    <a:fontScheme name="LedWav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LedWave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LedWave | DOOH e Investidores de Mídia</dc:title>
  <dc:subject>PptxGenJS Presentation</dc:subject>
  <dc:creator>LedWave</dc:creator>
  <cp:lastModifiedBy>LedWave</cp:lastModifiedBy>
  <cp:revision>1</cp:revision>
  <dcterms:created xsi:type="dcterms:W3CDTF">2026-10-19T17:15:11Z</dcterms:created>
  <dcterms:modified xsi:type="dcterms:W3CDTF">2026-10-19T17:15:11Z</dcterms:modified>
</cp:coreProperties>
</file>