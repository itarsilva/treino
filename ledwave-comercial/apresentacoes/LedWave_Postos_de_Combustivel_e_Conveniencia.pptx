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0f04f2f9-f62e-ba9f-de63-0e1ac9014436}">
          <p14:sldIdLst>
            <p14:sldId id="256"/>
            <p14:sldId id="257"/>
          </p14:sldIdLst>
        </p14:section>
        <p14:section name="O seu cenário" id="{439002fe-51cb-392c-9896-dac7c0aca0ca}">
          <p14:sldIdLst>
            <p14:sldId id="258"/>
          </p14:sldIdLst>
        </p14:section>
        <p14:section name="LedWave" id="{0efe3909-e89c-a426-8ca3-d0edf5cdbbde}">
          <p14:sldIdLst>
            <p14:sldId id="259"/>
            <p14:sldId id="260"/>
            <p14:sldId id="261"/>
            <p14:sldId id="262"/>
            <p14:sldId id="263"/>
          </p14:sldIdLst>
        </p14:section>
        <p14:section name="Por que digitalizar" id="{53d0f4cf-f8af-1153-d3fe-c431e2b61d8a}">
          <p14:sldIdLst>
            <p14:sldId id="264"/>
            <p14:sldId id="265"/>
          </p14:sldIdLst>
        </p14:section>
        <p14:section name="Ganhos e solução" id="{071636bb-ced7-3b4f-3389-fc492b742c6d}">
          <p14:sldIdLst>
            <p14:sldId id="266"/>
            <p14:sldId id="267"/>
            <p14:sldId id="268"/>
          </p14:sldIdLst>
        </p14:section>
        <p14:section name="Próximo passo" id="{0648ee80-61f4-35d5-fb97-cdff1e2b2669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[Abertura · ~1 min] Cumprimente, combine o objetivo e o tempo da reunião (15 min) e peça permissão: "Posso começar com uma pergunta?"
Decisor típico: Proprietário do posto/rede, Diretor Comercial de distribuidora, Gerente de conveniência.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[Gancho · ~1 min] Leia a pergunta, olhe nos olhos e espere 3 segundos. Deixe o cliente responder e anote as palavras dele.
Se ele responder, aprofunde com: "Quantos postos, qual o fluxo diário da via, qual o peso da conveniência no resultado?"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[Dor · ~2 min] Não leia o slide. Pergunte antes de mostrar:
Situação: Quantos postos, qual o fluxo diário da via, qual o peso da conveniência no resultado?
Problema: Como o preço é atualizado hoje? A conveniência é vista da pista? Algum anunciante local já procurou vocês?
Implicação: Quantos motoristas passam reto por não verem o preço ou a oferta a tempo? Quanto vale um ponto a mais de conversão da pista?
Use os números que o cliente der no slide de fechamento.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[LedWave · ~1,5 min] O cliente é o herói; a LedWave é o guia que já fez isso antes. Conte a origem em 20 segundos e siga.
Frase-ponte: "E é por isso que estamos aqui."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[Números · ~1 min] Escolha os 2 números que mais conversam com Postos de Combustível e Conveniência e fale só deles. Ex.: para mídia e grandes formatos, o Boulevard.Live; para redes, as 4 bases e a fábrica própria.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[Solução completa · ~1 min] Mensagem central: "Não vendemos painel. Entregamos o resultado que o painel gera."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[Diferenciais · ~1 min] Não leia os oito. Escolha os 2 ou 3 que respondem ao propósito de compra do cliente (Mídia, Eficiência operacional, Branding) e conte cada um em uma frase.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[Prova social · ~1 min] Sem case mapeado do segmento: escolha o cliente com o propósito de compra mais parecido. Apague a linha de instrução antes de enviar o arquivo.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[Propósito · ~1 min] Fale devagar. Este é o porquê da conversa. Pausa de 3 segundos no final.
Propósitos de compra mais comuns neste nicho: Mídia, Eficiência operacional, Branding. Confirme qual pesa mais para este cliente e apague os outros.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[História · ~1,5 min] Conte a história como cena, no presente. Se tiver o mockup do espaço do cliente, este é o momento de mostrar: antes e depois.
Frase de efeito: "Na estrada, quem não é visto não é abastecido."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[Ganhos · ~2,5 min] Um ganho por vez. Para cada um, conecte com o que o cliente disse na descoberta: "Você comentou que... é aqui que isso muda."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[Solução · ~1,5 min] Mostre só o que faz sentido para o espaço do cliente; apague o resto.
Objeção provável: Meu cliente só olha preço.
Resposta: Exatamente: e o painel mostra o preço melhor, mais longe e mais rápido. O que vem depois do preço (café, lavagem, mídia) é margem extra que hoje você não captura.
Objeção (comercial): Política local / licenças
Resposta: Apoiamos o licenciamento: projeto técnico, documentação e orientação sobre as regras da sua cidade.
Objeção (comercial): Fabricação de estrutura metálica
Resposta: A estrutura faz parte do projeto: dimensionamos, fabricamos e instalamos com responsabilidade técnica, sem você precisar de outro fornecedor.
Objeção (comercial): Consumo de energia
Resposta: O LED é eficiente, e o projeto inclui ajuste automático de brilho e programação de horário. Calculamos o consumo real do seu painel na proposta.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[Prova · ~1 min] Preencha o case do segmento com um cliente real antes da reunião. Sem case do segmento, apague o card da direita e fale só do Boulevard.Live.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[Fechamento · ~1,5 min] Termine no ponto alto: repita a frase de efeito e proponha o próximo passo com duas opções de data ("quinta ou sexta?"). Nunca termine com "alguma dúvida?".
Pergunta de necessidade: Se o mesmo totem mostrasse preço, promoção da conveniência e ainda vendesse mídia, como isso mudaria a margem do posto?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image-1004-2.png"/><Relationship Id="rId3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reino/88533c10-46fb-551a-b2bc-454e1913f5b1/scratchpad/build/assets/logo-ledwa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11480"/>
            <a:ext cx="2743200" cy="939769"/>
          </a:xfrm>
          <a:prstGeom prst="rect">
            <a:avLst/>
          </a:prstGeom>
        </p:spPr>
      </p:pic>
      <p:pic>
        <p:nvPicPr>
          <p:cNvPr id="3" name="Image 1" descr="/tmp/claude-0/-home-user-Treino/88533c10-46fb-551a-b2bc-454e1913f5b1/scratchpad/build/assets/pixels-cap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914400"/>
            <a:ext cx="3904488" cy="4572000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103120"/>
            <a:ext cx="667512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977640"/>
            <a:ext cx="66751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echament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reino/88533c10-46fb-551a-b2bc-454e1913f5b1/scratchpad/build/assets/logo-ledwa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11480"/>
            <a:ext cx="2194560" cy="751815"/>
          </a:xfrm>
          <a:prstGeom prst="rect">
            <a:avLst/>
          </a:prstGeom>
        </p:spPr>
      </p:pic>
      <p:pic>
        <p:nvPicPr>
          <p:cNvPr id="3" name="Image 1" descr="/tmp/claude-0/-home-user-Treino/88533c10-46fb-551a-b2bc-454e1913f5b1/scratchpad/build/assets/pixels-faix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1160" y="5943600"/>
            <a:ext cx="2322576" cy="548640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1463040"/>
            <a:ext cx="6949440" cy="2468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4114800"/>
            <a:ext cx="694944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staque">
    <p:bg>
      <p:bgPr>
        <a:solidFill>
          <a:srgbClr val="F2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reino/88533c10-46fb-551a-b2bc-454e1913f5b1/scratchpad/build/assets/logo-ledwa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11480"/>
            <a:ext cx="1645920" cy="563862"/>
          </a:xfrm>
          <a:prstGeom prst="rect">
            <a:avLst/>
          </a:prstGeom>
        </p:spPr>
      </p:pic>
      <p:pic>
        <p:nvPicPr>
          <p:cNvPr id="3" name="Image 1" descr="/tmp/claude-0/-home-user-Treino/88533c10-46fb-551a-b2bc-454e1913f5b1/scratchpad/build/assets/pixels-faix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8280" y="5897880"/>
            <a:ext cx="2514600" cy="594360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b="1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822960" y="2011680"/>
            <a:ext cx="8229600" cy="3291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reino/88533c10-46fb-551a-b2bc-454e1913f5b1/scratchpad/build/assets/logo-ledwa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272784"/>
            <a:ext cx="960120" cy="328919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691640" y="63276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A7A"/>
                </a:solidFill>
              </a:rPr>
              <a:t>Postos de Combustível e Conveniência</a:t>
            </a:r>
            <a:endParaRPr lang="en-US" sz="10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slideLayout" Target="../slideLayouts/slideLayout5.xml"/><Relationship Id="rId11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slideLayout" Target="../slideLayouts/slideLayout5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548640" y="2103120"/>
            <a:ext cx="6675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Postos de Combustível e Conveniência</a:t>
            </a:r>
            <a:endParaRPr lang="en-US" sz="40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548640" y="3977640"/>
            <a:ext cx="6675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2"/>
                </a:solidFill>
              </a:rPr>
              <a:t>Na estrada, quem não é visto não é abastecido.</a:t>
            </a:r>
            <a:endParaRPr lang="en-US" sz="2000" dirty="0"/>
          </a:p>
        </p:txBody>
      </p:sp>
      <p:sp>
        <p:nvSpPr>
          <p:cNvPr id="4" name="Cliente e data"/>
          <p:cNvSpPr txBox="1"/>
          <p:nvPr/>
        </p:nvSpPr>
        <p:spPr>
          <a:xfrm>
            <a:off x="548640" y="60350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7A7A7A"/>
                </a:solidFill>
              </a:rPr>
              <a:t>Proposta para [Nome do cliente]  ·  [Data]</a:t>
            </a:r>
            <a:endParaRPr lang="en-US" sz="1400" dirty="0"/>
          </a:p>
        </p:txBody>
      </p:sp>
      <p:sp>
        <p:nvSpPr>
          <p:cNvPr id="5" name="Ícone do nicho círculo"/>
          <p:cNvSpPr/>
          <p:nvPr/>
        </p:nvSpPr>
        <p:spPr>
          <a:xfrm>
            <a:off x="7360920" y="4160520"/>
            <a:ext cx="1645920" cy="164592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6" name="Ícone do nich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4572000"/>
            <a:ext cx="82296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Uma pergunta para começar</a:t>
            </a:r>
            <a:endParaRPr lang="en-US" sz="18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822960" y="2011680"/>
            <a:ext cx="8229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Seu cliente decide se entra no seu posto em menos de cinco segundos. O que ele vê nesses cinco segundos?</a:t>
            </a:r>
            <a:endParaRPr lang="en-US" sz="3200" dirty="0"/>
          </a:p>
        </p:txBody>
      </p:sp>
      <p:sp>
        <p:nvSpPr>
          <p:cNvPr id="4" name="Pergunta círculo"/>
          <p:cNvSpPr/>
          <p:nvPr/>
        </p:nvSpPr>
        <p:spPr>
          <a:xfrm>
            <a:off x="9692640" y="2103120"/>
            <a:ext cx="1737360" cy="1737360"/>
          </a:xfrm>
          <a:prstGeom prst="ellipse">
            <a:avLst/>
          </a:prstGeom>
          <a:solidFill>
            <a:srgbClr val="E011FF"/>
          </a:solidFill>
          <a:ln/>
        </p:spPr>
      </p:sp>
      <p:pic>
        <p:nvPicPr>
          <p:cNvPr id="5" name="Pergunta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6980" y="2537460"/>
            <a:ext cx="868680" cy="8686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 desafio de hoje</a:t>
            </a:r>
            <a:endParaRPr lang="en-US" sz="3200" dirty="0"/>
          </a:p>
        </p:txBody>
      </p:sp>
      <p:sp>
        <p:nvSpPr>
          <p:cNvPr id="3" name="Card Como é hoje"/>
          <p:cNvSpPr/>
          <p:nvPr/>
        </p:nvSpPr>
        <p:spPr>
          <a:xfrm>
            <a:off x="548640" y="1600200"/>
            <a:ext cx="5394960" cy="429768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/>
        </p:spPr>
      </p:sp>
      <p:sp>
        <p:nvSpPr>
          <p:cNvPr id="4" name="Como é hoje círculo"/>
          <p:cNvSpPr/>
          <p:nvPr/>
        </p:nvSpPr>
        <p:spPr>
          <a:xfrm>
            <a:off x="914400" y="1920240"/>
            <a:ext cx="822960" cy="822960"/>
          </a:xfrm>
          <a:prstGeom prst="ellipse">
            <a:avLst/>
          </a:prstGeom>
          <a:solidFill>
            <a:srgbClr val="658DFF"/>
          </a:solidFill>
          <a:ln/>
        </p:spPr>
      </p:sp>
      <p:pic>
        <p:nvPicPr>
          <p:cNvPr id="5" name="Como é hoje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0140" y="2125980"/>
            <a:ext cx="411480" cy="411480"/>
          </a:xfrm>
          <a:prstGeom prst="rect">
            <a:avLst/>
          </a:prstGeom>
        </p:spPr>
      </p:pic>
      <p:sp>
        <p:nvSpPr>
          <p:cNvPr id="6" name="Como é hoje título"/>
          <p:cNvSpPr txBox="1"/>
          <p:nvPr/>
        </p:nvSpPr>
        <p:spPr>
          <a:xfrm>
            <a:off x="914400" y="29260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Como é hoje</a:t>
            </a:r>
            <a:endParaRPr lang="en-US" sz="2200" dirty="0"/>
          </a:p>
        </p:txBody>
      </p:sp>
      <p:sp>
        <p:nvSpPr>
          <p:cNvPr id="7" name="Como é hoje texto"/>
          <p:cNvSpPr txBox="1"/>
          <p:nvPr/>
        </p:nvSpPr>
        <p:spPr>
          <a:xfrm>
            <a:off x="914400" y="3474720"/>
            <a:ext cx="4663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O preço na placa é a única comunicação, e o cliente decide em segundos, a 60 km/h. A loja de conveniência é invisível da pista.</a:t>
            </a:r>
            <a:endParaRPr lang="en-US" sz="1700" dirty="0"/>
          </a:p>
        </p:txBody>
      </p:sp>
      <p:sp>
        <p:nvSpPr>
          <p:cNvPr id="8" name="Card O custo de esperar"/>
          <p:cNvSpPr/>
          <p:nvPr/>
        </p:nvSpPr>
        <p:spPr>
          <a:xfrm>
            <a:off x="6217920" y="1600200"/>
            <a:ext cx="5394960" cy="429768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/>
        </p:spPr>
      </p:sp>
      <p:sp>
        <p:nvSpPr>
          <p:cNvPr id="9" name="O custo de esperar círculo"/>
          <p:cNvSpPr/>
          <p:nvPr/>
        </p:nvSpPr>
        <p:spPr>
          <a:xfrm>
            <a:off x="6583680" y="1920240"/>
            <a:ext cx="822960" cy="822960"/>
          </a:xfrm>
          <a:prstGeom prst="ellipse">
            <a:avLst/>
          </a:prstGeom>
          <a:solidFill>
            <a:srgbClr val="E011FF"/>
          </a:solidFill>
          <a:ln/>
        </p:spPr>
      </p:sp>
      <p:pic>
        <p:nvPicPr>
          <p:cNvPr id="10" name="O custo de esperar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9420" y="2125980"/>
            <a:ext cx="411480" cy="411480"/>
          </a:xfrm>
          <a:prstGeom prst="rect">
            <a:avLst/>
          </a:prstGeom>
        </p:spPr>
      </p:pic>
      <p:sp>
        <p:nvSpPr>
          <p:cNvPr id="11" name="O custo de esperar título"/>
          <p:cNvSpPr txBox="1"/>
          <p:nvPr/>
        </p:nvSpPr>
        <p:spPr>
          <a:xfrm>
            <a:off x="6583680" y="29260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O custo de esperar</a:t>
            </a:r>
            <a:endParaRPr lang="en-US" sz="2200" dirty="0"/>
          </a:p>
        </p:txBody>
      </p:sp>
      <p:sp>
        <p:nvSpPr>
          <p:cNvPr id="12" name="O custo de esperar texto"/>
          <p:cNvSpPr txBox="1"/>
          <p:nvPr/>
        </p:nvSpPr>
        <p:spPr>
          <a:xfrm>
            <a:off x="6583680" y="3474720"/>
            <a:ext cx="4663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O motorista que passa reto não volta. A margem do combustível é apertada e a conveniência, que tem margem, não é vista.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Quem é a LedWave</a:t>
            </a:r>
            <a:endParaRPr lang="en-US" sz="3200" dirty="0"/>
          </a:p>
        </p:txBody>
      </p:sp>
      <p:sp>
        <p:nvSpPr>
          <p:cNvPr id="3" name="História LedWave"/>
          <p:cNvSpPr txBox="1"/>
          <p:nvPr/>
        </p:nvSpPr>
        <p:spPr>
          <a:xfrm>
            <a:off x="548640" y="1645920"/>
            <a:ext cx="53035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De uma ideia em Xangai à liderança no Brasil</a:t>
            </a:r>
            <a:endParaRPr lang="en-US" sz="16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Uma viagem a Xangai mostrou ao nosso fundador, Tiago Brito, como as grandes capitais usam o LED para encantar pessoas. Com R$ 12 mil, essa ideia virou fábrica em Goiânia.</a:t>
            </a:r>
            <a:endParaRPr lang="en-US" sz="16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Hoje fabricamos, instalamos e operamos painéis de LED para marcas de todo o país, com unidades no Brasil e nos Estados Unidos.</a:t>
            </a:r>
            <a:endParaRPr lang="en-US" sz="1600" dirty="0"/>
          </a:p>
        </p:txBody>
      </p:sp>
      <p:sp>
        <p:nvSpPr>
          <p:cNvPr id="4" name="Linha do tempo"/>
          <p:cNvSpPr/>
          <p:nvPr/>
        </p:nvSpPr>
        <p:spPr>
          <a:xfrm>
            <a:off x="6903720" y="1920240"/>
            <a:ext cx="0" cy="3657600"/>
          </a:xfrm>
          <a:prstGeom prst="line">
            <a:avLst/>
          </a:prstGeom>
          <a:noFill/>
          <a:ln w="38100">
            <a:solidFill>
              <a:srgbClr val="F2F3F7"/>
            </a:solidFill>
            <a:prstDash val="solid"/>
          </a:ln>
        </p:spPr>
      </p:sp>
      <p:sp>
        <p:nvSpPr>
          <p:cNvPr id="5" name="Marco 1"/>
          <p:cNvSpPr/>
          <p:nvPr/>
        </p:nvSpPr>
        <p:spPr>
          <a:xfrm>
            <a:off x="6739128" y="1810512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6" name="Marco ano 1"/>
          <p:cNvSpPr txBox="1"/>
          <p:nvPr/>
        </p:nvSpPr>
        <p:spPr>
          <a:xfrm>
            <a:off x="7269480" y="16916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2010/11</a:t>
            </a:r>
            <a:endParaRPr lang="en-US" sz="1800" dirty="0"/>
          </a:p>
        </p:txBody>
      </p:sp>
      <p:sp>
        <p:nvSpPr>
          <p:cNvPr id="7" name="Marco texto 1"/>
          <p:cNvSpPr txBox="1"/>
          <p:nvPr/>
        </p:nvSpPr>
        <p:spPr>
          <a:xfrm>
            <a:off x="7269480" y="2075688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Fundação em Goiânia, com fábrica própria</a:t>
            </a:r>
            <a:endParaRPr lang="en-US" sz="1400" dirty="0"/>
          </a:p>
        </p:txBody>
      </p:sp>
      <p:sp>
        <p:nvSpPr>
          <p:cNvPr id="8" name="Marco 2"/>
          <p:cNvSpPr/>
          <p:nvPr/>
        </p:nvSpPr>
        <p:spPr>
          <a:xfrm>
            <a:off x="6739128" y="2889504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9" name="Marco ano 2"/>
          <p:cNvSpPr txBox="1"/>
          <p:nvPr/>
        </p:nvSpPr>
        <p:spPr>
          <a:xfrm>
            <a:off x="7269480" y="277063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4 anos</a:t>
            </a:r>
            <a:endParaRPr lang="en-US" sz="1800" dirty="0"/>
          </a:p>
        </p:txBody>
      </p:sp>
      <p:sp>
        <p:nvSpPr>
          <p:cNvPr id="10" name="Marco texto 2"/>
          <p:cNvSpPr txBox="1"/>
          <p:nvPr/>
        </p:nvSpPr>
        <p:spPr>
          <a:xfrm>
            <a:off x="7269480" y="315468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Seguidos no ranking Exame Negócios em Expansão</a:t>
            </a:r>
            <a:endParaRPr lang="en-US" sz="1400" dirty="0"/>
          </a:p>
        </p:txBody>
      </p:sp>
      <p:sp>
        <p:nvSpPr>
          <p:cNvPr id="11" name="Marco 3"/>
          <p:cNvSpPr/>
          <p:nvPr/>
        </p:nvSpPr>
        <p:spPr>
          <a:xfrm>
            <a:off x="6739128" y="3968496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2" name="Marco ano 3"/>
          <p:cNvSpPr txBox="1"/>
          <p:nvPr/>
        </p:nvSpPr>
        <p:spPr>
          <a:xfrm>
            <a:off x="7269480" y="384962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2025</a:t>
            </a:r>
            <a:endParaRPr lang="en-US" sz="1800" dirty="0"/>
          </a:p>
        </p:txBody>
      </p:sp>
      <p:sp>
        <p:nvSpPr>
          <p:cNvPr id="13" name="Marco texto 3"/>
          <p:cNvSpPr txBox="1"/>
          <p:nvPr/>
        </p:nvSpPr>
        <p:spPr>
          <a:xfrm>
            <a:off x="7269480" y="423367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1ª colocada do segmento de painéis de LED no ranking</a:t>
            </a:r>
            <a:endParaRPr lang="en-US" sz="1400" dirty="0"/>
          </a:p>
        </p:txBody>
      </p:sp>
      <p:sp>
        <p:nvSpPr>
          <p:cNvPr id="14" name="Marco 4"/>
          <p:cNvSpPr/>
          <p:nvPr/>
        </p:nvSpPr>
        <p:spPr>
          <a:xfrm>
            <a:off x="6739128" y="5047488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5" name="Marco ano 4"/>
          <p:cNvSpPr txBox="1"/>
          <p:nvPr/>
        </p:nvSpPr>
        <p:spPr>
          <a:xfrm>
            <a:off x="7269480" y="492861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2026</a:t>
            </a:r>
            <a:endParaRPr lang="en-US" sz="1800" dirty="0"/>
          </a:p>
        </p:txBody>
      </p:sp>
      <p:sp>
        <p:nvSpPr>
          <p:cNvPr id="16" name="Marco texto 4"/>
          <p:cNvSpPr txBox="1"/>
          <p:nvPr/>
        </p:nvSpPr>
        <p:spPr>
          <a:xfrm>
            <a:off x="7269480" y="5312664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Única empresa brasileira de LED com estande próprio na NRF, em Nova York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LedWave em números</a:t>
            </a:r>
            <a:endParaRPr lang="en-US" sz="3200" dirty="0"/>
          </a:p>
        </p:txBody>
      </p:sp>
      <p:sp>
        <p:nvSpPr>
          <p:cNvPr id="3" name="Número 1"/>
          <p:cNvSpPr/>
          <p:nvPr/>
        </p:nvSpPr>
        <p:spPr>
          <a:xfrm>
            <a:off x="548640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tx2"/>
          </a:solidFill>
          <a:ln/>
        </p:spPr>
      </p:sp>
      <p:sp>
        <p:nvSpPr>
          <p:cNvPr id="4" name="Número valor 1"/>
          <p:cNvSpPr txBox="1"/>
          <p:nvPr/>
        </p:nvSpPr>
        <p:spPr>
          <a:xfrm>
            <a:off x="822960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1.125 m²</a:t>
            </a:r>
            <a:endParaRPr lang="en-US" sz="4000" dirty="0"/>
          </a:p>
        </p:txBody>
      </p:sp>
      <p:sp>
        <p:nvSpPr>
          <p:cNvPr id="5" name="Número legenda 1"/>
          <p:cNvSpPr txBox="1"/>
          <p:nvPr/>
        </p:nvSpPr>
        <p:spPr>
          <a:xfrm>
            <a:off x="822960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O maior painel de LED da América Latina (Boulevard.Live, Brasília)</a:t>
            </a:r>
            <a:endParaRPr lang="en-US" sz="1500" dirty="0"/>
          </a:p>
        </p:txBody>
      </p:sp>
      <p:sp>
        <p:nvSpPr>
          <p:cNvPr id="6" name="Número 2"/>
          <p:cNvSpPr/>
          <p:nvPr/>
        </p:nvSpPr>
        <p:spPr>
          <a:xfrm>
            <a:off x="3364992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7" name="Número valor 2"/>
          <p:cNvSpPr txBox="1"/>
          <p:nvPr/>
        </p:nvSpPr>
        <p:spPr>
          <a:xfrm>
            <a:off x="3639312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Nº 1</a:t>
            </a:r>
            <a:endParaRPr lang="en-US" sz="4000" dirty="0"/>
          </a:p>
        </p:txBody>
      </p:sp>
      <p:sp>
        <p:nvSpPr>
          <p:cNvPr id="8" name="Número legenda 2"/>
          <p:cNvSpPr txBox="1"/>
          <p:nvPr/>
        </p:nvSpPr>
        <p:spPr>
          <a:xfrm>
            <a:off x="3639312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do segmento de painéis de LED no ranking Exame Negócios em Expansão 2025</a:t>
            </a:r>
            <a:endParaRPr lang="en-US" sz="1500" dirty="0"/>
          </a:p>
        </p:txBody>
      </p:sp>
      <p:sp>
        <p:nvSpPr>
          <p:cNvPr id="9" name="Número 3"/>
          <p:cNvSpPr/>
          <p:nvPr/>
        </p:nvSpPr>
        <p:spPr>
          <a:xfrm>
            <a:off x="6181344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tx2"/>
          </a:solidFill>
          <a:ln/>
        </p:spPr>
      </p:sp>
      <p:sp>
        <p:nvSpPr>
          <p:cNvPr id="10" name="Número valor 3"/>
          <p:cNvSpPr txBox="1"/>
          <p:nvPr/>
        </p:nvSpPr>
        <p:spPr>
          <a:xfrm>
            <a:off x="6455664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4 anos</a:t>
            </a:r>
            <a:endParaRPr lang="en-US" sz="4000" dirty="0"/>
          </a:p>
        </p:txBody>
      </p:sp>
      <p:sp>
        <p:nvSpPr>
          <p:cNvPr id="11" name="Número legenda 3"/>
          <p:cNvSpPr txBox="1"/>
          <p:nvPr/>
        </p:nvSpPr>
        <p:spPr>
          <a:xfrm>
            <a:off x="6455664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seguidos entre as empresas que mais crescem no Brasil (Exame)</a:t>
            </a:r>
            <a:endParaRPr lang="en-US" sz="1500" dirty="0"/>
          </a:p>
        </p:txBody>
      </p:sp>
      <p:sp>
        <p:nvSpPr>
          <p:cNvPr id="12" name="Número 4"/>
          <p:cNvSpPr/>
          <p:nvPr/>
        </p:nvSpPr>
        <p:spPr>
          <a:xfrm>
            <a:off x="8997696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13" name="Número valor 4"/>
          <p:cNvSpPr txBox="1"/>
          <p:nvPr/>
        </p:nvSpPr>
        <p:spPr>
          <a:xfrm>
            <a:off x="9272016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4 bases</a:t>
            </a:r>
            <a:endParaRPr lang="en-US" sz="4000" dirty="0"/>
          </a:p>
        </p:txBody>
      </p:sp>
      <p:sp>
        <p:nvSpPr>
          <p:cNvPr id="14" name="Número legenda 4"/>
          <p:cNvSpPr txBox="1"/>
          <p:nvPr/>
        </p:nvSpPr>
        <p:spPr>
          <a:xfrm>
            <a:off x="9272016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Goiânia (sede e fábrica), São Paulo, Brasília e Orlando (EUA)</a:t>
            </a:r>
            <a:endParaRPr lang="en-US" sz="1500" dirty="0"/>
          </a:p>
        </p:txBody>
      </p:sp>
      <p:sp>
        <p:nvSpPr>
          <p:cNvPr id="15" name="Fonte"/>
          <p:cNvSpPr txBox="1"/>
          <p:nvPr/>
        </p:nvSpPr>
        <p:spPr>
          <a:xfrm>
            <a:off x="548640" y="58064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A7A7A"/>
                </a:solidFill>
              </a:rPr>
              <a:t>Ranking Exame Negócios em Expansão com dados auditados pela PwC.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Solução completa, do projeto ao resultado</a:t>
            </a:r>
            <a:endParaRPr lang="en-US" sz="3200" dirty="0"/>
          </a:p>
        </p:txBody>
      </p:sp>
      <p:sp>
        <p:nvSpPr>
          <p:cNvPr id="3" name="Diagnóstico e projeto círculo"/>
          <p:cNvSpPr/>
          <p:nvPr/>
        </p:nvSpPr>
        <p:spPr>
          <a:xfrm>
            <a:off x="1115568" y="1828800"/>
            <a:ext cx="914400" cy="91440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4" name="Diagnóstico e projet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4168" y="2057400"/>
            <a:ext cx="457200" cy="457200"/>
          </a:xfrm>
          <a:prstGeom prst="rect">
            <a:avLst/>
          </a:prstGeom>
        </p:spPr>
      </p:pic>
      <p:pic>
        <p:nvPicPr>
          <p:cNvPr id="5" name="Seta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3160" y="2130552"/>
            <a:ext cx="292608" cy="292608"/>
          </a:xfrm>
          <a:prstGeom prst="rect">
            <a:avLst/>
          </a:prstGeom>
        </p:spPr>
      </p:pic>
      <p:sp>
        <p:nvSpPr>
          <p:cNvPr id="6" name="Diagnóstico e projeto título"/>
          <p:cNvSpPr txBox="1"/>
          <p:nvPr/>
        </p:nvSpPr>
        <p:spPr>
          <a:xfrm>
            <a:off x="548640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Diagnóstico e projeto</a:t>
            </a:r>
            <a:endParaRPr lang="en-US" sz="1700" dirty="0"/>
          </a:p>
        </p:txBody>
      </p:sp>
      <p:sp>
        <p:nvSpPr>
          <p:cNvPr id="7" name="Diagnóstico e projeto texto"/>
          <p:cNvSpPr txBox="1"/>
          <p:nvPr/>
        </p:nvSpPr>
        <p:spPr>
          <a:xfrm>
            <a:off x="548640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Estudo do seu espaço, do público e do objetivo</a:t>
            </a:r>
            <a:endParaRPr lang="en-US" sz="1400" dirty="0"/>
          </a:p>
        </p:txBody>
      </p:sp>
      <p:sp>
        <p:nvSpPr>
          <p:cNvPr id="8" name="Fabricação própria círculo"/>
          <p:cNvSpPr/>
          <p:nvPr/>
        </p:nvSpPr>
        <p:spPr>
          <a:xfrm>
            <a:off x="3383280" y="1828800"/>
            <a:ext cx="914400" cy="91440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9" name="Fabricação própria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80" y="2057400"/>
            <a:ext cx="457200" cy="457200"/>
          </a:xfrm>
          <a:prstGeom prst="rect">
            <a:avLst/>
          </a:prstGeom>
        </p:spPr>
      </p:pic>
      <p:pic>
        <p:nvPicPr>
          <p:cNvPr id="10" name="Seta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0872" y="2130552"/>
            <a:ext cx="292608" cy="292608"/>
          </a:xfrm>
          <a:prstGeom prst="rect">
            <a:avLst/>
          </a:prstGeom>
        </p:spPr>
      </p:pic>
      <p:sp>
        <p:nvSpPr>
          <p:cNvPr id="11" name="Fabricação própria título"/>
          <p:cNvSpPr txBox="1"/>
          <p:nvPr/>
        </p:nvSpPr>
        <p:spPr>
          <a:xfrm>
            <a:off x="2816352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Fabricação própria</a:t>
            </a:r>
            <a:endParaRPr lang="en-US" sz="1700" dirty="0"/>
          </a:p>
        </p:txBody>
      </p:sp>
      <p:sp>
        <p:nvSpPr>
          <p:cNvPr id="12" name="Fabricação própria texto"/>
          <p:cNvSpPr txBox="1"/>
          <p:nvPr/>
        </p:nvSpPr>
        <p:spPr>
          <a:xfrm>
            <a:off x="2816352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Linha de produção em Goiânia</a:t>
            </a:r>
            <a:endParaRPr lang="en-US" sz="1400" dirty="0"/>
          </a:p>
        </p:txBody>
      </p:sp>
      <p:sp>
        <p:nvSpPr>
          <p:cNvPr id="13" name="Instalação círculo"/>
          <p:cNvSpPr/>
          <p:nvPr/>
        </p:nvSpPr>
        <p:spPr>
          <a:xfrm>
            <a:off x="5650992" y="1828800"/>
            <a:ext cx="914400" cy="91440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14" name="Instalação ícon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9592" y="2057400"/>
            <a:ext cx="457200" cy="457200"/>
          </a:xfrm>
          <a:prstGeom prst="rect">
            <a:avLst/>
          </a:prstGeom>
        </p:spPr>
      </p:pic>
      <p:pic>
        <p:nvPicPr>
          <p:cNvPr id="15" name="Seta 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58584" y="2130552"/>
            <a:ext cx="292608" cy="292608"/>
          </a:xfrm>
          <a:prstGeom prst="rect">
            <a:avLst/>
          </a:prstGeom>
        </p:spPr>
      </p:pic>
      <p:sp>
        <p:nvSpPr>
          <p:cNvPr id="16" name="Instalação título"/>
          <p:cNvSpPr txBox="1"/>
          <p:nvPr/>
        </p:nvSpPr>
        <p:spPr>
          <a:xfrm>
            <a:off x="5084064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Instalação</a:t>
            </a:r>
            <a:endParaRPr lang="en-US" sz="1700" dirty="0"/>
          </a:p>
        </p:txBody>
      </p:sp>
      <p:sp>
        <p:nvSpPr>
          <p:cNvPr id="17" name="Instalação texto"/>
          <p:cNvSpPr txBox="1"/>
          <p:nvPr/>
        </p:nvSpPr>
        <p:spPr>
          <a:xfrm>
            <a:off x="5084064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Estrutura, energia e entrega com equipe técnica</a:t>
            </a:r>
            <a:endParaRPr lang="en-US" sz="1400" dirty="0"/>
          </a:p>
        </p:txBody>
      </p:sp>
      <p:sp>
        <p:nvSpPr>
          <p:cNvPr id="18" name="Conteúdo e gestão círculo"/>
          <p:cNvSpPr/>
          <p:nvPr/>
        </p:nvSpPr>
        <p:spPr>
          <a:xfrm>
            <a:off x="7918704" y="1828800"/>
            <a:ext cx="914400" cy="91440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19" name="Conteúdo e gestão ícone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47304" y="2057400"/>
            <a:ext cx="457200" cy="457200"/>
          </a:xfrm>
          <a:prstGeom prst="rect">
            <a:avLst/>
          </a:prstGeom>
        </p:spPr>
      </p:pic>
      <p:pic>
        <p:nvPicPr>
          <p:cNvPr id="20" name="Seta 4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26296" y="2130552"/>
            <a:ext cx="292608" cy="292608"/>
          </a:xfrm>
          <a:prstGeom prst="rect">
            <a:avLst/>
          </a:prstGeom>
        </p:spPr>
      </p:pic>
      <p:sp>
        <p:nvSpPr>
          <p:cNvPr id="21" name="Conteúdo e gestão título"/>
          <p:cNvSpPr txBox="1"/>
          <p:nvPr/>
        </p:nvSpPr>
        <p:spPr>
          <a:xfrm>
            <a:off x="7351776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Conteúdo e gestão</a:t>
            </a:r>
            <a:endParaRPr lang="en-US" sz="1700" dirty="0"/>
          </a:p>
        </p:txBody>
      </p:sp>
      <p:sp>
        <p:nvSpPr>
          <p:cNvPr id="22" name="Conteúdo e gestão texto"/>
          <p:cNvSpPr txBox="1"/>
          <p:nvPr/>
        </p:nvSpPr>
        <p:spPr>
          <a:xfrm>
            <a:off x="7351776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Telas atualizadas do celular ou do computador</a:t>
            </a:r>
            <a:endParaRPr lang="en-US" sz="1400" dirty="0"/>
          </a:p>
        </p:txBody>
      </p:sp>
      <p:sp>
        <p:nvSpPr>
          <p:cNvPr id="23" name="Suporte círculo"/>
          <p:cNvSpPr/>
          <p:nvPr/>
        </p:nvSpPr>
        <p:spPr>
          <a:xfrm>
            <a:off x="10186416" y="1828800"/>
            <a:ext cx="914400" cy="91440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24" name="Suporte ícone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15016" y="2057400"/>
            <a:ext cx="457200" cy="457200"/>
          </a:xfrm>
          <a:prstGeom prst="rect">
            <a:avLst/>
          </a:prstGeom>
        </p:spPr>
      </p:pic>
      <p:sp>
        <p:nvSpPr>
          <p:cNvPr id="25" name="Suporte título"/>
          <p:cNvSpPr txBox="1"/>
          <p:nvPr/>
        </p:nvSpPr>
        <p:spPr>
          <a:xfrm>
            <a:off x="9619488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Suporte</a:t>
            </a:r>
            <a:endParaRPr lang="en-US" sz="1700" dirty="0"/>
          </a:p>
        </p:txBody>
      </p:sp>
      <p:sp>
        <p:nvSpPr>
          <p:cNvPr id="26" name="Suporte texto"/>
          <p:cNvSpPr txBox="1"/>
          <p:nvPr/>
        </p:nvSpPr>
        <p:spPr>
          <a:xfrm>
            <a:off x="9619488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Assistência técnica para a tela não apagar</a:t>
            </a:r>
            <a:endParaRPr lang="en-US" sz="1400" dirty="0"/>
          </a:p>
        </p:txBody>
      </p:sp>
      <p:sp>
        <p:nvSpPr>
          <p:cNvPr id="27" name="Faixa venda e locação"/>
          <p:cNvSpPr/>
          <p:nvPr/>
        </p:nvSpPr>
        <p:spPr>
          <a:xfrm>
            <a:off x="548640" y="5074920"/>
            <a:ext cx="1106424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28" name="Venda ou locação"/>
          <p:cNvSpPr txBox="1"/>
          <p:nvPr/>
        </p:nvSpPr>
        <p:spPr>
          <a:xfrm>
            <a:off x="868680" y="5074920"/>
            <a:ext cx="10424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Venda ou locação: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o modelo se adapta ao seu uso, do evento de um dia à operação permanente.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Por que a LedWave</a:t>
            </a:r>
            <a:endParaRPr lang="en-US" sz="3200" dirty="0"/>
          </a:p>
        </p:txBody>
      </p:sp>
      <p:sp>
        <p:nvSpPr>
          <p:cNvPr id="3" name="Diferencial Solução 360°"/>
          <p:cNvSpPr/>
          <p:nvPr/>
        </p:nvSpPr>
        <p:spPr>
          <a:xfrm>
            <a:off x="548640" y="160020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4" name="Solução 360° círculo"/>
          <p:cNvSpPr/>
          <p:nvPr/>
        </p:nvSpPr>
        <p:spPr>
          <a:xfrm>
            <a:off x="822960" y="1874520"/>
            <a:ext cx="640080" cy="64008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5" name="Solução 360°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2034540"/>
            <a:ext cx="320040" cy="320040"/>
          </a:xfrm>
          <a:prstGeom prst="rect">
            <a:avLst/>
          </a:prstGeom>
        </p:spPr>
      </p:pic>
      <p:sp>
        <p:nvSpPr>
          <p:cNvPr id="6" name="Solução 360° título"/>
          <p:cNvSpPr txBox="1"/>
          <p:nvPr/>
        </p:nvSpPr>
        <p:spPr>
          <a:xfrm>
            <a:off x="822960" y="2606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Solução 360°</a:t>
            </a:r>
            <a:endParaRPr lang="en-US" sz="1600" dirty="0"/>
          </a:p>
        </p:txBody>
      </p:sp>
      <p:sp>
        <p:nvSpPr>
          <p:cNvPr id="7" name="Solução 360° texto"/>
          <p:cNvSpPr txBox="1"/>
          <p:nvPr/>
        </p:nvSpPr>
        <p:spPr>
          <a:xfrm>
            <a:off x="822960" y="297180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Do projeto ao conteúdo, um só parceiro</a:t>
            </a:r>
            <a:endParaRPr lang="en-US" sz="1400" dirty="0"/>
          </a:p>
        </p:txBody>
      </p:sp>
      <p:sp>
        <p:nvSpPr>
          <p:cNvPr id="8" name="Diferencial Fábrica própria"/>
          <p:cNvSpPr/>
          <p:nvPr/>
        </p:nvSpPr>
        <p:spPr>
          <a:xfrm>
            <a:off x="3364992" y="160020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9" name="Fábrica própria círculo"/>
          <p:cNvSpPr/>
          <p:nvPr/>
        </p:nvSpPr>
        <p:spPr>
          <a:xfrm>
            <a:off x="3639312" y="1874520"/>
            <a:ext cx="640080" cy="640080"/>
          </a:xfrm>
          <a:prstGeom prst="ellipse">
            <a:avLst/>
          </a:prstGeom>
          <a:solidFill>
            <a:srgbClr val="E011FF"/>
          </a:solidFill>
          <a:ln/>
        </p:spPr>
      </p:sp>
      <p:pic>
        <p:nvPicPr>
          <p:cNvPr id="10" name="Fábrica própria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9332" y="2034540"/>
            <a:ext cx="320040" cy="320040"/>
          </a:xfrm>
          <a:prstGeom prst="rect">
            <a:avLst/>
          </a:prstGeom>
        </p:spPr>
      </p:pic>
      <p:sp>
        <p:nvSpPr>
          <p:cNvPr id="11" name="Fábrica própria título"/>
          <p:cNvSpPr txBox="1"/>
          <p:nvPr/>
        </p:nvSpPr>
        <p:spPr>
          <a:xfrm>
            <a:off x="3639312" y="2606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Fábrica própria</a:t>
            </a:r>
            <a:endParaRPr lang="en-US" sz="1600" dirty="0"/>
          </a:p>
        </p:txBody>
      </p:sp>
      <p:sp>
        <p:nvSpPr>
          <p:cNvPr id="12" name="Fábrica própria texto"/>
          <p:cNvSpPr txBox="1"/>
          <p:nvPr/>
        </p:nvSpPr>
        <p:spPr>
          <a:xfrm>
            <a:off x="3639312" y="297180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Linha de produção no Brasil, em Goiânia</a:t>
            </a:r>
            <a:endParaRPr lang="en-US" sz="1400" dirty="0"/>
          </a:p>
        </p:txBody>
      </p:sp>
      <p:sp>
        <p:nvSpPr>
          <p:cNvPr id="13" name="Diferencial Venda ou locação"/>
          <p:cNvSpPr/>
          <p:nvPr/>
        </p:nvSpPr>
        <p:spPr>
          <a:xfrm>
            <a:off x="6181344" y="160020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14" name="Venda ou locação círculo"/>
          <p:cNvSpPr/>
          <p:nvPr/>
        </p:nvSpPr>
        <p:spPr>
          <a:xfrm>
            <a:off x="6455664" y="1874520"/>
            <a:ext cx="640080" cy="64008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15" name="Venda ou locação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5684" y="2034540"/>
            <a:ext cx="320040" cy="320040"/>
          </a:xfrm>
          <a:prstGeom prst="rect">
            <a:avLst/>
          </a:prstGeom>
        </p:spPr>
      </p:pic>
      <p:sp>
        <p:nvSpPr>
          <p:cNvPr id="16" name="Venda ou locação título"/>
          <p:cNvSpPr txBox="1"/>
          <p:nvPr/>
        </p:nvSpPr>
        <p:spPr>
          <a:xfrm>
            <a:off x="6455664" y="2606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Venda ou locação</a:t>
            </a:r>
            <a:endParaRPr lang="en-US" sz="1600" dirty="0"/>
          </a:p>
        </p:txBody>
      </p:sp>
      <p:sp>
        <p:nvSpPr>
          <p:cNvPr id="17" name="Venda ou locação texto"/>
          <p:cNvSpPr txBox="1"/>
          <p:nvPr/>
        </p:nvSpPr>
        <p:spPr>
          <a:xfrm>
            <a:off x="6455664" y="297180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O modelo comercial que cabe no seu negócio</a:t>
            </a:r>
            <a:endParaRPr lang="en-US" sz="1400" dirty="0"/>
          </a:p>
        </p:txBody>
      </p:sp>
      <p:sp>
        <p:nvSpPr>
          <p:cNvPr id="18" name="Diferencial Estoque próprio"/>
          <p:cNvSpPr/>
          <p:nvPr/>
        </p:nvSpPr>
        <p:spPr>
          <a:xfrm>
            <a:off x="8997696" y="160020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19" name="Estoque próprio círculo"/>
          <p:cNvSpPr/>
          <p:nvPr/>
        </p:nvSpPr>
        <p:spPr>
          <a:xfrm>
            <a:off x="9272016" y="1874520"/>
            <a:ext cx="640080" cy="640080"/>
          </a:xfrm>
          <a:prstGeom prst="ellipse">
            <a:avLst/>
          </a:prstGeom>
          <a:solidFill>
            <a:srgbClr val="E011FF"/>
          </a:solidFill>
          <a:ln/>
        </p:spPr>
      </p:sp>
      <p:pic>
        <p:nvPicPr>
          <p:cNvPr id="20" name="Estoque próprio ícon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32036" y="2034540"/>
            <a:ext cx="320040" cy="320040"/>
          </a:xfrm>
          <a:prstGeom prst="rect">
            <a:avLst/>
          </a:prstGeom>
        </p:spPr>
      </p:pic>
      <p:sp>
        <p:nvSpPr>
          <p:cNvPr id="21" name="Estoque próprio título"/>
          <p:cNvSpPr txBox="1"/>
          <p:nvPr/>
        </p:nvSpPr>
        <p:spPr>
          <a:xfrm>
            <a:off x="9272016" y="2606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Estoque próprio</a:t>
            </a:r>
            <a:endParaRPr lang="en-US" sz="1600" dirty="0"/>
          </a:p>
        </p:txBody>
      </p:sp>
      <p:sp>
        <p:nvSpPr>
          <p:cNvPr id="22" name="Estoque próprio texto"/>
          <p:cNvSpPr txBox="1"/>
          <p:nvPr/>
        </p:nvSpPr>
        <p:spPr>
          <a:xfrm>
            <a:off x="9272016" y="297180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Menos espera entre a assinatura e a tela acesa</a:t>
            </a:r>
            <a:endParaRPr lang="en-US" sz="1400" dirty="0"/>
          </a:p>
        </p:txBody>
      </p:sp>
      <p:sp>
        <p:nvSpPr>
          <p:cNvPr id="23" name="Diferencial Atendimento nacional"/>
          <p:cNvSpPr/>
          <p:nvPr/>
        </p:nvSpPr>
        <p:spPr>
          <a:xfrm>
            <a:off x="548640" y="384048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24" name="Atendimento nacional círculo"/>
          <p:cNvSpPr/>
          <p:nvPr/>
        </p:nvSpPr>
        <p:spPr>
          <a:xfrm>
            <a:off x="822960" y="4114800"/>
            <a:ext cx="640080" cy="64008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25" name="Atendimento nacional ícon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2980" y="4274820"/>
            <a:ext cx="320040" cy="320040"/>
          </a:xfrm>
          <a:prstGeom prst="rect">
            <a:avLst/>
          </a:prstGeom>
        </p:spPr>
      </p:pic>
      <p:sp>
        <p:nvSpPr>
          <p:cNvPr id="26" name="Atendimento nacional título"/>
          <p:cNvSpPr txBox="1"/>
          <p:nvPr/>
        </p:nvSpPr>
        <p:spPr>
          <a:xfrm>
            <a:off x="822960" y="48463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Atendimento nacional</a:t>
            </a:r>
            <a:endParaRPr lang="en-US" sz="1600" dirty="0"/>
          </a:p>
        </p:txBody>
      </p:sp>
      <p:sp>
        <p:nvSpPr>
          <p:cNvPr id="27" name="Atendimento nacional texto"/>
          <p:cNvSpPr txBox="1"/>
          <p:nvPr/>
        </p:nvSpPr>
        <p:spPr>
          <a:xfrm>
            <a:off x="822960" y="52120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Goiânia, São Paulo, Brasília e Orlando (EUA)</a:t>
            </a:r>
            <a:endParaRPr lang="en-US" sz="1400" dirty="0"/>
          </a:p>
        </p:txBody>
      </p:sp>
      <p:sp>
        <p:nvSpPr>
          <p:cNvPr id="28" name="Diferencial Sob medida"/>
          <p:cNvSpPr/>
          <p:nvPr/>
        </p:nvSpPr>
        <p:spPr>
          <a:xfrm>
            <a:off x="3364992" y="384048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29" name="Sob medida círculo"/>
          <p:cNvSpPr/>
          <p:nvPr/>
        </p:nvSpPr>
        <p:spPr>
          <a:xfrm>
            <a:off x="3639312" y="4114800"/>
            <a:ext cx="640080" cy="640080"/>
          </a:xfrm>
          <a:prstGeom prst="ellipse">
            <a:avLst/>
          </a:prstGeom>
          <a:solidFill>
            <a:srgbClr val="E011FF"/>
          </a:solidFill>
          <a:ln/>
        </p:spPr>
      </p:sp>
      <p:pic>
        <p:nvPicPr>
          <p:cNvPr id="30" name="Sob medida ícone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99332" y="4274820"/>
            <a:ext cx="320040" cy="320040"/>
          </a:xfrm>
          <a:prstGeom prst="rect">
            <a:avLst/>
          </a:prstGeom>
        </p:spPr>
      </p:pic>
      <p:sp>
        <p:nvSpPr>
          <p:cNvPr id="31" name="Sob medida título"/>
          <p:cNvSpPr txBox="1"/>
          <p:nvPr/>
        </p:nvSpPr>
        <p:spPr>
          <a:xfrm>
            <a:off x="3639312" y="48463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Sob medida</a:t>
            </a:r>
            <a:endParaRPr lang="en-US" sz="1600" dirty="0"/>
          </a:p>
        </p:txBody>
      </p:sp>
      <p:sp>
        <p:nvSpPr>
          <p:cNvPr id="32" name="Sob medida texto"/>
          <p:cNvSpPr txBox="1"/>
          <p:nvPr/>
        </p:nvSpPr>
        <p:spPr>
          <a:xfrm>
            <a:off x="3639312" y="52120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Formato e resolução para o seu espaço</a:t>
            </a:r>
            <a:endParaRPr lang="en-US" sz="1400" dirty="0"/>
          </a:p>
        </p:txBody>
      </p:sp>
      <p:sp>
        <p:nvSpPr>
          <p:cNvPr id="33" name="Diferencial Software de gestão"/>
          <p:cNvSpPr/>
          <p:nvPr/>
        </p:nvSpPr>
        <p:spPr>
          <a:xfrm>
            <a:off x="6181344" y="384048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34" name="Software de gestão círculo"/>
          <p:cNvSpPr/>
          <p:nvPr/>
        </p:nvSpPr>
        <p:spPr>
          <a:xfrm>
            <a:off x="6455664" y="4114800"/>
            <a:ext cx="640080" cy="64008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35" name="Software de gestão ícone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15684" y="4274820"/>
            <a:ext cx="320040" cy="320040"/>
          </a:xfrm>
          <a:prstGeom prst="rect">
            <a:avLst/>
          </a:prstGeom>
        </p:spPr>
      </p:pic>
      <p:sp>
        <p:nvSpPr>
          <p:cNvPr id="36" name="Software de gestão título"/>
          <p:cNvSpPr txBox="1"/>
          <p:nvPr/>
        </p:nvSpPr>
        <p:spPr>
          <a:xfrm>
            <a:off x="6455664" y="48463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Software de gestão</a:t>
            </a:r>
            <a:endParaRPr lang="en-US" sz="1600" dirty="0"/>
          </a:p>
        </p:txBody>
      </p:sp>
      <p:sp>
        <p:nvSpPr>
          <p:cNvPr id="37" name="Software de gestão texto"/>
          <p:cNvSpPr txBox="1"/>
          <p:nvPr/>
        </p:nvSpPr>
        <p:spPr>
          <a:xfrm>
            <a:off x="6455664" y="52120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Conteúdo e venda programática de mídia</a:t>
            </a:r>
            <a:endParaRPr lang="en-US" sz="1400" dirty="0"/>
          </a:p>
        </p:txBody>
      </p:sp>
      <p:sp>
        <p:nvSpPr>
          <p:cNvPr id="38" name="Diferencial Garantia e suporte"/>
          <p:cNvSpPr/>
          <p:nvPr/>
        </p:nvSpPr>
        <p:spPr>
          <a:xfrm>
            <a:off x="8997696" y="384048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39" name="Garantia e suporte círculo"/>
          <p:cNvSpPr/>
          <p:nvPr/>
        </p:nvSpPr>
        <p:spPr>
          <a:xfrm>
            <a:off x="9272016" y="4114800"/>
            <a:ext cx="640080" cy="640080"/>
          </a:xfrm>
          <a:prstGeom prst="ellipse">
            <a:avLst/>
          </a:prstGeom>
          <a:solidFill>
            <a:srgbClr val="E011FF"/>
          </a:solidFill>
          <a:ln/>
        </p:spPr>
      </p:sp>
      <p:pic>
        <p:nvPicPr>
          <p:cNvPr id="40" name="Garantia e suporte ícone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32036" y="4274820"/>
            <a:ext cx="320040" cy="320040"/>
          </a:xfrm>
          <a:prstGeom prst="rect">
            <a:avLst/>
          </a:prstGeom>
        </p:spPr>
      </p:pic>
      <p:sp>
        <p:nvSpPr>
          <p:cNvPr id="41" name="Garantia e suporte título"/>
          <p:cNvSpPr txBox="1"/>
          <p:nvPr/>
        </p:nvSpPr>
        <p:spPr>
          <a:xfrm>
            <a:off x="9272016" y="48463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Garantia e suporte</a:t>
            </a:r>
            <a:endParaRPr lang="en-US" sz="1600" dirty="0"/>
          </a:p>
        </p:txBody>
      </p:sp>
      <p:sp>
        <p:nvSpPr>
          <p:cNvPr id="42" name="Garantia e suporte texto"/>
          <p:cNvSpPr txBox="1"/>
          <p:nvPr/>
        </p:nvSpPr>
        <p:spPr>
          <a:xfrm>
            <a:off x="9272016" y="52120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Equipe técnica própria para a tela não apagar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Quem confia na LedWave</a:t>
            </a:r>
            <a:endParaRPr lang="en-US" sz="3200" dirty="0"/>
          </a:p>
        </p:txBody>
      </p:sp>
      <p:sp>
        <p:nvSpPr>
          <p:cNvPr id="3" name="Marca Nordestão"/>
          <p:cNvSpPr/>
          <p:nvPr/>
        </p:nvSpPr>
        <p:spPr>
          <a:xfrm>
            <a:off x="548640" y="155448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4" name="Marca nome 1"/>
          <p:cNvSpPr txBox="1"/>
          <p:nvPr/>
        </p:nvSpPr>
        <p:spPr>
          <a:xfrm>
            <a:off x="548640" y="155448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Nordestão</a:t>
            </a:r>
            <a:endParaRPr lang="en-US" sz="2200" dirty="0"/>
          </a:p>
        </p:txBody>
      </p:sp>
      <p:sp>
        <p:nvSpPr>
          <p:cNvPr id="5" name="Marca Rosewood"/>
          <p:cNvSpPr/>
          <p:nvPr/>
        </p:nvSpPr>
        <p:spPr>
          <a:xfrm>
            <a:off x="4297680" y="155448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6" name="Marca nome 2"/>
          <p:cNvSpPr txBox="1"/>
          <p:nvPr/>
        </p:nvSpPr>
        <p:spPr>
          <a:xfrm>
            <a:off x="4297680" y="155448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Rosewood</a:t>
            </a:r>
            <a:endParaRPr lang="en-US" sz="2200" dirty="0"/>
          </a:p>
        </p:txBody>
      </p:sp>
      <p:sp>
        <p:nvSpPr>
          <p:cNvPr id="7" name="Marca Beto Carrero World"/>
          <p:cNvSpPr/>
          <p:nvPr/>
        </p:nvSpPr>
        <p:spPr>
          <a:xfrm>
            <a:off x="8046720" y="155448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8" name="Marca nome 3"/>
          <p:cNvSpPr txBox="1"/>
          <p:nvPr/>
        </p:nvSpPr>
        <p:spPr>
          <a:xfrm>
            <a:off x="8046720" y="155448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Beto Carrero World</a:t>
            </a:r>
            <a:endParaRPr lang="en-US" sz="2200" dirty="0"/>
          </a:p>
        </p:txBody>
      </p:sp>
      <p:sp>
        <p:nvSpPr>
          <p:cNvPr id="9" name="Marca Museu do Amanhã"/>
          <p:cNvSpPr/>
          <p:nvPr/>
        </p:nvSpPr>
        <p:spPr>
          <a:xfrm>
            <a:off x="548640" y="260604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10" name="Marca nome 4"/>
          <p:cNvSpPr txBox="1"/>
          <p:nvPr/>
        </p:nvSpPr>
        <p:spPr>
          <a:xfrm>
            <a:off x="548640" y="260604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Museu do Amanhã</a:t>
            </a:r>
            <a:endParaRPr lang="en-US" sz="2200" dirty="0"/>
          </a:p>
        </p:txBody>
      </p:sp>
      <p:sp>
        <p:nvSpPr>
          <p:cNvPr id="11" name="Marca Animalia"/>
          <p:cNvSpPr/>
          <p:nvPr/>
        </p:nvSpPr>
        <p:spPr>
          <a:xfrm>
            <a:off x="4297680" y="260604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12" name="Marca nome 5"/>
          <p:cNvSpPr txBox="1"/>
          <p:nvPr/>
        </p:nvSpPr>
        <p:spPr>
          <a:xfrm>
            <a:off x="4297680" y="260604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Animalia</a:t>
            </a:r>
            <a:endParaRPr lang="en-US" sz="2200" dirty="0"/>
          </a:p>
        </p:txBody>
      </p:sp>
      <p:sp>
        <p:nvSpPr>
          <p:cNvPr id="13" name="Marca Volkswagen"/>
          <p:cNvSpPr/>
          <p:nvPr/>
        </p:nvSpPr>
        <p:spPr>
          <a:xfrm>
            <a:off x="8046720" y="260604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14" name="Marca nome 6"/>
          <p:cNvSpPr txBox="1"/>
          <p:nvPr/>
        </p:nvSpPr>
        <p:spPr>
          <a:xfrm>
            <a:off x="8046720" y="260604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Volkswagen</a:t>
            </a:r>
            <a:endParaRPr lang="en-US" sz="2200" dirty="0"/>
          </a:p>
        </p:txBody>
      </p:sp>
      <p:sp>
        <p:nvSpPr>
          <p:cNvPr id="15" name="Ranking Exame círculo"/>
          <p:cNvSpPr/>
          <p:nvPr/>
        </p:nvSpPr>
        <p:spPr>
          <a:xfrm>
            <a:off x="548640" y="4069080"/>
            <a:ext cx="777240" cy="77724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16" name="Ranking Exame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2950" y="4263390"/>
            <a:ext cx="388620" cy="388620"/>
          </a:xfrm>
          <a:prstGeom prst="rect">
            <a:avLst/>
          </a:prstGeom>
        </p:spPr>
      </p:pic>
      <p:sp>
        <p:nvSpPr>
          <p:cNvPr id="17" name="Ranking Exame título"/>
          <p:cNvSpPr txBox="1"/>
          <p:nvPr/>
        </p:nvSpPr>
        <p:spPr>
          <a:xfrm>
            <a:off x="1508760" y="406908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Ranking Exame</a:t>
            </a:r>
            <a:endParaRPr lang="en-US" sz="1700" dirty="0"/>
          </a:p>
        </p:txBody>
      </p:sp>
      <p:sp>
        <p:nvSpPr>
          <p:cNvPr id="18" name="Ranking Exame texto"/>
          <p:cNvSpPr txBox="1"/>
          <p:nvPr/>
        </p:nvSpPr>
        <p:spPr>
          <a:xfrm>
            <a:off x="1508760" y="452628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4 anos seguidos, nº 1 do segmento em 2025</a:t>
            </a:r>
            <a:endParaRPr lang="en-US" sz="1400" dirty="0"/>
          </a:p>
        </p:txBody>
      </p:sp>
      <p:sp>
        <p:nvSpPr>
          <p:cNvPr id="19" name="ABF Expo círculo"/>
          <p:cNvSpPr/>
          <p:nvPr/>
        </p:nvSpPr>
        <p:spPr>
          <a:xfrm>
            <a:off x="4297680" y="4069080"/>
            <a:ext cx="777240" cy="77724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20" name="ABF Expo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1990" y="4263390"/>
            <a:ext cx="388620" cy="388620"/>
          </a:xfrm>
          <a:prstGeom prst="rect">
            <a:avLst/>
          </a:prstGeom>
        </p:spPr>
      </p:pic>
      <p:sp>
        <p:nvSpPr>
          <p:cNvPr id="21" name="ABF Expo título"/>
          <p:cNvSpPr txBox="1"/>
          <p:nvPr/>
        </p:nvSpPr>
        <p:spPr>
          <a:xfrm>
            <a:off x="5257800" y="406908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ABF Expo</a:t>
            </a:r>
            <a:endParaRPr lang="en-US" sz="1700" dirty="0"/>
          </a:p>
        </p:txBody>
      </p:sp>
      <p:sp>
        <p:nvSpPr>
          <p:cNvPr id="22" name="ABF Expo texto"/>
          <p:cNvSpPr txBox="1"/>
          <p:nvPr/>
        </p:nvSpPr>
        <p:spPr>
          <a:xfrm>
            <a:off x="5257800" y="452628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Parceira oficial da maior feira de franquias do país</a:t>
            </a:r>
            <a:endParaRPr lang="en-US" sz="1400" dirty="0"/>
          </a:p>
        </p:txBody>
      </p:sp>
      <p:sp>
        <p:nvSpPr>
          <p:cNvPr id="23" name="NRF 2026, Nova York círculo"/>
          <p:cNvSpPr/>
          <p:nvPr/>
        </p:nvSpPr>
        <p:spPr>
          <a:xfrm>
            <a:off x="8046720" y="4069080"/>
            <a:ext cx="777240" cy="77724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24" name="NRF 2026, Nova York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1030" y="4263390"/>
            <a:ext cx="388620" cy="388620"/>
          </a:xfrm>
          <a:prstGeom prst="rect">
            <a:avLst/>
          </a:prstGeom>
        </p:spPr>
      </p:pic>
      <p:sp>
        <p:nvSpPr>
          <p:cNvPr id="25" name="NRF 2026, Nova York título"/>
          <p:cNvSpPr txBox="1"/>
          <p:nvPr/>
        </p:nvSpPr>
        <p:spPr>
          <a:xfrm>
            <a:off x="9006840" y="406908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NRF 2026, Nova York</a:t>
            </a:r>
            <a:endParaRPr lang="en-US" sz="1700" dirty="0"/>
          </a:p>
        </p:txBody>
      </p:sp>
      <p:sp>
        <p:nvSpPr>
          <p:cNvPr id="26" name="NRF 2026, Nova York texto"/>
          <p:cNvSpPr txBox="1"/>
          <p:nvPr/>
        </p:nvSpPr>
        <p:spPr>
          <a:xfrm>
            <a:off x="9006840" y="452628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Estande próprio na maior feira de varejo do mundo</a:t>
            </a:r>
            <a:endParaRPr lang="en-US" sz="1400" dirty="0"/>
          </a:p>
        </p:txBody>
      </p:sp>
      <p:sp>
        <p:nvSpPr>
          <p:cNvPr id="27" name="Instrução logos"/>
          <p:cNvSpPr txBox="1"/>
          <p:nvPr/>
        </p:nvSpPr>
        <p:spPr>
          <a:xfrm>
            <a:off x="548640" y="57150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7A7A7A"/>
                </a:solidFill>
              </a:rPr>
              <a:t>Troque os nomes pelos logos oficiais dos clientes antes de enviar o arquivo.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Por que digitalizar o seu espaço</a:t>
            </a:r>
            <a:endParaRPr lang="en-US" sz="18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822960" y="2011680"/>
            <a:ext cx="8229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Fazer o posto ser visto, escolhido e lembrado, e transformar a rodovia em audiência paga.</a:t>
            </a:r>
            <a:endParaRPr lang="en-US" sz="3200" dirty="0"/>
          </a:p>
        </p:txBody>
      </p:sp>
      <p:sp>
        <p:nvSpPr>
          <p:cNvPr id="4" name="Propósito círculo"/>
          <p:cNvSpPr/>
          <p:nvPr/>
        </p:nvSpPr>
        <p:spPr>
          <a:xfrm>
            <a:off x="9692640" y="2103120"/>
            <a:ext cx="1737360" cy="1737360"/>
          </a:xfrm>
          <a:prstGeom prst="ellipse">
            <a:avLst/>
          </a:prstGeom>
          <a:solidFill>
            <a:srgbClr val="E011FF"/>
          </a:solidFill>
          <a:ln/>
        </p:spPr>
      </p:sp>
      <p:pic>
        <p:nvPicPr>
          <p:cNvPr id="5" name="Propósit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6980" y="2537460"/>
            <a:ext cx="868680" cy="868680"/>
          </a:xfrm>
          <a:prstGeom prst="rect">
            <a:avLst/>
          </a:prstGeom>
        </p:spPr>
      </p:pic>
      <p:sp>
        <p:nvSpPr>
          <p:cNvPr id="6" name="Propósito de compra 1"/>
          <p:cNvSpPr/>
          <p:nvPr/>
        </p:nvSpPr>
        <p:spPr>
          <a:xfrm>
            <a:off x="822960" y="5486400"/>
            <a:ext cx="2468880" cy="502920"/>
          </a:xfrm>
          <a:prstGeom prst="roundRect">
            <a:avLst>
              <a:gd name="adj" fmla="val 49091"/>
            </a:avLst>
          </a:prstGeom>
          <a:solidFill>
            <a:schemeClr val="tx1"/>
          </a:solidFill>
          <a:ln w="19050">
            <a:solidFill>
              <a:srgbClr val="E011FF"/>
            </a:solidFill>
            <a:prstDash val="solid"/>
          </a:ln>
        </p:spPr>
      </p:sp>
      <p:sp>
        <p:nvSpPr>
          <p:cNvPr id="7" name="Propósito de compra texto 1"/>
          <p:cNvSpPr txBox="1"/>
          <p:nvPr/>
        </p:nvSpPr>
        <p:spPr>
          <a:xfrm>
            <a:off x="822960" y="54864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Mídia</a:t>
            </a:r>
            <a:endParaRPr lang="en-US" sz="1400" dirty="0"/>
          </a:p>
        </p:txBody>
      </p:sp>
      <p:sp>
        <p:nvSpPr>
          <p:cNvPr id="8" name="Propósito de compra 2"/>
          <p:cNvSpPr/>
          <p:nvPr/>
        </p:nvSpPr>
        <p:spPr>
          <a:xfrm>
            <a:off x="3474720" y="5486400"/>
            <a:ext cx="2468880" cy="502920"/>
          </a:xfrm>
          <a:prstGeom prst="roundRect">
            <a:avLst>
              <a:gd name="adj" fmla="val 49091"/>
            </a:avLst>
          </a:prstGeom>
          <a:solidFill>
            <a:schemeClr val="tx1"/>
          </a:solidFill>
          <a:ln w="19050">
            <a:solidFill>
              <a:srgbClr val="E011FF"/>
            </a:solidFill>
            <a:prstDash val="solid"/>
          </a:ln>
        </p:spPr>
      </p:sp>
      <p:sp>
        <p:nvSpPr>
          <p:cNvPr id="9" name="Propósito de compra texto 2"/>
          <p:cNvSpPr txBox="1"/>
          <p:nvPr/>
        </p:nvSpPr>
        <p:spPr>
          <a:xfrm>
            <a:off x="3474720" y="54864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Eficiência operacional</a:t>
            </a:r>
            <a:endParaRPr lang="en-US" sz="1400" dirty="0"/>
          </a:p>
        </p:txBody>
      </p:sp>
      <p:sp>
        <p:nvSpPr>
          <p:cNvPr id="10" name="Propósito de compra 3"/>
          <p:cNvSpPr/>
          <p:nvPr/>
        </p:nvSpPr>
        <p:spPr>
          <a:xfrm>
            <a:off x="6126480" y="5486400"/>
            <a:ext cx="2468880" cy="502920"/>
          </a:xfrm>
          <a:prstGeom prst="roundRect">
            <a:avLst>
              <a:gd name="adj" fmla="val 49091"/>
            </a:avLst>
          </a:prstGeom>
          <a:solidFill>
            <a:schemeClr val="tx1"/>
          </a:solidFill>
          <a:ln w="19050">
            <a:solidFill>
              <a:srgbClr val="E011FF"/>
            </a:solidFill>
            <a:prstDash val="solid"/>
          </a:ln>
        </p:spPr>
      </p:sp>
      <p:sp>
        <p:nvSpPr>
          <p:cNvPr id="11" name="Propósito de compra texto 3"/>
          <p:cNvSpPr txBox="1"/>
          <p:nvPr/>
        </p:nvSpPr>
        <p:spPr>
          <a:xfrm>
            <a:off x="6126480" y="54864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Branding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Imagine o seu espaço</a:t>
            </a:r>
            <a:endParaRPr lang="en-US" sz="3200" dirty="0"/>
          </a:p>
        </p:txBody>
      </p:sp>
      <p:sp>
        <p:nvSpPr>
          <p:cNvPr id="3" name="História"/>
          <p:cNvSpPr txBox="1"/>
          <p:nvPr/>
        </p:nvSpPr>
        <p:spPr>
          <a:xfrm>
            <a:off x="548640" y="1691640"/>
            <a:ext cx="49377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Duas placas na estrada à noite: uma de preço fixo, apagada; outra com preço, promoção de café + pão de queijo e a marca em movimento. Qual delas faz o motorista dar seta?</a:t>
            </a:r>
            <a:endParaRPr lang="en-US" sz="1800" dirty="0"/>
          </a:p>
        </p:txBody>
      </p:sp>
      <p:sp>
        <p:nvSpPr>
          <p:cNvPr id="4" name="Frase de efeito"/>
          <p:cNvSpPr txBox="1"/>
          <p:nvPr/>
        </p:nvSpPr>
        <p:spPr>
          <a:xfrm>
            <a:off x="548640" y="502920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i="1" dirty="0">
                <a:solidFill>
                  <a:schemeClr val="accent1"/>
                </a:solidFill>
              </a:rPr>
              <a:t>Na estrada, quem não é visto não é abastecido.</a:t>
            </a:r>
            <a:endParaRPr lang="en-US" sz="2000" dirty="0"/>
          </a:p>
        </p:txBody>
      </p:sp>
      <p:sp>
        <p:nvSpPr>
          <p:cNvPr id="5" name="Área da simulação"/>
          <p:cNvSpPr/>
          <p:nvPr/>
        </p:nvSpPr>
        <p:spPr>
          <a:xfrm>
            <a:off x="5943600" y="1600200"/>
            <a:ext cx="5669280" cy="4343400"/>
          </a:xfrm>
          <a:prstGeom prst="roundRect">
            <a:avLst>
              <a:gd name="adj" fmla="val 2526"/>
            </a:avLst>
          </a:prstGeom>
          <a:solidFill>
            <a:schemeClr val="bg2"/>
          </a:solidFill>
          <a:ln w="19050">
            <a:solidFill>
              <a:srgbClr val="658DFF"/>
            </a:solidFill>
            <a:prstDash val="dash"/>
          </a:ln>
        </p:spPr>
      </p:sp>
      <p:sp>
        <p:nvSpPr>
          <p:cNvPr id="6" name="Simulação círculo"/>
          <p:cNvSpPr/>
          <p:nvPr/>
        </p:nvSpPr>
        <p:spPr>
          <a:xfrm>
            <a:off x="8366760" y="2743200"/>
            <a:ext cx="822960" cy="822960"/>
          </a:xfrm>
          <a:prstGeom prst="ellipse">
            <a:avLst/>
          </a:prstGeom>
          <a:solidFill>
            <a:srgbClr val="658DFF"/>
          </a:solidFill>
          <a:ln/>
        </p:spPr>
      </p:sp>
      <p:pic>
        <p:nvPicPr>
          <p:cNvPr id="7" name="Simulaçã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72500" y="2948940"/>
            <a:ext cx="411480" cy="411480"/>
          </a:xfrm>
          <a:prstGeom prst="rect">
            <a:avLst/>
          </a:prstGeom>
        </p:spPr>
      </p:pic>
      <p:sp>
        <p:nvSpPr>
          <p:cNvPr id="8" name="Instrução simulação"/>
          <p:cNvSpPr txBox="1"/>
          <p:nvPr/>
        </p:nvSpPr>
        <p:spPr>
          <a:xfrm>
            <a:off x="6217920" y="374904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Simulação do painel no espaço do cliente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(insira aqui o mockup antes da reunião)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Três ganhos para o seu negócio</a:t>
            </a:r>
            <a:endParaRPr lang="en-US" sz="3200" dirty="0"/>
          </a:p>
        </p:txBody>
      </p:sp>
      <p:sp>
        <p:nvSpPr>
          <p:cNvPr id="3" name="Ganho Mais receita"/>
          <p:cNvSpPr/>
          <p:nvPr/>
        </p:nvSpPr>
        <p:spPr>
          <a:xfrm>
            <a:off x="548640" y="1600200"/>
            <a:ext cx="3474720" cy="43891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4" name="Mais receita círculo"/>
          <p:cNvSpPr/>
          <p:nvPr/>
        </p:nvSpPr>
        <p:spPr>
          <a:xfrm>
            <a:off x="868680" y="1920240"/>
            <a:ext cx="868680" cy="868680"/>
          </a:xfrm>
          <a:prstGeom prst="ellipse">
            <a:avLst/>
          </a:prstGeom>
          <a:solidFill>
            <a:srgbClr val="E011FF"/>
          </a:solidFill>
          <a:ln/>
        </p:spPr>
      </p:sp>
      <p:pic>
        <p:nvPicPr>
          <p:cNvPr id="5" name="Mais receita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5850" y="2137410"/>
            <a:ext cx="434340" cy="434340"/>
          </a:xfrm>
          <a:prstGeom prst="rect">
            <a:avLst/>
          </a:prstGeom>
        </p:spPr>
      </p:pic>
      <p:sp>
        <p:nvSpPr>
          <p:cNvPr id="6" name="Mais receita título"/>
          <p:cNvSpPr txBox="1"/>
          <p:nvPr/>
        </p:nvSpPr>
        <p:spPr>
          <a:xfrm>
            <a:off x="868680" y="2971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Mais receita</a:t>
            </a:r>
            <a:endParaRPr lang="en-US" sz="2100" dirty="0"/>
          </a:p>
        </p:txBody>
      </p:sp>
      <p:sp>
        <p:nvSpPr>
          <p:cNvPr id="7" name="Mais receita texto"/>
          <p:cNvSpPr txBox="1"/>
          <p:nvPr/>
        </p:nvSpPr>
        <p:spPr>
          <a:xfrm>
            <a:off x="868680" y="3520440"/>
            <a:ext cx="2834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Mídia DOOH para anunciantes locais e regionais na pista; promoções da conveniência e serviços (lavagem, troca de óleo) que aumentam ticket.</a:t>
            </a:r>
            <a:endParaRPr lang="en-US" sz="1500" dirty="0"/>
          </a:p>
        </p:txBody>
      </p:sp>
      <p:sp>
        <p:nvSpPr>
          <p:cNvPr id="8" name="Ganho Mais experiência"/>
          <p:cNvSpPr/>
          <p:nvPr/>
        </p:nvSpPr>
        <p:spPr>
          <a:xfrm>
            <a:off x="4297680" y="1600200"/>
            <a:ext cx="3474720" cy="43891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9" name="Mais experiência círculo"/>
          <p:cNvSpPr/>
          <p:nvPr/>
        </p:nvSpPr>
        <p:spPr>
          <a:xfrm>
            <a:off x="4617720" y="1920240"/>
            <a:ext cx="868680" cy="868680"/>
          </a:xfrm>
          <a:prstGeom prst="ellipse">
            <a:avLst/>
          </a:prstGeom>
          <a:solidFill>
            <a:srgbClr val="8A5CF6"/>
          </a:solidFill>
          <a:ln/>
        </p:spPr>
      </p:sp>
      <p:pic>
        <p:nvPicPr>
          <p:cNvPr id="10" name="Mais experiência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4890" y="2137410"/>
            <a:ext cx="434340" cy="434340"/>
          </a:xfrm>
          <a:prstGeom prst="rect">
            <a:avLst/>
          </a:prstGeom>
        </p:spPr>
      </p:pic>
      <p:sp>
        <p:nvSpPr>
          <p:cNvPr id="11" name="Mais experiência título"/>
          <p:cNvSpPr txBox="1"/>
          <p:nvPr/>
        </p:nvSpPr>
        <p:spPr>
          <a:xfrm>
            <a:off x="4617720" y="2971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Mais experiência</a:t>
            </a:r>
            <a:endParaRPr lang="en-US" sz="2100" dirty="0"/>
          </a:p>
        </p:txBody>
      </p:sp>
      <p:sp>
        <p:nvSpPr>
          <p:cNvPr id="12" name="Mais experiência texto"/>
          <p:cNvSpPr txBox="1"/>
          <p:nvPr/>
        </p:nvSpPr>
        <p:spPr>
          <a:xfrm>
            <a:off x="4617720" y="3520440"/>
            <a:ext cx="2834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Posto moderno, iluminado e seguro à noite, percepção de marca forte na rodovia.</a:t>
            </a:r>
            <a:endParaRPr lang="en-US" sz="1500" dirty="0"/>
          </a:p>
        </p:txBody>
      </p:sp>
      <p:sp>
        <p:nvSpPr>
          <p:cNvPr id="13" name="Ganho Menos custo"/>
          <p:cNvSpPr/>
          <p:nvPr/>
        </p:nvSpPr>
        <p:spPr>
          <a:xfrm>
            <a:off x="8046720" y="1600200"/>
            <a:ext cx="3474720" cy="43891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14" name="Menos custo círculo"/>
          <p:cNvSpPr/>
          <p:nvPr/>
        </p:nvSpPr>
        <p:spPr>
          <a:xfrm>
            <a:off x="8366760" y="1920240"/>
            <a:ext cx="868680" cy="868680"/>
          </a:xfrm>
          <a:prstGeom prst="ellipse">
            <a:avLst/>
          </a:prstGeom>
          <a:solidFill>
            <a:srgbClr val="658DFF"/>
          </a:solidFill>
          <a:ln/>
        </p:spPr>
      </p:sp>
      <p:pic>
        <p:nvPicPr>
          <p:cNvPr id="15" name="Menos custo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3930" y="2137410"/>
            <a:ext cx="434340" cy="434340"/>
          </a:xfrm>
          <a:prstGeom prst="rect">
            <a:avLst/>
          </a:prstGeom>
        </p:spPr>
      </p:pic>
      <p:sp>
        <p:nvSpPr>
          <p:cNvPr id="16" name="Menos custo título"/>
          <p:cNvSpPr txBox="1"/>
          <p:nvPr/>
        </p:nvSpPr>
        <p:spPr>
          <a:xfrm>
            <a:off x="8366760" y="2971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Menos custo</a:t>
            </a:r>
            <a:endParaRPr lang="en-US" sz="2100" dirty="0"/>
          </a:p>
        </p:txBody>
      </p:sp>
      <p:sp>
        <p:nvSpPr>
          <p:cNvPr id="17" name="Menos custo texto"/>
          <p:cNvSpPr txBox="1"/>
          <p:nvPr/>
        </p:nvSpPr>
        <p:spPr>
          <a:xfrm>
            <a:off x="8366760" y="3520440"/>
            <a:ext cx="2834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Atualização de preço remota e instantânea, sem subir em escada, com conteúdo programado por horário.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 solução para o seu espaço</a:t>
            </a:r>
            <a:endParaRPr lang="en-US" sz="3200" dirty="0"/>
          </a:p>
        </p:txBody>
      </p:sp>
      <p:sp>
        <p:nvSpPr>
          <p:cNvPr id="3" name="Título solução"/>
          <p:cNvSpPr txBox="1"/>
          <p:nvPr/>
        </p:nvSpPr>
        <p:spPr>
          <a:xfrm>
            <a:off x="548640" y="1554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O que propomos</a:t>
            </a:r>
            <a:endParaRPr lang="en-US" sz="2000" dirty="0"/>
          </a:p>
        </p:txBody>
      </p:sp>
      <p:sp>
        <p:nvSpPr>
          <p:cNvPr id="4" name="Item 1 círculo"/>
          <p:cNvSpPr/>
          <p:nvPr/>
        </p:nvSpPr>
        <p:spPr>
          <a:xfrm>
            <a:off x="548640" y="2103120"/>
            <a:ext cx="457200" cy="45720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5" name="Item 1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" y="2217420"/>
            <a:ext cx="228600" cy="228600"/>
          </a:xfrm>
          <a:prstGeom prst="rect">
            <a:avLst/>
          </a:prstGeom>
        </p:spPr>
      </p:pic>
      <p:sp>
        <p:nvSpPr>
          <p:cNvPr id="6" name="Solução 1"/>
          <p:cNvSpPr txBox="1"/>
          <p:nvPr/>
        </p:nvSpPr>
        <p:spPr>
          <a:xfrm>
            <a:off x="1188720" y="205740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Totem de preços em LED outdoor (alto brilho, IP65)</a:t>
            </a:r>
            <a:endParaRPr lang="en-US" sz="1500" dirty="0"/>
          </a:p>
        </p:txBody>
      </p:sp>
      <p:sp>
        <p:nvSpPr>
          <p:cNvPr id="7" name="Item 2 círculo"/>
          <p:cNvSpPr/>
          <p:nvPr/>
        </p:nvSpPr>
        <p:spPr>
          <a:xfrm>
            <a:off x="548640" y="2880360"/>
            <a:ext cx="457200" cy="45720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8" name="Item 2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" y="2994660"/>
            <a:ext cx="228600" cy="228600"/>
          </a:xfrm>
          <a:prstGeom prst="rect">
            <a:avLst/>
          </a:prstGeom>
        </p:spPr>
      </p:pic>
      <p:sp>
        <p:nvSpPr>
          <p:cNvPr id="9" name="Solução 2"/>
          <p:cNvSpPr txBox="1"/>
          <p:nvPr/>
        </p:nvSpPr>
        <p:spPr>
          <a:xfrm>
            <a:off x="1188720" y="283464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Painel de testeira</a:t>
            </a:r>
            <a:endParaRPr lang="en-US" sz="1500" dirty="0"/>
          </a:p>
        </p:txBody>
      </p:sp>
      <p:sp>
        <p:nvSpPr>
          <p:cNvPr id="10" name="Item 3 círculo"/>
          <p:cNvSpPr/>
          <p:nvPr/>
        </p:nvSpPr>
        <p:spPr>
          <a:xfrm>
            <a:off x="548640" y="3657600"/>
            <a:ext cx="457200" cy="45720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11" name="Item 3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" y="3771900"/>
            <a:ext cx="228600" cy="228600"/>
          </a:xfrm>
          <a:prstGeom prst="rect">
            <a:avLst/>
          </a:prstGeom>
        </p:spPr>
      </p:pic>
      <p:sp>
        <p:nvSpPr>
          <p:cNvPr id="12" name="Solução 3"/>
          <p:cNvSpPr txBox="1"/>
          <p:nvPr/>
        </p:nvSpPr>
        <p:spPr>
          <a:xfrm>
            <a:off x="1188720" y="361188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Telas na bomba e na conveniência</a:t>
            </a:r>
            <a:endParaRPr lang="en-US" sz="1500" dirty="0"/>
          </a:p>
        </p:txBody>
      </p:sp>
      <p:sp>
        <p:nvSpPr>
          <p:cNvPr id="13" name="Item 4 círculo"/>
          <p:cNvSpPr/>
          <p:nvPr/>
        </p:nvSpPr>
        <p:spPr>
          <a:xfrm>
            <a:off x="548640" y="4434840"/>
            <a:ext cx="457200" cy="45720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14" name="Item 4 ícon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" y="4549140"/>
            <a:ext cx="228600" cy="228600"/>
          </a:xfrm>
          <a:prstGeom prst="rect">
            <a:avLst/>
          </a:prstGeom>
        </p:spPr>
      </p:pic>
      <p:sp>
        <p:nvSpPr>
          <p:cNvPr id="15" name="Solução 4"/>
          <p:cNvSpPr txBox="1"/>
          <p:nvPr/>
        </p:nvSpPr>
        <p:spPr>
          <a:xfrm>
            <a:off x="1188720" y="438912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Mídia DOOH</a:t>
            </a:r>
            <a:endParaRPr lang="en-US" sz="1500" dirty="0"/>
          </a:p>
        </p:txBody>
      </p:sp>
      <p:sp>
        <p:nvSpPr>
          <p:cNvPr id="16" name="Card indicadores"/>
          <p:cNvSpPr/>
          <p:nvPr/>
        </p:nvSpPr>
        <p:spPr>
          <a:xfrm>
            <a:off x="6583680" y="1554480"/>
            <a:ext cx="5029200" cy="4434840"/>
          </a:xfrm>
          <a:prstGeom prst="roundRect">
            <a:avLst>
              <a:gd name="adj" fmla="val 2474"/>
            </a:avLst>
          </a:prstGeom>
          <a:solidFill>
            <a:schemeClr val="tx2"/>
          </a:solidFill>
          <a:ln/>
        </p:spPr>
      </p:sp>
      <p:sp>
        <p:nvSpPr>
          <p:cNvPr id="17" name="Título indicadores"/>
          <p:cNvSpPr txBox="1"/>
          <p:nvPr/>
        </p:nvSpPr>
        <p:spPr>
          <a:xfrm>
            <a:off x="6949440" y="182880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O que você vai medir</a:t>
            </a:r>
            <a:endParaRPr lang="en-US" sz="2000" dirty="0"/>
          </a:p>
        </p:txBody>
      </p:sp>
      <p:sp>
        <p:nvSpPr>
          <p:cNvPr id="18" name="Indicadores"/>
          <p:cNvSpPr txBox="1"/>
          <p:nvPr/>
        </p:nvSpPr>
        <p:spPr>
          <a:xfrm>
            <a:off x="6949440" y="2423160"/>
            <a:ext cx="43891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Veículos que entram x fluxo da pista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Ticket da conveniência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Receita de mídia DOOH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Projeto em destaque</a:t>
            </a:r>
            <a:endParaRPr lang="en-US" sz="3200" dirty="0"/>
          </a:p>
        </p:txBody>
      </p:sp>
      <p:sp>
        <p:nvSpPr>
          <p:cNvPr id="3" name="Card Boulevard"/>
          <p:cNvSpPr/>
          <p:nvPr/>
        </p:nvSpPr>
        <p:spPr>
          <a:xfrm>
            <a:off x="548640" y="1600200"/>
            <a:ext cx="5486400" cy="4389120"/>
          </a:xfrm>
          <a:prstGeom prst="roundRect">
            <a:avLst>
              <a:gd name="adj" fmla="val 2500"/>
            </a:avLst>
          </a:prstGeom>
          <a:solidFill>
            <a:schemeClr val="tx1"/>
          </a:solidFill>
          <a:ln/>
        </p:spPr>
      </p:sp>
      <p:sp>
        <p:nvSpPr>
          <p:cNvPr id="4" name="Boulevard título"/>
          <p:cNvSpPr txBox="1"/>
          <p:nvPr/>
        </p:nvSpPr>
        <p:spPr>
          <a:xfrm>
            <a:off x="914400" y="19202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Boulevard.Live</a:t>
            </a:r>
            <a:endParaRPr lang="en-US" sz="1800" dirty="0"/>
          </a:p>
        </p:txBody>
      </p:sp>
      <p:sp>
        <p:nvSpPr>
          <p:cNvPr id="5" name="Boulevard número"/>
          <p:cNvSpPr txBox="1"/>
          <p:nvPr/>
        </p:nvSpPr>
        <p:spPr>
          <a:xfrm>
            <a:off x="914400" y="242316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1.125 m²</a:t>
            </a:r>
            <a:endParaRPr lang="en-US" sz="6000" dirty="0"/>
          </a:p>
        </p:txBody>
      </p:sp>
      <p:sp>
        <p:nvSpPr>
          <p:cNvPr id="6" name="Boulevard texto"/>
          <p:cNvSpPr txBox="1"/>
          <p:nvPr/>
        </p:nvSpPr>
        <p:spPr>
          <a:xfrm>
            <a:off x="914400" y="3703320"/>
            <a:ext cx="4754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O maior painel de LED da América Latina, em Brasília. Inspirado na Times Square e instalado no ponto de maior fluxo de pessoas e veículos da cidade.</a:t>
            </a:r>
            <a:endParaRPr lang="en-US" sz="1600" dirty="0"/>
          </a:p>
        </p:txBody>
      </p:sp>
      <p:sp>
        <p:nvSpPr>
          <p:cNvPr id="7" name="Área case do segmento"/>
          <p:cNvSpPr/>
          <p:nvPr/>
        </p:nvSpPr>
        <p:spPr>
          <a:xfrm>
            <a:off x="6309360" y="1600200"/>
            <a:ext cx="5303520" cy="438912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 w="19050">
            <a:solidFill>
              <a:srgbClr val="658DFF"/>
            </a:solidFill>
            <a:prstDash val="dash"/>
          </a:ln>
        </p:spPr>
      </p:sp>
      <p:sp>
        <p:nvSpPr>
          <p:cNvPr id="8" name="Case título"/>
          <p:cNvSpPr txBox="1"/>
          <p:nvPr/>
        </p:nvSpPr>
        <p:spPr>
          <a:xfrm>
            <a:off x="6675120" y="19202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Case do seu segmento</a:t>
            </a:r>
            <a:endParaRPr lang="en-US" sz="1800" dirty="0"/>
          </a:p>
        </p:txBody>
      </p:sp>
      <p:sp>
        <p:nvSpPr>
          <p:cNvPr id="9" name="Case conteúdo"/>
          <p:cNvSpPr txBox="1"/>
          <p:nvPr/>
        </p:nvSpPr>
        <p:spPr>
          <a:xfrm>
            <a:off x="6675120" y="2514600"/>
            <a:ext cx="45720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[Nome do cliente do segmento]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[Desafio em uma frase]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[O que a LedWave entregou]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[Resultado]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548640" y="1463040"/>
            <a:ext cx="69494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Na estrada, quem não é visto não é abastecido.</a:t>
            </a:r>
            <a:endParaRPr lang="en-US" sz="34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548640" y="4114800"/>
            <a:ext cx="6949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2"/>
                </a:solidFill>
              </a:rPr>
              <a:t>Seu posto já tem o fluxo. Vamos fazer esse fluxo parar?</a:t>
            </a:r>
            <a:endParaRPr lang="en-US" sz="2000" dirty="0"/>
          </a:p>
        </p:txBody>
      </p:sp>
      <p:sp>
        <p:nvSpPr>
          <p:cNvPr id="4" name="Card próximo passo"/>
          <p:cNvSpPr/>
          <p:nvPr/>
        </p:nvSpPr>
        <p:spPr>
          <a:xfrm>
            <a:off x="8046720" y="2103120"/>
            <a:ext cx="3566160" cy="2971800"/>
          </a:xfrm>
          <a:prstGeom prst="roundRect">
            <a:avLst>
              <a:gd name="adj" fmla="val 3692"/>
            </a:avLst>
          </a:prstGeom>
          <a:solidFill>
            <a:schemeClr val="tx2"/>
          </a:solidFill>
          <a:ln/>
        </p:spPr>
      </p:sp>
      <p:sp>
        <p:nvSpPr>
          <p:cNvPr id="5" name="Próximo passo título"/>
          <p:cNvSpPr txBox="1"/>
          <p:nvPr/>
        </p:nvSpPr>
        <p:spPr>
          <a:xfrm>
            <a:off x="8366760" y="23774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Próximo passo</a:t>
            </a:r>
            <a:endParaRPr lang="en-US" sz="1800" dirty="0"/>
          </a:p>
        </p:txBody>
      </p:sp>
      <p:sp>
        <p:nvSpPr>
          <p:cNvPr id="6" name="Próximo passo texto"/>
          <p:cNvSpPr txBox="1"/>
          <p:nvPr/>
        </p:nvSpPr>
        <p:spPr>
          <a:xfrm>
            <a:off x="8366760" y="2834640"/>
            <a:ext cx="2926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Estudo de visibilidade da pista (distância, ângulo, fluxo) e proposta de totem + testeira.</a:t>
            </a:r>
            <a:endParaRPr lang="en-US" sz="1500" dirty="0"/>
          </a:p>
        </p:txBody>
      </p:sp>
      <p:sp>
        <p:nvSpPr>
          <p:cNvPr id="7" name="Contato"/>
          <p:cNvSpPr txBox="1"/>
          <p:nvPr/>
        </p:nvSpPr>
        <p:spPr>
          <a:xfrm>
            <a:off x="548640" y="6035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7A7A7A"/>
                </a:solidFill>
              </a:rPr>
              <a:t>[Nome do executivo]  ·  [Telefone / WhatsApp]  ·  [E-mail]  ·  ledwave.com.br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edWave">
  <a:themeElements>
    <a:clrScheme name="LedWave">
      <a:dk1>
        <a:srgbClr val="3D3D3D"/>
      </a:dk1>
      <a:lt1>
        <a:srgbClr val="FFFFFF"/>
      </a:lt1>
      <a:dk2>
        <a:srgbClr val="5F5F5F"/>
      </a:dk2>
      <a:lt2>
        <a:srgbClr val="F2F3F7"/>
      </a:lt2>
      <a:accent1>
        <a:srgbClr val="E011FF"/>
      </a:accent1>
      <a:accent2>
        <a:srgbClr val="12D9FF"/>
      </a:accent2>
      <a:accent3>
        <a:srgbClr val="658DFF"/>
      </a:accent3>
      <a:accent4>
        <a:srgbClr val="8A5CF6"/>
      </a:accent4>
      <a:accent5>
        <a:srgbClr val="3EB1FE"/>
      </a:accent5>
      <a:accent6>
        <a:srgbClr val="7A7A7A"/>
      </a:accent6>
      <a:hlink>
        <a:srgbClr val="658DFF"/>
      </a:hlink>
      <a:folHlink>
        <a:srgbClr val="8A5CF6"/>
      </a:folHlink>
    </a:clrScheme>
    <a:fontScheme name="LedWav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LedWave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LedWave | Postos de Combustível e Conveniência</dc:title>
  <dc:subject>PptxGenJS Presentation</dc:subject>
  <dc:creator>LedWave</dc:creator>
  <cp:lastModifiedBy>LedWave</cp:lastModifiedBy>
  <cp:revision>1</cp:revision>
  <dcterms:created xsi:type="dcterms:W3CDTF">2026-10-19T18:43:12Z</dcterms:created>
  <dcterms:modified xsi:type="dcterms:W3CDTF">2026-10-19T18:43:12Z</dcterms:modified>
</cp:coreProperties>
</file>